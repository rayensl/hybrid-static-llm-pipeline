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2.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charts/chart3.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Number of the 624 assignments that passed this individual check</c:v>
                </c:pt>
              </c:strCache>
            </c:strRef>
          </c:tx>
          <c:spPr>
            <a:solidFill>
              <a:srgbClr val="B7B7BC"/>
            </a:solidFill>
            <a:effectLst/>
          </c:spPr>
          <c:invertIfNegative val="0"/>
          <c:dLbls>
            <c:numFmt formatCode="0&quot; of 624&quot;" sourceLinked="0"/>
            <c:txPr>
              <a:bodyPr/>
              <a:lstStyle/>
              <a:p>
                <a:pPr>
                  <a:defRPr b="0" i="0" strike="noStrike" sz="1200" u="none">
                    <a:solidFill>
                      <a:srgbClr val="1F1F22"/>
                    </a:solidFill>
                    <a:latin typeface="Calibri"/>
                  </a:defRPr>
                </a:pPr>
              </a:p>
            </c:txPr>
            <c:showLegendKey val="0"/>
            <c:showVal val="1"/>
            <c:showCatName val="0"/>
            <c:showSerName val="0"/>
            <c:showPercent val="0"/>
            <c:showBubbleSize val="0"/>
            <c:showLeaderLines val="0"/>
          </c:dLbls>
          <c:dPt>
            <c:idx val="0"/>
            <c:invertIfNegative val="0"/>
            <c:bubble3D val="0"/>
            <c:spPr>
              <a:solidFill>
                <a:srgbClr val="B7B7BC"/>
              </a:solidFill>
              <a:effectLst/>
            </c:spPr>
          </c:dPt>
          <c:dPt>
            <c:idx val="1"/>
            <c:invertIfNegative val="0"/>
            <c:bubble3D val="0"/>
            <c:spPr>
              <a:solidFill>
                <a:srgbClr val="B7B7BC"/>
              </a:solidFill>
              <a:effectLst/>
            </c:spPr>
          </c:dPt>
          <c:dPt>
            <c:idx val="2"/>
            <c:invertIfNegative val="0"/>
            <c:bubble3D val="0"/>
            <c:spPr>
              <a:solidFill>
                <a:srgbClr val="B7B7BC"/>
              </a:solidFill>
              <a:effectLst/>
            </c:spPr>
          </c:dPt>
          <c:dPt>
            <c:idx val="3"/>
            <c:invertIfNegative val="0"/>
            <c:bubble3D val="0"/>
            <c:spPr>
              <a:solidFill>
                <a:srgbClr val="E8562C"/>
              </a:solidFill>
              <a:effectLst/>
            </c:spPr>
          </c:dPt>
          <c:cat>
            <c:multiLvlStrRef>
              <c:f>Sheet1!$A$2:$A$5</c:f>
              <c:multiLvlStrCache>
                <c:ptCount val="4"/>
                <c:lvl>
                  <c:pt idx="0">
                    <c:v>Built successfully</c:v>
                  </c:pt>
                  <c:pt idx="1">
                    <c:v>Detector re-run: resolved</c:v>
                  </c:pt>
                  <c:pt idx="2">
                    <c:v>Behavioural oracle: passed</c:v>
                  </c:pt>
                  <c:pt idx="3">
                    <c:v>All three at once (strict success)</c:v>
                  </c:pt>
                </c:lvl>
              </c:multiLvlStrCache>
            </c:multiLvlStrRef>
          </c:cat>
          <c:val>
            <c:numRef>
              <c:f>Sheet1!$B$2:$B$5</c:f>
              <c:numCache>
                <c:formatCode>General</c:formatCode>
                <c:ptCount val="4"/>
                <c:pt idx="0">
                  <c:v>623</c:v>
                </c:pt>
                <c:pt idx="1">
                  <c:v>597</c:v>
                </c:pt>
                <c:pt idx="2">
                  <c:v>612</c:v>
                </c:pt>
                <c:pt idx="3">
                  <c:v>586</c:v>
                </c:pt>
              </c:numCache>
            </c:numRef>
          </c:val>
        </c:ser>
        <c:dLbls>
          <c:numFmt formatCode="0&quot; of 624&quot;" sourceLinked="0"/>
          <c:txPr>
            <a:bodyPr/>
            <a:lstStyle/>
            <a:p>
              <a:pPr>
                <a:defRPr b="0" i="0" strike="noStrike" sz="1200" u="none">
                  <a:solidFill>
                    <a:srgbClr val="1F1F22"/>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1F22"/>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Average change in strict success when this factor is ON vs OFF (percentage points)</c:v>
                </c:pt>
              </c:strCache>
            </c:strRef>
          </c:tx>
          <c:spPr>
            <a:solidFill>
              <a:srgbClr val="B7B7BC"/>
            </a:solidFill>
            <a:effectLst/>
          </c:spPr>
          <c:invertIfNegative val="0"/>
          <c:dLbls>
            <c:numFmt formatCode="+0.00&quot;pp&quot;" sourceLinked="0"/>
            <c:txPr>
              <a:bodyPr/>
              <a:lstStyle/>
              <a:p>
                <a:pPr>
                  <a:defRPr b="0" i="0" strike="noStrike" sz="1300" u="none">
                    <a:solidFill>
                      <a:srgbClr val="1F1F22"/>
                    </a:solidFill>
                    <a:latin typeface="Calibri"/>
                  </a:defRPr>
                </a:pPr>
              </a:p>
            </c:txPr>
            <c:showLegendKey val="0"/>
            <c:showVal val="1"/>
            <c:showCatName val="0"/>
            <c:showSerName val="0"/>
            <c:showPercent val="0"/>
            <c:showBubbleSize val="0"/>
            <c:showLeaderLines val="0"/>
          </c:dLbls>
          <c:dPt>
            <c:idx val="0"/>
            <c:invertIfNegative val="0"/>
            <c:bubble3D val="0"/>
            <c:spPr>
              <a:solidFill>
                <a:srgbClr val="B7B7BC"/>
              </a:solidFill>
              <a:effectLst/>
            </c:spPr>
          </c:dPt>
          <c:dPt>
            <c:idx val="1"/>
            <c:invertIfNegative val="0"/>
            <c:bubble3D val="0"/>
            <c:spPr>
              <a:solidFill>
                <a:srgbClr val="B7B7BC"/>
              </a:solidFill>
              <a:effectLst/>
            </c:spPr>
          </c:dPt>
          <c:dPt>
            <c:idx val="2"/>
            <c:invertIfNegative val="0"/>
            <c:bubble3D val="0"/>
            <c:spPr>
              <a:solidFill>
                <a:srgbClr val="E8562C"/>
              </a:solidFill>
              <a:effectLst/>
            </c:spPr>
          </c:dPt>
          <c:cat>
            <c:multiLvlStrRef>
              <c:f>Sheet1!$A$2:$A$4</c:f>
              <c:multiLvlStrCache>
                <c:ptCount val="3"/>
                <c:lvl>
                  <c:pt idx="0">
                    <c:v>Test visibility</c:v>
                  </c:pt>
                  <c:pt idx="1">
                    <c:v>Iterative control</c:v>
                  </c:pt>
                  <c:pt idx="2">
                    <c:v>Detector grounding</c:v>
                  </c:pt>
                </c:lvl>
              </c:multiLvlStrCache>
            </c:multiLvlStrRef>
          </c:cat>
          <c:val>
            <c:numRef>
              <c:f>Sheet1!$B$2:$B$4</c:f>
              <c:numCache>
                <c:formatCode>General</c:formatCode>
                <c:ptCount val="3"/>
                <c:pt idx="0">
                  <c:v>2.56</c:v>
                </c:pt>
                <c:pt idx="1">
                  <c:v>2.56</c:v>
                </c:pt>
                <c:pt idx="2">
                  <c:v>7.69</c:v>
                </c:pt>
              </c:numCache>
            </c:numRef>
          </c:val>
        </c:ser>
        <c:dLbls>
          <c:numFmt formatCode="+0.00&quot;pp&quot;" sourceLinked="0"/>
          <c:txPr>
            <a:bodyPr/>
            <a:lstStyle/>
            <a:p>
              <a:pPr>
                <a:defRPr b="0" i="0" strike="noStrike" sz="1300" u="none">
                  <a:solidFill>
                    <a:srgbClr val="1F1F22"/>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F1F22"/>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Obsolete API Usage — verified repairs out of 30 assignments at this context level</c:v>
                </c:pt>
              </c:strCache>
            </c:strRef>
          </c:tx>
          <c:spPr>
            <a:solidFill>
              <a:srgbClr val="B7B7BC"/>
            </a:solidFill>
            <a:effectLst/>
          </c:spPr>
          <c:invertIfNegative val="0"/>
          <c:dLbls>
            <c:numFmt formatCode="0&quot; of 30&quot;" sourceLinked="0"/>
            <c:txPr>
              <a:bodyPr/>
              <a:lstStyle/>
              <a:p>
                <a:pPr>
                  <a:defRPr b="0" i="0" strike="noStrike" sz="1300" u="none">
                    <a:solidFill>
                      <a:srgbClr val="1F1F22"/>
                    </a:solidFill>
                    <a:latin typeface="Calibri"/>
                  </a:defRPr>
                </a:pPr>
              </a:p>
            </c:txPr>
            <c:showLegendKey val="0"/>
            <c:showVal val="1"/>
            <c:showCatName val="0"/>
            <c:showSerName val="0"/>
            <c:showPercent val="0"/>
            <c:showBubbleSize val="0"/>
            <c:showLeaderLines val="0"/>
          </c:dLbls>
          <c:dPt>
            <c:idx val="0"/>
            <c:invertIfNegative val="0"/>
            <c:bubble3D val="0"/>
            <c:spPr>
              <a:solidFill>
                <a:srgbClr val="B7B7BC"/>
              </a:solidFill>
              <a:effectLst/>
            </c:spPr>
          </c:dPt>
          <c:dPt>
            <c:idx val="1"/>
            <c:invertIfNegative val="0"/>
            <c:bubble3D val="0"/>
            <c:spPr>
              <a:solidFill>
                <a:srgbClr val="B7B7BC"/>
              </a:solidFill>
              <a:effectLst/>
            </c:spPr>
          </c:dPt>
          <c:dPt>
            <c:idx val="2"/>
            <c:invertIfNegative val="0"/>
            <c:bubble3D val="0"/>
            <c:spPr>
              <a:solidFill>
                <a:srgbClr val="B7B7BC"/>
              </a:solidFill>
              <a:effectLst/>
            </c:spPr>
          </c:dPt>
          <c:dPt>
            <c:idx val="3"/>
            <c:invertIfNegative val="0"/>
            <c:bubble3D val="0"/>
            <c:spPr>
              <a:solidFill>
                <a:srgbClr val="E8562C"/>
              </a:solidFill>
              <a:effectLst/>
            </c:spPr>
          </c:dPt>
          <c:cat>
            <c:multiLvlStrRef>
              <c:f>Sheet1!$A$2:$A$5</c:f>
              <c:multiLvlStrCache>
                <c:ptCount val="4"/>
                <c:lvl>
                  <c:pt idx="0">
                    <c:v>Minimal</c:v>
                  </c:pt>
                  <c:pt idx="1">
                    <c:v>Structural</c:v>
                  </c:pt>
                  <c:pt idx="2">
                    <c:v>Relational</c:v>
                  </c:pt>
                  <c:pt idx="3">
                    <c:v>Full</c:v>
                  </c:pt>
                </c:lvl>
              </c:multiLvlStrCache>
            </c:multiLvlStrRef>
          </c:cat>
          <c:val>
            <c:numRef>
              <c:f>Sheet1!$B$2:$B$5</c:f>
              <c:numCache>
                <c:formatCode>General</c:formatCode>
                <c:ptCount val="4"/>
                <c:pt idx="0">
                  <c:v>2</c:v>
                </c:pt>
                <c:pt idx="1">
                  <c:v>1</c:v>
                </c:pt>
                <c:pt idx="2">
                  <c:v>6</c:v>
                </c:pt>
                <c:pt idx="3">
                  <c:v>30</c:v>
                </c:pt>
              </c:numCache>
            </c:numRef>
          </c:val>
        </c:ser>
        <c:dLbls>
          <c:numFmt formatCode="0&quot; of 30&quot;" sourceLinked="0"/>
          <c:txPr>
            <a:bodyPr/>
            <a:lstStyle/>
            <a:p>
              <a:pPr>
                <a:defRPr b="0" i="0" strike="noStrike" sz="1300" u="none">
                  <a:solidFill>
                    <a:srgbClr val="1F1F22"/>
                  </a:solidFill>
                  <a:latin typeface="Calibri"/>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1F22"/>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Joint session with [co-presenter]. Thanks for the time — the plan is a shared primer on anti-pattern theory first (why they matter, what the evidence says), then two 10-minute deep dives from each of us into our own thesis angle. This deck covers the shared primer plus my own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roadmap so the audience knows why we're both up here. First the shared theory grounding, then each of us peels off into our own 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Foundation slide. Quality models like ISO/IEC 25010 describe what quality means (maintainability, reliability, etc.) but don't say how it shows up in code. Anti-patterns are that missing translation layer, which is what makes them useful: they're abstract design problems made concrete and, often, measurable.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Literature evidence chain from the thesis's own introduction, replacing the repo case study. Palomba et al. 2018: large-scale empirical study on diffuseness/impact of code smells. Tufano et al. 2017: 'When and Why Your Code Starts to Smell Bad (and Whether the Smells Go Away)' — persistence finding is the key one to land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findings concern technical debt broadly, not anti-patterns alone — worth saying explicitly if asked. The mechanism (23% of time; less predictable resolution) is what explains why anti-patterns are a business concern, not just a developer taste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Closes the three-slide evidence arc. This isn't a story about developers being careless — deferral is a rational response under real cost/risk/priority constraints. The compounding is the point: since these things don't self-resolve (slide 4) and keep costing time (slide 5), the deferral decision keeps getting made on the same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slide closing out the joint section. Four-link chain from the thesis's framing (quality models -&gt; anti-patterns -&gt; metrics/static analysis -&gt; LLMs), ending on the disconnect: static analysis is reliable but not sufficient (Johnson et al. 2013 on why developers don't use static analysis tools; Sadowski et al. 2018 on Google's lessons), LLMs are rich but not reliable (Nam et al. 2024 on LLM code understanding; Liu et al. 2024 on hallucination). That's the handoff point to our individual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bridge slide tying the two theses together explicitly. Swap '[Co-presenter]' for their actual name before presenting. The framing: both theses use the same underlying measurement (static-analysis anti-pattern detection) but intervene at opposite points in the LLM/code lifecycle — prompting to prevent anti-patterns from being generated in the first place, versus grounding+verification to repair them once they already exist. Good slide to invite the co-presenter to add a sentence or two of their own before moving to the section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Handoff slide — marks the switch from the joint primer to my own 10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Explicit research-question slide, pulled directly from the thesis's Chapter 1.3. Stating these formally before the methodology map keeps the rest of the talk traceable back to a specific question: Result 1 answers RQ1, Result 2 answers RQ1.1/RQ2, Result 3 answers RQ3.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of the whole empirical design before diving into detail. Three separate studies, three separate denominators — they are not pooled together. The next few slides justify the anti-pattern choice, then drill into the pipeline and the confirmatory factorial specifically, since that's where the headline results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rationale for scoping down from 'anti-patterns in general' (Part 1) to the three used in the experiment. The filter is practical, not a value judgement: which anti-patterns let you construct a ground truth AND check a repair, without a full design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answer to 'why these three'. God Class and Long Method give a matched pair at the same granularity for the confirmatory experiment; Obsolete API Usage is the deliberate outlier used later in the context-granularity experiment, precisely because its detection/repair semantics differ. Feature Envy question likely to come up given the co-presenter's overlapping topic — the answer is purely about keeping local remeasurement valid, not that it's a lesser anti-pattern.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illustration of Obsolete API Usage right after defining it. SmsApiV1 is marked [Obsolete]; naive migration just swaps the call, but SmsApiV2 has a narrower contract (only validates the phone number). A careless automatic fix compiles fine and looks done, but quietly changes behaviour. The right fix keeps both checks. Real example from the evaluation — keep it in your pocket, we'll come back to it in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instrument. Emphasise verification is independent of the model — it re-runs the detector and checks behaviour against a hidden oracle the model never sees. That independence is what makes the later results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narrative, not statistical — no need to name Wilson intervals or exact tests here. The one definition worth landing precisely is strict success, because every later number is measured against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impressive number, then immediately complicate it. 623 built, 597 resolved the detector, 612 passed the oracle — but only 586 satisfied all three at once, because 11 assignments built and resolved the detector yet still failed the hidden behavioural check. This is the argument for why compilation or 'the warning went away' is not sufficient evidence of a correct repair.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empirical finding — spend the most time here. Three factors were crossed in the same experiment: grounding (+7.69pp, 95% CI 1.60 to 13.78, exact p=.016) is the only one whose interval excludes zero. Iterative control (+2.56pp, CI -3.95 to 9.07, p=.56) and test visibility (+2.56pp, CI -1.09 to 6.22, p=.31) both look directionally positive but aren't resolved by this design. If asked: iteration did recover 9 initially-failed builds, it just didn't average out to a net advantage.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Callback to the opening example. Corpus-wide the first three levels (Minimal/Structural/Relational) didn't form a clean increasing sequence; the jump only appears at Full, and is concentrated in Obsolete API Usage (2/30, 1/30, 6/30, 30/30) because that's the one anti-pattern where the fix genuinely depends on a cross-file declaration. If asked about the industrial context ladder: it did not reproduce this pattern, which foreshadows the transfer point on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bounded conclusion honestly: this is not 'AI autonomously fixes your code.' It's 'concise static-analysis grounding measurably improves LLM repair, and independent verification is what makes that claim trustworthy' — plus a clear-eyed admission that industrial transfer is still open. That's an honest place to open questions from a research-group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731520" y="1371600"/>
            <a:ext cx="10515600" cy="365760"/>
          </a:xfrm>
          <a:prstGeom prst="rect">
            <a:avLst/>
          </a:prstGeom>
          <a:noFill/>
          <a:ln/>
        </p:spPr>
        <p:txBody>
          <a:bodyPr wrap="square" lIns="0" tIns="0" rIns="0" bIns="0"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MSC RESEARCH GROUP SESSION  ·  SOFTWARE ENGINEERING  ·  UNIVERSITY OF AMSTERDAM</a:t>
            </a:r>
            <a:endParaRPr lang="en-US" sz="1300" dirty="0"/>
          </a:p>
        </p:txBody>
      </p:sp>
      <p:sp>
        <p:nvSpPr>
          <p:cNvPr id="3" name="Text 1"/>
          <p:cNvSpPr txBox="1"/>
          <p:nvPr/>
        </p:nvSpPr>
        <p:spPr>
          <a:xfrm>
            <a:off x="731520" y="1828800"/>
            <a:ext cx="10698480" cy="1920240"/>
          </a:xfrm>
          <a:prstGeom prst="rect">
            <a:avLst/>
          </a:prstGeom>
          <a:noFill/>
          <a:ln/>
        </p:spPr>
        <p:txBody>
          <a:bodyPr wrap="square" lIns="0" tIns="0" rIns="0" bIns="0" rtlCol="0" anchor="ctr"/>
          <a:lstStyle/>
          <a:p>
            <a:pPr indent="0" marL="0">
              <a:lnSpc>
                <a:spcPts val="4800"/>
              </a:lnSpc>
              <a:buNone/>
            </a:pPr>
            <a:r>
              <a:rPr lang="en-US" sz="4200" b="1" dirty="0">
                <a:solidFill>
                  <a:srgbClr val="FFFFFF"/>
                </a:solidFill>
                <a:latin typeface="Cambria" pitchFamily="34" charset="0"/>
                <a:ea typeface="Cambria" pitchFamily="34" charset="-122"/>
                <a:cs typeface="Cambria" pitchFamily="34" charset="-120"/>
              </a:rPr>
              <a:t>Anti-Patterns: Why They Matter,</a:t>
            </a:r>
            <a:endParaRPr lang="en-US" sz="4200" dirty="0"/>
          </a:p>
          <a:p>
            <a:pPr indent="0" marL="0">
              <a:lnSpc>
                <a:spcPts val="4800"/>
              </a:lnSpc>
              <a:buNone/>
            </a:pPr>
            <a:r>
              <a:rPr lang="en-US" sz="4200" b="1" dirty="0">
                <a:solidFill>
                  <a:srgbClr val="FFFFFF"/>
                </a:solidFill>
                <a:latin typeface="Cambria" pitchFamily="34" charset="0"/>
                <a:ea typeface="Cambria" pitchFamily="34" charset="-122"/>
                <a:cs typeface="Cambria" pitchFamily="34" charset="-120"/>
              </a:rPr>
              <a:t>and How to Repair Them</a:t>
            </a:r>
            <a:endParaRPr lang="en-US" sz="4200" dirty="0"/>
          </a:p>
        </p:txBody>
      </p:sp>
      <p:sp>
        <p:nvSpPr>
          <p:cNvPr id="4" name="Text 2"/>
          <p:cNvSpPr txBox="1"/>
          <p:nvPr/>
        </p:nvSpPr>
        <p:spPr>
          <a:xfrm>
            <a:off x="731520" y="3794760"/>
            <a:ext cx="10058400" cy="548640"/>
          </a:xfrm>
          <a:prstGeom prst="rect">
            <a:avLst/>
          </a:prstGeom>
          <a:noFill/>
          <a:ln/>
        </p:spPr>
        <p:txBody>
          <a:bodyPr wrap="square" lIns="0" tIns="0" rIns="0" bIns="0" rtlCol="0" anchor="ctr"/>
          <a:lstStyle/>
          <a:p>
            <a:pPr indent="0" marL="0">
              <a:buNone/>
            </a:pPr>
            <a:r>
              <a:rPr lang="en-US" sz="1700" i="1" dirty="0">
                <a:solidFill>
                  <a:srgbClr val="CADCFC"/>
                </a:solidFill>
                <a:latin typeface="Calibri" pitchFamily="34" charset="0"/>
                <a:ea typeface="Calibri" pitchFamily="34" charset="-122"/>
                <a:cs typeface="Calibri" pitchFamily="34" charset="-120"/>
              </a:rPr>
              <a:t>A joint primer on anti-pattern theory, followed by two theses that build on it.</a:t>
            </a:r>
            <a:endParaRPr lang="en-US" sz="1700" dirty="0"/>
          </a:p>
        </p:txBody>
      </p:sp>
      <p:sp>
        <p:nvSpPr>
          <p:cNvPr id="5" name="Text 3"/>
          <p:cNvSpPr txBox="1"/>
          <p:nvPr/>
        </p:nvSpPr>
        <p:spPr>
          <a:xfrm>
            <a:off x="731520" y="5760720"/>
            <a:ext cx="10515600" cy="365760"/>
          </a:xfrm>
          <a:prstGeom prst="rect">
            <a:avLst/>
          </a:prstGeom>
          <a:noFill/>
          <a:ln/>
        </p:spPr>
        <p:txBody>
          <a:bodyPr wrap="square" lIns="0" tIns="0" rIns="0" bIns="0" rtlCol="0" anchor="ctr"/>
          <a:lstStyle/>
          <a:p>
            <a:pPr indent="0" marL="0">
              <a:buNone/>
            </a:pPr>
            <a:r>
              <a:rPr lang="en-US" sz="1250" dirty="0">
                <a:solidFill>
                  <a:srgbClr val="AAB6DE"/>
                </a:solidFill>
                <a:latin typeface="Calibri" pitchFamily="34" charset="0"/>
                <a:ea typeface="Calibri" pitchFamily="34" charset="-122"/>
                <a:cs typeface="Calibri" pitchFamily="34" charset="-120"/>
              </a:rPr>
              <a:t>Part 2 (this speaker): Static Analysis and LLMs for Verified Anti-Pattern Repair — Rayen Syal</a:t>
            </a:r>
            <a:endParaRPr lang="en-US" sz="1250" dirty="0"/>
          </a:p>
        </p:txBody>
      </p:sp>
      <p:sp>
        <p:nvSpPr>
          <p:cNvPr id="6" name="Text 4"/>
          <p:cNvSpPr txBox="1"/>
          <p:nvPr/>
        </p:nvSpPr>
        <p:spPr>
          <a:xfrm>
            <a:off x="731520" y="6108192"/>
            <a:ext cx="10515600" cy="320040"/>
          </a:xfrm>
          <a:prstGeom prst="rect">
            <a:avLst/>
          </a:prstGeom>
          <a:noFill/>
          <a:ln/>
        </p:spPr>
        <p:txBody>
          <a:bodyPr wrap="square" lIns="0" tIns="0" rIns="0" bIns="0" rtlCol="0" anchor="ctr"/>
          <a:lstStyle/>
          <a:p>
            <a:pPr indent="0" marL="0">
              <a:buNone/>
            </a:pPr>
            <a:r>
              <a:rPr lang="en-US" sz="1100" dirty="0">
                <a:solidFill>
                  <a:srgbClr val="8C9BC9"/>
                </a:solidFill>
                <a:latin typeface="Calibri" pitchFamily="34" charset="0"/>
                <a:ea typeface="Calibri" pitchFamily="34" charset="-122"/>
                <a:cs typeface="Calibri" pitchFamily="34" charset="-120"/>
              </a:rPr>
              <a:t>Supervised by Dr. Nafis Tanveer Islam (UvA) &amp; Wema Wuyts (Aceve)   ·   September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365760"/>
          </a:xfrm>
          <a:prstGeom prst="rect">
            <a:avLst/>
          </a:prstGeom>
          <a:noFill/>
          <a:ln/>
        </p:spPr>
        <p:txBody>
          <a:bodyPr wrap="square" lIns="0" tIns="0" rIns="0" bIns="0" rtlCol="0" anchor="ctr"/>
          <a:lstStyle/>
          <a:p>
            <a:pPr indent="0" marL="0">
              <a:buNone/>
            </a:pPr>
            <a:r>
              <a:rPr lang="en-US" sz="1300" b="1" spc="200" kern="0" dirty="0">
                <a:solidFill>
                  <a:srgbClr val="E8562C"/>
                </a:solidFill>
                <a:latin typeface="Calibri" pitchFamily="34" charset="0"/>
                <a:ea typeface="Calibri" pitchFamily="34" charset="-122"/>
                <a:cs typeface="Calibri" pitchFamily="34" charset="-120"/>
              </a:rPr>
              <a:t>ROADMAP</a:t>
            </a:r>
            <a:endParaRPr lang="en-US" sz="1300" dirty="0"/>
          </a:p>
        </p:txBody>
      </p:sp>
      <p:sp>
        <p:nvSpPr>
          <p:cNvPr id="3" name="Text 1"/>
          <p:cNvSpPr txBox="1"/>
          <p:nvPr/>
        </p:nvSpPr>
        <p:spPr>
          <a:xfrm>
            <a:off x="548640" y="822960"/>
            <a:ext cx="11064240" cy="9144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Two theses, one shared starting point</a:t>
            </a:r>
            <a:endParaRPr lang="en-US" sz="3200" dirty="0"/>
          </a:p>
        </p:txBody>
      </p:sp>
      <p:sp>
        <p:nvSpPr>
          <p:cNvPr id="4" name="Shape 2"/>
          <p:cNvSpPr/>
          <p:nvPr/>
        </p:nvSpPr>
        <p:spPr>
          <a:xfrm>
            <a:off x="548640" y="2103120"/>
            <a:ext cx="5349240" cy="3977640"/>
          </a:xfrm>
          <a:prstGeom prst="roundRect">
            <a:avLst>
              <a:gd name="adj" fmla="val 1839"/>
            </a:avLst>
          </a:prstGeom>
          <a:solidFill>
            <a:srgbClr val="F4F5F9"/>
          </a:solidFill>
          <a:ln/>
        </p:spPr>
      </p:sp>
      <p:sp>
        <p:nvSpPr>
          <p:cNvPr id="5" name="Text 3"/>
          <p:cNvSpPr txBox="1"/>
          <p:nvPr/>
        </p:nvSpPr>
        <p:spPr>
          <a:xfrm>
            <a:off x="868680" y="2377440"/>
            <a:ext cx="4709160" cy="411480"/>
          </a:xfrm>
          <a:prstGeom prst="rect">
            <a:avLst/>
          </a:prstGeom>
          <a:noFill/>
          <a:ln/>
        </p:spPr>
        <p:txBody>
          <a:bodyPr wrap="square" lIns="0" tIns="0" rIns="0" bIns="0" rtlCol="0" anchor="ctr"/>
          <a:lstStyle/>
          <a:p>
            <a:pPr indent="0" marL="0">
              <a:buNone/>
            </a:pPr>
            <a:r>
              <a:rPr lang="en-US" sz="1300" b="1" spc="150" kern="0" dirty="0">
                <a:solidFill>
                  <a:srgbClr val="E8562C"/>
                </a:solidFill>
                <a:latin typeface="Calibri" pitchFamily="34" charset="0"/>
                <a:ea typeface="Calibri" pitchFamily="34" charset="-122"/>
                <a:cs typeface="Calibri" pitchFamily="34" charset="-120"/>
              </a:rPr>
              <a:t>Part 1 — Joint</a:t>
            </a:r>
            <a:endParaRPr lang="en-US" sz="1300" dirty="0"/>
          </a:p>
        </p:txBody>
      </p:sp>
      <p:sp>
        <p:nvSpPr>
          <p:cNvPr id="6" name="Text 4"/>
          <p:cNvSpPr txBox="1"/>
          <p:nvPr/>
        </p:nvSpPr>
        <p:spPr>
          <a:xfrm>
            <a:off x="868680" y="2761488"/>
            <a:ext cx="4709160" cy="548640"/>
          </a:xfrm>
          <a:prstGeom prst="rect">
            <a:avLst/>
          </a:prstGeom>
          <a:noFill/>
          <a:ln/>
        </p:spPr>
        <p:txBody>
          <a:bodyPr wrap="square" lIns="0" tIns="0" rIns="0" bIns="0" rtlCol="0" anchor="ctr"/>
          <a:lstStyle/>
          <a:p>
            <a:pPr indent="0" marL="0">
              <a:buNone/>
            </a:pPr>
            <a:r>
              <a:rPr lang="en-US" sz="2100" b="1" dirty="0">
                <a:solidFill>
                  <a:srgbClr val="1E2761"/>
                </a:solidFill>
                <a:latin typeface="Cambria" pitchFamily="34" charset="0"/>
                <a:ea typeface="Cambria" pitchFamily="34" charset="-122"/>
                <a:cs typeface="Cambria" pitchFamily="34" charset="-120"/>
              </a:rPr>
              <a:t>Anti-patterns: why they matter</a:t>
            </a:r>
            <a:endParaRPr lang="en-US" sz="2100" dirty="0"/>
          </a:p>
        </p:txBody>
      </p:sp>
      <p:sp>
        <p:nvSpPr>
          <p:cNvPr id="7" name="Shape 5"/>
          <p:cNvSpPr/>
          <p:nvPr/>
        </p:nvSpPr>
        <p:spPr>
          <a:xfrm>
            <a:off x="868680" y="3593592"/>
            <a:ext cx="109728" cy="109728"/>
          </a:xfrm>
          <a:prstGeom prst="oval">
            <a:avLst/>
          </a:prstGeom>
          <a:solidFill>
            <a:srgbClr val="E8562C"/>
          </a:solidFill>
          <a:ln/>
        </p:spPr>
      </p:sp>
      <p:sp>
        <p:nvSpPr>
          <p:cNvPr id="8" name="Text 6"/>
          <p:cNvSpPr txBox="1"/>
          <p:nvPr/>
        </p:nvSpPr>
        <p:spPr>
          <a:xfrm>
            <a:off x="1143000" y="3520440"/>
            <a:ext cx="4434840" cy="548640"/>
          </a:xfrm>
          <a:prstGeom prst="rect">
            <a:avLst/>
          </a:prstGeom>
          <a:noFill/>
          <a:ln/>
        </p:spPr>
        <p:txBody>
          <a:bodyPr wrap="square" lIns="0" tIns="0" rIns="0" bIns="0" rtlCol="0" anchor="ctr"/>
          <a:lstStyle/>
          <a:p>
            <a:pPr indent="0" marL="0">
              <a:lnSpc>
                <a:spcPts val="1700"/>
              </a:lnSpc>
              <a:buNone/>
            </a:pPr>
            <a:r>
              <a:rPr lang="en-US" sz="1350" dirty="0">
                <a:solidFill>
                  <a:srgbClr val="1F1F22"/>
                </a:solidFill>
                <a:latin typeface="Calibri" pitchFamily="34" charset="0"/>
                <a:ea typeface="Calibri" pitchFamily="34" charset="-122"/>
                <a:cs typeface="Calibri" pitchFamily="34" charset="-120"/>
              </a:rPr>
              <a:t>What an anti-pattern actually is</a:t>
            </a:r>
            <a:endParaRPr lang="en-US" sz="1350" dirty="0"/>
          </a:p>
        </p:txBody>
      </p:sp>
      <p:sp>
        <p:nvSpPr>
          <p:cNvPr id="9" name="Shape 7"/>
          <p:cNvSpPr/>
          <p:nvPr/>
        </p:nvSpPr>
        <p:spPr>
          <a:xfrm>
            <a:off x="868680" y="4197096"/>
            <a:ext cx="109728" cy="109728"/>
          </a:xfrm>
          <a:prstGeom prst="oval">
            <a:avLst/>
          </a:prstGeom>
          <a:solidFill>
            <a:srgbClr val="E8562C"/>
          </a:solidFill>
          <a:ln/>
        </p:spPr>
      </p:sp>
      <p:sp>
        <p:nvSpPr>
          <p:cNvPr id="10" name="Text 8"/>
          <p:cNvSpPr txBox="1"/>
          <p:nvPr/>
        </p:nvSpPr>
        <p:spPr>
          <a:xfrm>
            <a:off x="1143000" y="4123944"/>
            <a:ext cx="4434840" cy="548640"/>
          </a:xfrm>
          <a:prstGeom prst="rect">
            <a:avLst/>
          </a:prstGeom>
          <a:noFill/>
          <a:ln/>
        </p:spPr>
        <p:txBody>
          <a:bodyPr wrap="square" lIns="0" tIns="0" rIns="0" bIns="0" rtlCol="0" anchor="ctr"/>
          <a:lstStyle/>
          <a:p>
            <a:pPr indent="0" marL="0">
              <a:lnSpc>
                <a:spcPts val="1700"/>
              </a:lnSpc>
              <a:buNone/>
            </a:pPr>
            <a:r>
              <a:rPr lang="en-US" sz="1350" dirty="0">
                <a:solidFill>
                  <a:srgbClr val="1F1F22"/>
                </a:solidFill>
                <a:latin typeface="Calibri" pitchFamily="34" charset="0"/>
                <a:ea typeface="Calibri" pitchFamily="34" charset="-122"/>
                <a:cs typeface="Calibri" pitchFamily="34" charset="-120"/>
              </a:rPr>
              <a:t>The evidence that they persist and cost real maintenance effort</a:t>
            </a:r>
            <a:endParaRPr lang="en-US" sz="1350" dirty="0"/>
          </a:p>
        </p:txBody>
      </p:sp>
      <p:sp>
        <p:nvSpPr>
          <p:cNvPr id="11" name="Shape 9"/>
          <p:cNvSpPr/>
          <p:nvPr/>
        </p:nvSpPr>
        <p:spPr>
          <a:xfrm>
            <a:off x="868680" y="4800600"/>
            <a:ext cx="109728" cy="109728"/>
          </a:xfrm>
          <a:prstGeom prst="oval">
            <a:avLst/>
          </a:prstGeom>
          <a:solidFill>
            <a:srgbClr val="E8562C"/>
          </a:solidFill>
          <a:ln/>
        </p:spPr>
      </p:sp>
      <p:sp>
        <p:nvSpPr>
          <p:cNvPr id="12" name="Text 10"/>
          <p:cNvSpPr txBox="1"/>
          <p:nvPr/>
        </p:nvSpPr>
        <p:spPr>
          <a:xfrm>
            <a:off x="1143000" y="4727448"/>
            <a:ext cx="4434840" cy="548640"/>
          </a:xfrm>
          <a:prstGeom prst="rect">
            <a:avLst/>
          </a:prstGeom>
          <a:noFill/>
          <a:ln/>
        </p:spPr>
        <p:txBody>
          <a:bodyPr wrap="square" lIns="0" tIns="0" rIns="0" bIns="0" rtlCol="0" anchor="ctr"/>
          <a:lstStyle/>
          <a:p>
            <a:pPr indent="0" marL="0">
              <a:lnSpc>
                <a:spcPts val="1700"/>
              </a:lnSpc>
              <a:buNone/>
            </a:pPr>
            <a:r>
              <a:rPr lang="en-US" sz="1350" dirty="0">
                <a:solidFill>
                  <a:srgbClr val="1F1F22"/>
                </a:solidFill>
                <a:latin typeface="Calibri" pitchFamily="34" charset="0"/>
                <a:ea typeface="Calibri" pitchFamily="34" charset="-122"/>
                <a:cs typeface="Calibri" pitchFamily="34" charset="-120"/>
              </a:rPr>
              <a:t>The gap both our theses respond to</a:t>
            </a:r>
            <a:endParaRPr lang="en-US" sz="1350" dirty="0"/>
          </a:p>
        </p:txBody>
      </p:sp>
      <p:sp>
        <p:nvSpPr>
          <p:cNvPr id="13" name="Shape 11"/>
          <p:cNvSpPr/>
          <p:nvPr/>
        </p:nvSpPr>
        <p:spPr>
          <a:xfrm>
            <a:off x="868680" y="5404104"/>
            <a:ext cx="109728" cy="109728"/>
          </a:xfrm>
          <a:prstGeom prst="oval">
            <a:avLst/>
          </a:prstGeom>
          <a:solidFill>
            <a:srgbClr val="E8562C"/>
          </a:solidFill>
          <a:ln/>
        </p:spPr>
      </p:sp>
      <p:sp>
        <p:nvSpPr>
          <p:cNvPr id="14" name="Text 12"/>
          <p:cNvSpPr txBox="1"/>
          <p:nvPr/>
        </p:nvSpPr>
        <p:spPr>
          <a:xfrm>
            <a:off x="1143000" y="5330952"/>
            <a:ext cx="4434840" cy="548640"/>
          </a:xfrm>
          <a:prstGeom prst="rect">
            <a:avLst/>
          </a:prstGeom>
          <a:noFill/>
          <a:ln/>
        </p:spPr>
        <p:txBody>
          <a:bodyPr wrap="square" lIns="0" tIns="0" rIns="0" bIns="0" rtlCol="0" anchor="ctr"/>
          <a:lstStyle/>
          <a:p>
            <a:pPr indent="0" marL="0">
              <a:lnSpc>
                <a:spcPts val="1700"/>
              </a:lnSpc>
              <a:buNone/>
            </a:pPr>
            <a:r>
              <a:rPr lang="en-US" sz="1350" dirty="0">
                <a:solidFill>
                  <a:srgbClr val="1F1F22"/>
                </a:solidFill>
                <a:latin typeface="Calibri" pitchFamily="34" charset="0"/>
                <a:ea typeface="Calibri" pitchFamily="34" charset="-122"/>
                <a:cs typeface="Calibri" pitchFamily="34" charset="-120"/>
              </a:rPr>
              <a:t>How our two studies complement each other</a:t>
            </a:r>
            <a:endParaRPr lang="en-US" sz="1350" dirty="0"/>
          </a:p>
        </p:txBody>
      </p:sp>
      <p:sp>
        <p:nvSpPr>
          <p:cNvPr id="15" name="Shape 13"/>
          <p:cNvSpPr/>
          <p:nvPr/>
        </p:nvSpPr>
        <p:spPr>
          <a:xfrm>
            <a:off x="6263640" y="2103120"/>
            <a:ext cx="5349240" cy="3977640"/>
          </a:xfrm>
          <a:prstGeom prst="roundRect">
            <a:avLst>
              <a:gd name="adj" fmla="val 1839"/>
            </a:avLst>
          </a:prstGeom>
          <a:solidFill>
            <a:srgbClr val="1E2761"/>
          </a:solidFill>
          <a:ln/>
        </p:spPr>
      </p:sp>
      <p:sp>
        <p:nvSpPr>
          <p:cNvPr id="16" name="Text 14"/>
          <p:cNvSpPr txBox="1"/>
          <p:nvPr/>
        </p:nvSpPr>
        <p:spPr>
          <a:xfrm>
            <a:off x="6583680" y="2377440"/>
            <a:ext cx="4709160" cy="411480"/>
          </a:xfrm>
          <a:prstGeom prst="rect">
            <a:avLst/>
          </a:prstGeom>
          <a:noFill/>
          <a:ln/>
        </p:spPr>
        <p:txBody>
          <a:bodyPr wrap="square" lIns="0" tIns="0" rIns="0" bIns="0" rtlCol="0" anchor="ctr"/>
          <a:lstStyle/>
          <a:p>
            <a:pPr indent="0" marL="0">
              <a:buNone/>
            </a:pPr>
            <a:r>
              <a:rPr lang="en-US" sz="1300" b="1" spc="150" kern="0" dirty="0">
                <a:solidFill>
                  <a:srgbClr val="F2542D"/>
                </a:solidFill>
                <a:latin typeface="Calibri" pitchFamily="34" charset="0"/>
                <a:ea typeface="Calibri" pitchFamily="34" charset="-122"/>
                <a:cs typeface="Calibri" pitchFamily="34" charset="-120"/>
              </a:rPr>
              <a:t>Part 2 — Mine</a:t>
            </a:r>
            <a:endParaRPr lang="en-US" sz="1300" dirty="0"/>
          </a:p>
        </p:txBody>
      </p:sp>
      <p:sp>
        <p:nvSpPr>
          <p:cNvPr id="17" name="Text 15"/>
          <p:cNvSpPr txBox="1"/>
          <p:nvPr/>
        </p:nvSpPr>
        <p:spPr>
          <a:xfrm>
            <a:off x="6583680" y="2761488"/>
            <a:ext cx="4709160" cy="54864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Repairing them, with proof</a:t>
            </a:r>
            <a:endParaRPr lang="en-US" sz="2100" dirty="0"/>
          </a:p>
        </p:txBody>
      </p:sp>
      <p:sp>
        <p:nvSpPr>
          <p:cNvPr id="18" name="Shape 16"/>
          <p:cNvSpPr/>
          <p:nvPr/>
        </p:nvSpPr>
        <p:spPr>
          <a:xfrm>
            <a:off x="6583680" y="3593592"/>
            <a:ext cx="109728" cy="109728"/>
          </a:xfrm>
          <a:prstGeom prst="oval">
            <a:avLst/>
          </a:prstGeom>
          <a:solidFill>
            <a:srgbClr val="F2542D"/>
          </a:solidFill>
          <a:ln/>
        </p:spPr>
      </p:sp>
      <p:sp>
        <p:nvSpPr>
          <p:cNvPr id="19" name="Text 17"/>
          <p:cNvSpPr txBox="1"/>
          <p:nvPr/>
        </p:nvSpPr>
        <p:spPr>
          <a:xfrm>
            <a:off x="6858000" y="3520440"/>
            <a:ext cx="4434840" cy="548640"/>
          </a:xfrm>
          <a:prstGeom prst="rect">
            <a:avLst/>
          </a:prstGeom>
          <a:noFill/>
          <a:ln/>
        </p:spPr>
        <p:txBody>
          <a:bodyPr wrap="square" lIns="0" tIns="0" rIns="0" bIns="0" rtlCol="0" anchor="ctr"/>
          <a:lstStyle/>
          <a:p>
            <a:pPr indent="0" marL="0">
              <a:lnSpc>
                <a:spcPts val="1700"/>
              </a:lnSpc>
              <a:buNone/>
            </a:pPr>
            <a:r>
              <a:rPr lang="en-US" sz="1350" dirty="0">
                <a:solidFill>
                  <a:srgbClr val="CADCFC"/>
                </a:solidFill>
                <a:latin typeface="Calibri" pitchFamily="34" charset="0"/>
                <a:ea typeface="Calibri" pitchFamily="34" charset="-122"/>
                <a:cs typeface="Calibri" pitchFamily="34" charset="-120"/>
              </a:rPr>
              <a:t>Why God Class, Long Method &amp; Obsolete API Usage, specifically</a:t>
            </a:r>
            <a:endParaRPr lang="en-US" sz="1350" dirty="0"/>
          </a:p>
        </p:txBody>
      </p:sp>
      <p:sp>
        <p:nvSpPr>
          <p:cNvPr id="20" name="Shape 18"/>
          <p:cNvSpPr/>
          <p:nvPr/>
        </p:nvSpPr>
        <p:spPr>
          <a:xfrm>
            <a:off x="6583680" y="4197096"/>
            <a:ext cx="109728" cy="109728"/>
          </a:xfrm>
          <a:prstGeom prst="oval">
            <a:avLst/>
          </a:prstGeom>
          <a:solidFill>
            <a:srgbClr val="F2542D"/>
          </a:solidFill>
          <a:ln/>
        </p:spPr>
      </p:sp>
      <p:sp>
        <p:nvSpPr>
          <p:cNvPr id="21" name="Text 19"/>
          <p:cNvSpPr txBox="1"/>
          <p:nvPr/>
        </p:nvSpPr>
        <p:spPr>
          <a:xfrm>
            <a:off x="6858000" y="4123944"/>
            <a:ext cx="4434840" cy="548640"/>
          </a:xfrm>
          <a:prstGeom prst="rect">
            <a:avLst/>
          </a:prstGeom>
          <a:noFill/>
          <a:ln/>
        </p:spPr>
        <p:txBody>
          <a:bodyPr wrap="square" lIns="0" tIns="0" rIns="0" bIns="0" rtlCol="0" anchor="ctr"/>
          <a:lstStyle/>
          <a:p>
            <a:pPr indent="0" marL="0">
              <a:lnSpc>
                <a:spcPts val="1700"/>
              </a:lnSpc>
              <a:buNone/>
            </a:pPr>
            <a:r>
              <a:rPr lang="en-US" sz="1350" dirty="0">
                <a:solidFill>
                  <a:srgbClr val="CADCFC"/>
                </a:solidFill>
                <a:latin typeface="Calibri" pitchFamily="34" charset="0"/>
                <a:ea typeface="Calibri" pitchFamily="34" charset="-122"/>
                <a:cs typeface="Calibri" pitchFamily="34" charset="-120"/>
              </a:rPr>
              <a:t>A pipeline: static analysis + LLM + independent verification</a:t>
            </a:r>
            <a:endParaRPr lang="en-US" sz="1350" dirty="0"/>
          </a:p>
        </p:txBody>
      </p:sp>
      <p:sp>
        <p:nvSpPr>
          <p:cNvPr id="22" name="Shape 20"/>
          <p:cNvSpPr/>
          <p:nvPr/>
        </p:nvSpPr>
        <p:spPr>
          <a:xfrm>
            <a:off x="6583680" y="4800600"/>
            <a:ext cx="109728" cy="109728"/>
          </a:xfrm>
          <a:prstGeom prst="oval">
            <a:avLst/>
          </a:prstGeom>
          <a:solidFill>
            <a:srgbClr val="F2542D"/>
          </a:solidFill>
          <a:ln/>
        </p:spPr>
      </p:sp>
      <p:sp>
        <p:nvSpPr>
          <p:cNvPr id="23" name="Text 21"/>
          <p:cNvSpPr txBox="1"/>
          <p:nvPr/>
        </p:nvSpPr>
        <p:spPr>
          <a:xfrm>
            <a:off x="6858000" y="4727448"/>
            <a:ext cx="4434840" cy="548640"/>
          </a:xfrm>
          <a:prstGeom prst="rect">
            <a:avLst/>
          </a:prstGeom>
          <a:noFill/>
          <a:ln/>
        </p:spPr>
        <p:txBody>
          <a:bodyPr wrap="square" lIns="0" tIns="0" rIns="0" bIns="0" rtlCol="0" anchor="ctr"/>
          <a:lstStyle/>
          <a:p>
            <a:pPr indent="0" marL="0">
              <a:lnSpc>
                <a:spcPts val="1700"/>
              </a:lnSpc>
              <a:buNone/>
            </a:pPr>
            <a:r>
              <a:rPr lang="en-US" sz="1350" dirty="0">
                <a:solidFill>
                  <a:srgbClr val="CADCFC"/>
                </a:solidFill>
                <a:latin typeface="Calibri" pitchFamily="34" charset="0"/>
                <a:ea typeface="Calibri" pitchFamily="34" charset="-122"/>
                <a:cs typeface="Calibri" pitchFamily="34" charset="-120"/>
              </a:rPr>
              <a:t>What 624 controlled repair attempts show</a:t>
            </a:r>
            <a:endParaRPr lang="en-US" sz="1350" dirty="0"/>
          </a:p>
        </p:txBody>
      </p:sp>
      <p:sp>
        <p:nvSpPr>
          <p:cNvPr id="24" name="Text 22"/>
          <p:cNvSpPr txBox="1"/>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9B9BA3"/>
                </a:solidFill>
                <a:latin typeface="Calibri" pitchFamily="34" charset="0"/>
                <a:ea typeface="Calibri" pitchFamily="34" charset="-122"/>
                <a:cs typeface="Calibri" pitchFamily="34" charset="-120"/>
              </a:rPr>
              <a:t>Part 1 (joint) — Anti-Patterns: Why They Matter</a:t>
            </a:r>
            <a:endParaRPr lang="en-US" sz="900" dirty="0"/>
          </a:p>
        </p:txBody>
      </p:sp>
      <p:sp>
        <p:nvSpPr>
          <p:cNvPr id="25" name="Text 23"/>
          <p:cNvSpPr txBox="1"/>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9B9BA3"/>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365760"/>
          </a:xfrm>
          <a:prstGeom prst="rect">
            <a:avLst/>
          </a:prstGeom>
          <a:noFill/>
          <a:ln/>
        </p:spPr>
        <p:txBody>
          <a:bodyPr wrap="square" lIns="0" tIns="0" rIns="0" bIns="0" rtlCol="0" anchor="ctr"/>
          <a:lstStyle/>
          <a:p>
            <a:pPr indent="0" marL="0">
              <a:buNone/>
            </a:pPr>
            <a:r>
              <a:rPr lang="en-US" sz="1300" b="1" spc="200" kern="0" dirty="0">
                <a:solidFill>
                  <a:srgbClr val="E8562C"/>
                </a:solidFill>
                <a:latin typeface="Calibri" pitchFamily="34" charset="0"/>
                <a:ea typeface="Calibri" pitchFamily="34" charset="-122"/>
                <a:cs typeface="Calibri" pitchFamily="34" charset="-120"/>
              </a:rPr>
              <a:t>JOINT PRIMER — ANTI-PATTERN THEORY</a:t>
            </a:r>
            <a:endParaRPr lang="en-US" sz="1300" dirty="0"/>
          </a:p>
        </p:txBody>
      </p:sp>
      <p:sp>
        <p:nvSpPr>
          <p:cNvPr id="3" name="Text 1"/>
          <p:cNvSpPr txBox="1"/>
          <p:nvPr/>
        </p:nvSpPr>
        <p:spPr>
          <a:xfrm>
            <a:off x="548640" y="822960"/>
            <a:ext cx="11064240" cy="9144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What is an “anti-pattern”?</a:t>
            </a:r>
            <a:endParaRPr lang="en-US" sz="3200" dirty="0"/>
          </a:p>
        </p:txBody>
      </p:sp>
      <p:sp>
        <p:nvSpPr>
          <p:cNvPr id="4" name="Text 2"/>
          <p:cNvSpPr txBox="1"/>
          <p:nvPr/>
        </p:nvSpPr>
        <p:spPr>
          <a:xfrm>
            <a:off x="548640" y="1691640"/>
            <a:ext cx="11064240" cy="640080"/>
          </a:xfrm>
          <a:prstGeom prst="rect">
            <a:avLst/>
          </a:prstGeom>
          <a:noFill/>
          <a:ln/>
        </p:spPr>
        <p:txBody>
          <a:bodyPr wrap="square" lIns="0" tIns="0" rIns="0" bIns="0" rtlCol="0" anchor="ctr"/>
          <a:lstStyle/>
          <a:p>
            <a:pPr indent="0" marL="0">
              <a:lnSpc>
                <a:spcPts val="2000"/>
              </a:lnSpc>
              <a:buNone/>
            </a:pPr>
            <a:r>
              <a:rPr lang="en-US" sz="1550" i="1" dirty="0">
                <a:solidFill>
                  <a:srgbClr val="55555C"/>
                </a:solidFill>
                <a:latin typeface="Calibri" pitchFamily="34" charset="0"/>
                <a:ea typeface="Calibri" pitchFamily="34" charset="-122"/>
                <a:cs typeface="Calibri" pitchFamily="34" charset="-120"/>
              </a:rPr>
              <a:t>A recurring way of writing code that looks like a reasonable solution at the time, but reliably makes a system harder to understand, test, or change.</a:t>
            </a:r>
            <a:endParaRPr lang="en-US" sz="1550" dirty="0"/>
          </a:p>
        </p:txBody>
      </p:sp>
      <p:sp>
        <p:nvSpPr>
          <p:cNvPr id="5" name="Text 3"/>
          <p:cNvSpPr txBox="1"/>
          <p:nvPr/>
        </p:nvSpPr>
        <p:spPr>
          <a:xfrm>
            <a:off x="548640" y="2514600"/>
            <a:ext cx="2651760" cy="640080"/>
          </a:xfrm>
          <a:prstGeom prst="rect">
            <a:avLst/>
          </a:prstGeom>
          <a:noFill/>
          <a:ln/>
        </p:spPr>
        <p:txBody>
          <a:bodyPr wrap="square" lIns="0" tIns="0" rIns="0" bIns="0" rtlCol="0" anchor="ctr"/>
          <a:lstStyle/>
          <a:p>
            <a:pPr indent="0" marL="0">
              <a:lnSpc>
                <a:spcPts val="1700"/>
              </a:lnSpc>
              <a:buNone/>
            </a:pPr>
            <a:r>
              <a:rPr lang="en-US" sz="1450" b="1" dirty="0">
                <a:solidFill>
                  <a:srgbClr val="1E2761"/>
                </a:solidFill>
                <a:latin typeface="Cambria" pitchFamily="34" charset="0"/>
                <a:ea typeface="Cambria" pitchFamily="34" charset="-122"/>
                <a:cs typeface="Cambria" pitchFamily="34" charset="-120"/>
              </a:rPr>
              <a:t>Fowler, 1999</a:t>
            </a:r>
            <a:endParaRPr lang="en-US" sz="1450" dirty="0"/>
          </a:p>
        </p:txBody>
      </p:sp>
      <p:sp>
        <p:nvSpPr>
          <p:cNvPr id="6" name="Text 4"/>
          <p:cNvSpPr txBox="1"/>
          <p:nvPr/>
        </p:nvSpPr>
        <p:spPr>
          <a:xfrm>
            <a:off x="3383280" y="2514600"/>
            <a:ext cx="8229600" cy="640080"/>
          </a:xfrm>
          <a:prstGeom prst="rect">
            <a:avLst/>
          </a:prstGeom>
          <a:noFill/>
          <a:ln/>
        </p:spPr>
        <p:txBody>
          <a:bodyPr wrap="square" lIns="0" tIns="0" rIns="0" bIns="0" rtlCol="0" anchor="ctr"/>
          <a:lstStyle/>
          <a:p>
            <a:pPr indent="0" marL="0">
              <a:lnSpc>
                <a:spcPts val="1800"/>
              </a:lnSpc>
              <a:buNone/>
            </a:pPr>
            <a:r>
              <a:rPr lang="en-US" sz="1400" dirty="0">
                <a:solidFill>
                  <a:srgbClr val="1F1F22"/>
                </a:solidFill>
                <a:latin typeface="Calibri" pitchFamily="34" charset="0"/>
                <a:ea typeface="Calibri" pitchFamily="34" charset="-122"/>
                <a:cs typeface="Calibri" pitchFamily="34" charset="-120"/>
              </a:rPr>
              <a:t>“Code smells” — surface symptoms in code that hint at a deeper design problem.</a:t>
            </a:r>
            <a:endParaRPr lang="en-US" sz="1400" dirty="0"/>
          </a:p>
        </p:txBody>
      </p:sp>
      <p:sp>
        <p:nvSpPr>
          <p:cNvPr id="7" name="Text 5"/>
          <p:cNvSpPr txBox="1"/>
          <p:nvPr/>
        </p:nvSpPr>
        <p:spPr>
          <a:xfrm>
            <a:off x="548640" y="3383280"/>
            <a:ext cx="2651760" cy="640080"/>
          </a:xfrm>
          <a:prstGeom prst="rect">
            <a:avLst/>
          </a:prstGeom>
          <a:noFill/>
          <a:ln/>
        </p:spPr>
        <p:txBody>
          <a:bodyPr wrap="square" lIns="0" tIns="0" rIns="0" bIns="0" rtlCol="0" anchor="ctr"/>
          <a:lstStyle/>
          <a:p>
            <a:pPr indent="0" marL="0">
              <a:lnSpc>
                <a:spcPts val="1700"/>
              </a:lnSpc>
              <a:buNone/>
            </a:pPr>
            <a:r>
              <a:rPr lang="en-US" sz="1450" b="1" dirty="0">
                <a:solidFill>
                  <a:srgbClr val="1E2761"/>
                </a:solidFill>
                <a:latin typeface="Cambria" pitchFamily="34" charset="0"/>
                <a:ea typeface="Cambria" pitchFamily="34" charset="-122"/>
                <a:cs typeface="Cambria" pitchFamily="34" charset="-120"/>
              </a:rPr>
              <a:t>Brown et al., 1998</a:t>
            </a:r>
            <a:endParaRPr lang="en-US" sz="1450" dirty="0"/>
          </a:p>
        </p:txBody>
      </p:sp>
      <p:sp>
        <p:nvSpPr>
          <p:cNvPr id="8" name="Text 6"/>
          <p:cNvSpPr txBox="1"/>
          <p:nvPr/>
        </p:nvSpPr>
        <p:spPr>
          <a:xfrm>
            <a:off x="3383280" y="3383280"/>
            <a:ext cx="8229600" cy="640080"/>
          </a:xfrm>
          <a:prstGeom prst="rect">
            <a:avLst/>
          </a:prstGeom>
          <a:noFill/>
          <a:ln/>
        </p:spPr>
        <p:txBody>
          <a:bodyPr wrap="square" lIns="0" tIns="0" rIns="0" bIns="0" rtlCol="0" anchor="ctr"/>
          <a:lstStyle/>
          <a:p>
            <a:pPr indent="0" marL="0">
              <a:lnSpc>
                <a:spcPts val="1800"/>
              </a:lnSpc>
              <a:buNone/>
            </a:pPr>
            <a:r>
              <a:rPr lang="en-US" sz="1400" dirty="0">
                <a:solidFill>
                  <a:srgbClr val="1F1F22"/>
                </a:solidFill>
                <a:latin typeface="Calibri" pitchFamily="34" charset="0"/>
                <a:ea typeface="Calibri" pitchFamily="34" charset="-122"/>
                <a:cs typeface="Calibri" pitchFamily="34" charset="-120"/>
              </a:rPr>
              <a:t>“Anti-patterns” — broader: recurring solutions, at any level, that reliably backfire.</a:t>
            </a:r>
            <a:endParaRPr lang="en-US" sz="1400" dirty="0"/>
          </a:p>
        </p:txBody>
      </p:sp>
      <p:sp>
        <p:nvSpPr>
          <p:cNvPr id="9" name="Text 7"/>
          <p:cNvSpPr txBox="1"/>
          <p:nvPr/>
        </p:nvSpPr>
        <p:spPr>
          <a:xfrm>
            <a:off x="548640" y="4251960"/>
            <a:ext cx="2651760" cy="640080"/>
          </a:xfrm>
          <a:prstGeom prst="rect">
            <a:avLst/>
          </a:prstGeom>
          <a:noFill/>
          <a:ln/>
        </p:spPr>
        <p:txBody>
          <a:bodyPr wrap="square" lIns="0" tIns="0" rIns="0" bIns="0" rtlCol="0" anchor="ctr"/>
          <a:lstStyle/>
          <a:p>
            <a:pPr indent="0" marL="0">
              <a:lnSpc>
                <a:spcPts val="1700"/>
              </a:lnSpc>
              <a:buNone/>
            </a:pPr>
            <a:r>
              <a:rPr lang="en-US" sz="1450" b="1" dirty="0">
                <a:solidFill>
                  <a:srgbClr val="1E2761"/>
                </a:solidFill>
                <a:latin typeface="Cambria" pitchFamily="34" charset="0"/>
                <a:ea typeface="Cambria" pitchFamily="34" charset="-122"/>
                <a:cs typeface="Cambria" pitchFamily="34" charset="-120"/>
              </a:rPr>
              <a:t>Lanza &amp; Marinescu, 2006</a:t>
            </a:r>
            <a:endParaRPr lang="en-US" sz="1450" dirty="0"/>
          </a:p>
        </p:txBody>
      </p:sp>
      <p:sp>
        <p:nvSpPr>
          <p:cNvPr id="10" name="Text 8"/>
          <p:cNvSpPr txBox="1"/>
          <p:nvPr/>
        </p:nvSpPr>
        <p:spPr>
          <a:xfrm>
            <a:off x="3383280" y="4251960"/>
            <a:ext cx="8229600" cy="640080"/>
          </a:xfrm>
          <a:prstGeom prst="rect">
            <a:avLst/>
          </a:prstGeom>
          <a:noFill/>
          <a:ln/>
        </p:spPr>
        <p:txBody>
          <a:bodyPr wrap="square" lIns="0" tIns="0" rIns="0" bIns="0" rtlCol="0" anchor="ctr"/>
          <a:lstStyle/>
          <a:p>
            <a:pPr indent="0" marL="0">
              <a:lnSpc>
                <a:spcPts val="1800"/>
              </a:lnSpc>
              <a:buNone/>
            </a:pPr>
            <a:r>
              <a:rPr lang="en-US" sz="1400" dirty="0">
                <a:solidFill>
                  <a:srgbClr val="1F1F22"/>
                </a:solidFill>
                <a:latin typeface="Calibri" pitchFamily="34" charset="0"/>
                <a:ea typeface="Calibri" pitchFamily="34" charset="-122"/>
                <a:cs typeface="Calibri" pitchFamily="34" charset="-120"/>
              </a:rPr>
              <a:t>Gave some of these a metric-based definition, building on the Chidamber–Kemerer suite (1994) — turning a design judgement into something a tool can check automatically.</a:t>
            </a:r>
            <a:endParaRPr lang="en-US" sz="1400" dirty="0"/>
          </a:p>
        </p:txBody>
      </p:sp>
      <p:sp>
        <p:nvSpPr>
          <p:cNvPr id="11" name="Shape 9"/>
          <p:cNvSpPr/>
          <p:nvPr/>
        </p:nvSpPr>
        <p:spPr>
          <a:xfrm>
            <a:off x="548640" y="5257800"/>
            <a:ext cx="11064240" cy="914400"/>
          </a:xfrm>
          <a:prstGeom prst="roundRect">
            <a:avLst>
              <a:gd name="adj" fmla="val 8000"/>
            </a:avLst>
          </a:prstGeom>
          <a:solidFill>
            <a:srgbClr val="1E2761"/>
          </a:solidFill>
          <a:ln/>
        </p:spPr>
      </p:sp>
      <p:sp>
        <p:nvSpPr>
          <p:cNvPr id="12" name="Text 10"/>
          <p:cNvSpPr txBox="1"/>
          <p:nvPr/>
        </p:nvSpPr>
        <p:spPr>
          <a:xfrm>
            <a:off x="868680" y="5257800"/>
            <a:ext cx="10424160" cy="914400"/>
          </a:xfrm>
          <a:prstGeom prst="rect">
            <a:avLst/>
          </a:prstGeom>
          <a:noFill/>
          <a:ln/>
        </p:spPr>
        <p:txBody>
          <a:bodyPr wrap="square" lIns="0" tIns="0" rIns="0" bIns="0" rtlCol="0" anchor="ctr"/>
          <a:lstStyle/>
          <a:p>
            <a:pPr indent="0" marL="0">
              <a:lnSpc>
                <a:spcPts val="1800"/>
              </a:lnSpc>
              <a:buNone/>
            </a:pPr>
            <a:r>
              <a:rPr lang="en-US" sz="1450" dirty="0">
                <a:solidFill>
                  <a:srgbClr val="CADCFC"/>
                </a:solidFill>
                <a:latin typeface="Calibri" pitchFamily="34" charset="0"/>
                <a:ea typeface="Calibri" pitchFamily="34" charset="-122"/>
                <a:cs typeface="Calibri" pitchFamily="34" charset="-120"/>
              </a:rPr>
              <a:t>Anti-patterns sit between abstract quality models (ISO/IEC 25010, 2023) and the actual source code — </a:t>
            </a:r>
            <a:pPr indent="0" marL="0">
              <a:lnSpc>
                <a:spcPts val="1800"/>
              </a:lnSpc>
              <a:buNone/>
            </a:pPr>
            <a:r>
              <a:rPr lang="en-US" sz="1450" b="1" dirty="0">
                <a:solidFill>
                  <a:srgbClr val="FFFFFF"/>
                </a:solidFill>
                <a:latin typeface="Calibri" pitchFamily="34" charset="0"/>
                <a:ea typeface="Calibri" pitchFamily="34" charset="-122"/>
                <a:cs typeface="Calibri" pitchFamily="34" charset="-120"/>
              </a:rPr>
              <a:t>they're where quality degradation becomes concrete and measurable.</a:t>
            </a:r>
            <a:endParaRPr lang="en-US" sz="1450" dirty="0"/>
          </a:p>
        </p:txBody>
      </p:sp>
      <p:sp>
        <p:nvSpPr>
          <p:cNvPr id="13" name="Text 11"/>
          <p:cNvSpPr txBox="1"/>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9B9BA3"/>
                </a:solidFill>
                <a:latin typeface="Calibri" pitchFamily="34" charset="0"/>
                <a:ea typeface="Calibri" pitchFamily="34" charset="-122"/>
                <a:cs typeface="Calibri" pitchFamily="34" charset="-120"/>
              </a:rPr>
              <a:t>Part 1 (joint) — Anti-Patterns: Why They Matter</a:t>
            </a:r>
            <a:endParaRPr lang="en-US" sz="900" dirty="0"/>
          </a:p>
        </p:txBody>
      </p:sp>
      <p:sp>
        <p:nvSpPr>
          <p:cNvPr id="14" name="Text 12"/>
          <p:cNvSpPr txBox="1"/>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9B9BA3"/>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365760"/>
          </a:xfrm>
          <a:prstGeom prst="rect">
            <a:avLst/>
          </a:prstGeom>
          <a:noFill/>
          <a:ln/>
        </p:spPr>
        <p:txBody>
          <a:bodyPr wrap="square" lIns="0" tIns="0" rIns="0" bIns="0" rtlCol="0" anchor="ctr"/>
          <a:lstStyle/>
          <a:p>
            <a:pPr indent="0" marL="0">
              <a:buNone/>
            </a:pPr>
            <a:r>
              <a:rPr lang="en-US" sz="1300" b="1" spc="200" kern="0" dirty="0">
                <a:solidFill>
                  <a:srgbClr val="E8562C"/>
                </a:solidFill>
                <a:latin typeface="Calibri" pitchFamily="34" charset="0"/>
                <a:ea typeface="Calibri" pitchFamily="34" charset="-122"/>
                <a:cs typeface="Calibri" pitchFamily="34" charset="-120"/>
              </a:rPr>
              <a:t>JOINT PRIMER — THE EVIDENCE: PERSISTENCE</a:t>
            </a:r>
            <a:endParaRPr lang="en-US" sz="1300" dirty="0"/>
          </a:p>
        </p:txBody>
      </p:sp>
      <p:sp>
        <p:nvSpPr>
          <p:cNvPr id="3" name="Text 1"/>
          <p:cNvSpPr txBox="1"/>
          <p:nvPr/>
        </p:nvSpPr>
        <p:spPr>
          <a:xfrm>
            <a:off x="548640" y="822960"/>
            <a:ext cx="11064240" cy="9144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Anti-patterns are common, and they don’t remove themselves</a:t>
            </a:r>
            <a:endParaRPr lang="en-US" sz="3200" dirty="0"/>
          </a:p>
        </p:txBody>
      </p:sp>
      <p:sp>
        <p:nvSpPr>
          <p:cNvPr id="4" name="Shape 2"/>
          <p:cNvSpPr/>
          <p:nvPr/>
        </p:nvSpPr>
        <p:spPr>
          <a:xfrm>
            <a:off x="548640" y="1938528"/>
            <a:ext cx="137160" cy="137160"/>
          </a:xfrm>
          <a:prstGeom prst="oval">
            <a:avLst/>
          </a:prstGeom>
          <a:solidFill>
            <a:srgbClr val="E8562C"/>
          </a:solidFill>
          <a:ln/>
        </p:spPr>
      </p:sp>
      <p:sp>
        <p:nvSpPr>
          <p:cNvPr id="5" name="Text 3"/>
          <p:cNvSpPr txBox="1"/>
          <p:nvPr/>
        </p:nvSpPr>
        <p:spPr>
          <a:xfrm>
            <a:off x="914400" y="1874520"/>
            <a:ext cx="10515600" cy="365760"/>
          </a:xfrm>
          <a:prstGeom prst="rect">
            <a:avLst/>
          </a:prstGeom>
          <a:noFill/>
          <a:ln/>
        </p:spPr>
        <p:txBody>
          <a:bodyPr wrap="square" lIns="0" tIns="0" rIns="0" bIns="0" rtlCol="0" anchor="ctr"/>
          <a:lstStyle/>
          <a:p>
            <a:pPr indent="0" marL="0">
              <a:lnSpc>
                <a:spcPts val="1500"/>
              </a:lnSpc>
              <a:buNone/>
            </a:pPr>
            <a:r>
              <a:rPr lang="en-US" sz="1450" b="1" dirty="0">
                <a:solidFill>
                  <a:srgbClr val="1E2761"/>
                </a:solidFill>
                <a:latin typeface="Calibri" pitchFamily="34" charset="0"/>
                <a:ea typeface="Calibri" pitchFamily="34" charset="-122"/>
                <a:cs typeface="Calibri" pitchFamily="34" charset="-120"/>
              </a:rPr>
              <a:t>Common, and measurably harmful, across real systems</a:t>
            </a:r>
            <a:endParaRPr lang="en-US" sz="1450" dirty="0"/>
          </a:p>
        </p:txBody>
      </p:sp>
      <p:sp>
        <p:nvSpPr>
          <p:cNvPr id="6" name="Text 4"/>
          <p:cNvSpPr txBox="1"/>
          <p:nvPr/>
        </p:nvSpPr>
        <p:spPr>
          <a:xfrm>
            <a:off x="914400" y="2258568"/>
            <a:ext cx="10332720" cy="530352"/>
          </a:xfrm>
          <a:prstGeom prst="rect">
            <a:avLst/>
          </a:prstGeom>
          <a:noFill/>
          <a:ln/>
        </p:spPr>
        <p:txBody>
          <a:bodyPr wrap="square" lIns="0" tIns="0" rIns="0" bIns="0" rtlCol="0" anchor="ctr"/>
          <a:lstStyle/>
          <a:p>
            <a:pPr indent="0" marL="0">
              <a:lnSpc>
                <a:spcPts val="1550"/>
              </a:lnSpc>
              <a:buNone/>
            </a:pPr>
            <a:r>
              <a:rPr lang="en-US" sz="1300" dirty="0">
                <a:solidFill>
                  <a:srgbClr val="1F1F22"/>
                </a:solidFill>
                <a:latin typeface="Calibri" pitchFamily="34" charset="0"/>
                <a:ea typeface="Calibri" pitchFamily="34" charset="-122"/>
                <a:cs typeface="Calibri" pitchFamily="34" charset="-120"/>
              </a:rPr>
              <a:t>395 releases of 30 Java projects, 17,350 manually validated code-smell instances: affected classes underwent more changes and more bug-fixing activity than unaffected ones.</a:t>
            </a:r>
            <a:endParaRPr lang="en-US" sz="1300" dirty="0"/>
          </a:p>
        </p:txBody>
      </p:sp>
      <p:sp>
        <p:nvSpPr>
          <p:cNvPr id="7" name="Text 5"/>
          <p:cNvSpPr txBox="1"/>
          <p:nvPr/>
        </p:nvSpPr>
        <p:spPr>
          <a:xfrm>
            <a:off x="914400" y="2816352"/>
            <a:ext cx="10332720" cy="256032"/>
          </a:xfrm>
          <a:prstGeom prst="rect">
            <a:avLst/>
          </a:prstGeom>
          <a:noFill/>
          <a:ln/>
        </p:spPr>
        <p:txBody>
          <a:bodyPr wrap="square" lIns="0" tIns="0" rIns="0" bIns="0" rtlCol="0" anchor="ctr"/>
          <a:lstStyle/>
          <a:p>
            <a:pPr indent="0" marL="0">
              <a:buNone/>
            </a:pPr>
            <a:r>
              <a:rPr lang="en-US" sz="1100" i="1" dirty="0">
                <a:solidFill>
                  <a:srgbClr val="E8562C"/>
                </a:solidFill>
                <a:latin typeface="Calibri" pitchFamily="34" charset="0"/>
                <a:ea typeface="Calibri" pitchFamily="34" charset="-122"/>
                <a:cs typeface="Calibri" pitchFamily="34" charset="-120"/>
              </a:rPr>
              <a:t>— Palomba et al., 2018</a:t>
            </a:r>
            <a:endParaRPr lang="en-US" sz="1100" dirty="0"/>
          </a:p>
        </p:txBody>
      </p:sp>
      <p:sp>
        <p:nvSpPr>
          <p:cNvPr id="8" name="Shape 6"/>
          <p:cNvSpPr/>
          <p:nvPr/>
        </p:nvSpPr>
        <p:spPr>
          <a:xfrm>
            <a:off x="548640" y="3236976"/>
            <a:ext cx="137160" cy="137160"/>
          </a:xfrm>
          <a:prstGeom prst="oval">
            <a:avLst/>
          </a:prstGeom>
          <a:solidFill>
            <a:srgbClr val="E8562C"/>
          </a:solidFill>
          <a:ln/>
        </p:spPr>
      </p:sp>
      <p:sp>
        <p:nvSpPr>
          <p:cNvPr id="9" name="Text 7"/>
          <p:cNvSpPr txBox="1"/>
          <p:nvPr/>
        </p:nvSpPr>
        <p:spPr>
          <a:xfrm>
            <a:off x="914400" y="3172968"/>
            <a:ext cx="10515600" cy="365760"/>
          </a:xfrm>
          <a:prstGeom prst="rect">
            <a:avLst/>
          </a:prstGeom>
          <a:noFill/>
          <a:ln/>
        </p:spPr>
        <p:txBody>
          <a:bodyPr wrap="square" lIns="0" tIns="0" rIns="0" bIns="0" rtlCol="0" anchor="ctr"/>
          <a:lstStyle/>
          <a:p>
            <a:pPr indent="0" marL="0">
              <a:lnSpc>
                <a:spcPts val="1500"/>
              </a:lnSpc>
              <a:buNone/>
            </a:pPr>
            <a:r>
              <a:rPr lang="en-US" sz="1450" b="1" dirty="0">
                <a:solidFill>
                  <a:srgbClr val="1E2761"/>
                </a:solidFill>
                <a:latin typeface="Calibri" pitchFamily="34" charset="0"/>
                <a:ea typeface="Calibri" pitchFamily="34" charset="-122"/>
                <a:cs typeface="Calibri" pitchFamily="34" charset="-120"/>
              </a:rPr>
              <a:t>Not a one-study fluke</a:t>
            </a:r>
            <a:endParaRPr lang="en-US" sz="1450" dirty="0"/>
          </a:p>
        </p:txBody>
      </p:sp>
      <p:sp>
        <p:nvSpPr>
          <p:cNvPr id="10" name="Text 8"/>
          <p:cNvSpPr txBox="1"/>
          <p:nvPr/>
        </p:nvSpPr>
        <p:spPr>
          <a:xfrm>
            <a:off x="914400" y="3557016"/>
            <a:ext cx="10332720" cy="530352"/>
          </a:xfrm>
          <a:prstGeom prst="rect">
            <a:avLst/>
          </a:prstGeom>
          <a:noFill/>
          <a:ln/>
        </p:spPr>
        <p:txBody>
          <a:bodyPr wrap="square" lIns="0" tIns="0" rIns="0" bIns="0" rtlCol="0" anchor="ctr"/>
          <a:lstStyle/>
          <a:p>
            <a:pPr indent="0" marL="0">
              <a:lnSpc>
                <a:spcPts val="1550"/>
              </a:lnSpc>
              <a:buNone/>
            </a:pPr>
            <a:r>
              <a:rPr lang="en-US" sz="1300" dirty="0">
                <a:solidFill>
                  <a:srgbClr val="1F1F22"/>
                </a:solidFill>
                <a:latin typeface="Calibri" pitchFamily="34" charset="0"/>
                <a:ea typeface="Calibri" pitchFamily="34" charset="-122"/>
                <a:cs typeface="Calibri" pitchFamily="34" charset="-120"/>
              </a:rPr>
              <a:t>Similar change-behaviour differences have been documented across the histories of established open-source systems.</a:t>
            </a:r>
            <a:endParaRPr lang="en-US" sz="1300" dirty="0"/>
          </a:p>
        </p:txBody>
      </p:sp>
      <p:sp>
        <p:nvSpPr>
          <p:cNvPr id="11" name="Text 9"/>
          <p:cNvSpPr txBox="1"/>
          <p:nvPr/>
        </p:nvSpPr>
        <p:spPr>
          <a:xfrm>
            <a:off x="914400" y="4114800"/>
            <a:ext cx="10332720" cy="256032"/>
          </a:xfrm>
          <a:prstGeom prst="rect">
            <a:avLst/>
          </a:prstGeom>
          <a:noFill/>
          <a:ln/>
        </p:spPr>
        <p:txBody>
          <a:bodyPr wrap="square" lIns="0" tIns="0" rIns="0" bIns="0" rtlCol="0" anchor="ctr"/>
          <a:lstStyle/>
          <a:p>
            <a:pPr indent="0" marL="0">
              <a:buNone/>
            </a:pPr>
            <a:r>
              <a:rPr lang="en-US" sz="1100" i="1" dirty="0">
                <a:solidFill>
                  <a:srgbClr val="E8562C"/>
                </a:solidFill>
                <a:latin typeface="Calibri" pitchFamily="34" charset="0"/>
                <a:ea typeface="Calibri" pitchFamily="34" charset="-122"/>
                <a:cs typeface="Calibri" pitchFamily="34" charset="-120"/>
              </a:rPr>
              <a:t>— Li &amp; Shatnawi, 2007; Olbrich et al., 2009</a:t>
            </a:r>
            <a:endParaRPr lang="en-US" sz="1100" dirty="0"/>
          </a:p>
        </p:txBody>
      </p:sp>
      <p:sp>
        <p:nvSpPr>
          <p:cNvPr id="12" name="Shape 10"/>
          <p:cNvSpPr/>
          <p:nvPr/>
        </p:nvSpPr>
        <p:spPr>
          <a:xfrm>
            <a:off x="548640" y="4535424"/>
            <a:ext cx="137160" cy="137160"/>
          </a:xfrm>
          <a:prstGeom prst="oval">
            <a:avLst/>
          </a:prstGeom>
          <a:solidFill>
            <a:srgbClr val="E8562C"/>
          </a:solidFill>
          <a:ln/>
        </p:spPr>
      </p:sp>
      <p:sp>
        <p:nvSpPr>
          <p:cNvPr id="13" name="Text 11"/>
          <p:cNvSpPr txBox="1"/>
          <p:nvPr/>
        </p:nvSpPr>
        <p:spPr>
          <a:xfrm>
            <a:off x="914400" y="4471416"/>
            <a:ext cx="10515600" cy="365760"/>
          </a:xfrm>
          <a:prstGeom prst="rect">
            <a:avLst/>
          </a:prstGeom>
          <a:noFill/>
          <a:ln/>
        </p:spPr>
        <p:txBody>
          <a:bodyPr wrap="square" lIns="0" tIns="0" rIns="0" bIns="0" rtlCol="0" anchor="ctr"/>
          <a:lstStyle/>
          <a:p>
            <a:pPr indent="0" marL="0">
              <a:lnSpc>
                <a:spcPts val="1500"/>
              </a:lnSpc>
              <a:buNone/>
            </a:pPr>
            <a:r>
              <a:rPr lang="en-US" sz="1450" b="1" dirty="0">
                <a:solidFill>
                  <a:srgbClr val="1E2761"/>
                </a:solidFill>
                <a:latin typeface="Calibri" pitchFamily="34" charset="0"/>
                <a:ea typeface="Calibri" pitchFamily="34" charset="-122"/>
                <a:cs typeface="Calibri" pitchFamily="34" charset="-120"/>
              </a:rPr>
              <a:t>And they don’t clear up on their own</a:t>
            </a:r>
            <a:endParaRPr lang="en-US" sz="1450" dirty="0"/>
          </a:p>
        </p:txBody>
      </p:sp>
      <p:sp>
        <p:nvSpPr>
          <p:cNvPr id="14" name="Text 12"/>
          <p:cNvSpPr txBox="1"/>
          <p:nvPr/>
        </p:nvSpPr>
        <p:spPr>
          <a:xfrm>
            <a:off x="914400" y="4855464"/>
            <a:ext cx="10332720" cy="530352"/>
          </a:xfrm>
          <a:prstGeom prst="rect">
            <a:avLst/>
          </a:prstGeom>
          <a:noFill/>
          <a:ln/>
        </p:spPr>
        <p:txBody>
          <a:bodyPr wrap="square" lIns="0" tIns="0" rIns="0" bIns="0" rtlCol="0" anchor="ctr"/>
          <a:lstStyle/>
          <a:p>
            <a:pPr indent="0" marL="0">
              <a:lnSpc>
                <a:spcPts val="1550"/>
              </a:lnSpc>
              <a:buNone/>
            </a:pPr>
            <a:r>
              <a:rPr lang="en-US" sz="1300" dirty="0">
                <a:solidFill>
                  <a:srgbClr val="1F1F22"/>
                </a:solidFill>
                <a:latin typeface="Calibri" pitchFamily="34" charset="0"/>
                <a:ea typeface="Calibri" pitchFamily="34" charset="-122"/>
                <a:cs typeface="Calibri" pitchFamily="34" charset="-120"/>
              </a:rPr>
              <a:t>About 80% of studied code-smell instances survived in the system; only a small share of the ones that were removed disappeared through deliberate refactoring.</a:t>
            </a:r>
            <a:endParaRPr lang="en-US" sz="1300" dirty="0"/>
          </a:p>
        </p:txBody>
      </p:sp>
      <p:sp>
        <p:nvSpPr>
          <p:cNvPr id="15" name="Text 13"/>
          <p:cNvSpPr txBox="1"/>
          <p:nvPr/>
        </p:nvSpPr>
        <p:spPr>
          <a:xfrm>
            <a:off x="914400" y="5413248"/>
            <a:ext cx="10332720" cy="256032"/>
          </a:xfrm>
          <a:prstGeom prst="rect">
            <a:avLst/>
          </a:prstGeom>
          <a:noFill/>
          <a:ln/>
        </p:spPr>
        <p:txBody>
          <a:bodyPr wrap="square" lIns="0" tIns="0" rIns="0" bIns="0" rtlCol="0" anchor="ctr"/>
          <a:lstStyle/>
          <a:p>
            <a:pPr indent="0" marL="0">
              <a:buNone/>
            </a:pPr>
            <a:r>
              <a:rPr lang="en-US" sz="1100" i="1" dirty="0">
                <a:solidFill>
                  <a:srgbClr val="E8562C"/>
                </a:solidFill>
                <a:latin typeface="Calibri" pitchFamily="34" charset="0"/>
                <a:ea typeface="Calibri" pitchFamily="34" charset="-122"/>
                <a:cs typeface="Calibri" pitchFamily="34" charset="-120"/>
              </a:rPr>
              <a:t>— Tufano et al., 2017</a:t>
            </a:r>
            <a:endParaRPr lang="en-US" sz="1100" dirty="0"/>
          </a:p>
        </p:txBody>
      </p:sp>
      <p:sp>
        <p:nvSpPr>
          <p:cNvPr id="16" name="Text 14"/>
          <p:cNvSpPr txBox="1"/>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9B9BA3"/>
                </a:solidFill>
                <a:latin typeface="Calibri" pitchFamily="34" charset="0"/>
                <a:ea typeface="Calibri" pitchFamily="34" charset="-122"/>
                <a:cs typeface="Calibri" pitchFamily="34" charset="-120"/>
              </a:rPr>
              <a:t>Part 1 (joint) — Anti-Patterns: Why They Matter</a:t>
            </a:r>
            <a:endParaRPr lang="en-US" sz="900" dirty="0"/>
          </a:p>
        </p:txBody>
      </p:sp>
      <p:sp>
        <p:nvSpPr>
          <p:cNvPr id="17" name="Text 15"/>
          <p:cNvSpPr txBox="1"/>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9B9BA3"/>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365760"/>
          </a:xfrm>
          <a:prstGeom prst="rect">
            <a:avLst/>
          </a:prstGeom>
          <a:noFill/>
          <a:ln/>
        </p:spPr>
        <p:txBody>
          <a:bodyPr wrap="square" lIns="0" tIns="0" rIns="0" bIns="0" rtlCol="0" anchor="ctr"/>
          <a:lstStyle/>
          <a:p>
            <a:pPr indent="0" marL="0">
              <a:buNone/>
            </a:pPr>
            <a:r>
              <a:rPr lang="en-US" sz="1300" b="1" spc="200" kern="0" dirty="0">
                <a:solidFill>
                  <a:srgbClr val="E8562C"/>
                </a:solidFill>
                <a:latin typeface="Calibri" pitchFamily="34" charset="0"/>
                <a:ea typeface="Calibri" pitchFamily="34" charset="-122"/>
                <a:cs typeface="Calibri" pitchFamily="34" charset="-120"/>
              </a:rPr>
              <a:t>JOINT PRIMER — THE EVIDENCE: COST</a:t>
            </a:r>
            <a:endParaRPr lang="en-US" sz="1300" dirty="0"/>
          </a:p>
        </p:txBody>
      </p:sp>
      <p:sp>
        <p:nvSpPr>
          <p:cNvPr id="3" name="Text 1"/>
          <p:cNvSpPr txBox="1"/>
          <p:nvPr/>
        </p:nvSpPr>
        <p:spPr>
          <a:xfrm>
            <a:off x="548640" y="822960"/>
            <a:ext cx="11064240" cy="9144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Not just untidy — it costs real developer time</a:t>
            </a:r>
            <a:endParaRPr lang="en-US" sz="3200" dirty="0"/>
          </a:p>
        </p:txBody>
      </p:sp>
      <p:sp>
        <p:nvSpPr>
          <p:cNvPr id="4" name="Shape 2"/>
          <p:cNvSpPr/>
          <p:nvPr/>
        </p:nvSpPr>
        <p:spPr>
          <a:xfrm>
            <a:off x="548640" y="1938528"/>
            <a:ext cx="137160" cy="137160"/>
          </a:xfrm>
          <a:prstGeom prst="oval">
            <a:avLst/>
          </a:prstGeom>
          <a:solidFill>
            <a:srgbClr val="E8562C"/>
          </a:solidFill>
          <a:ln/>
        </p:spPr>
      </p:sp>
      <p:sp>
        <p:nvSpPr>
          <p:cNvPr id="5" name="Text 3"/>
          <p:cNvSpPr txBox="1"/>
          <p:nvPr/>
        </p:nvSpPr>
        <p:spPr>
          <a:xfrm>
            <a:off x="914400" y="1874520"/>
            <a:ext cx="10515600" cy="365760"/>
          </a:xfrm>
          <a:prstGeom prst="rect">
            <a:avLst/>
          </a:prstGeom>
          <a:noFill/>
          <a:ln/>
        </p:spPr>
        <p:txBody>
          <a:bodyPr wrap="square" lIns="0" tIns="0" rIns="0" bIns="0" rtlCol="0" anchor="ctr"/>
          <a:lstStyle/>
          <a:p>
            <a:pPr indent="0" marL="0">
              <a:lnSpc>
                <a:spcPts val="1500"/>
              </a:lnSpc>
              <a:buNone/>
            </a:pPr>
            <a:r>
              <a:rPr lang="en-US" sz="1450" b="1" dirty="0">
                <a:solidFill>
                  <a:srgbClr val="1E2761"/>
                </a:solidFill>
                <a:latin typeface="Calibri" pitchFamily="34" charset="0"/>
                <a:ea typeface="Calibri" pitchFamily="34" charset="-122"/>
                <a:cs typeface="Calibri" pitchFamily="34" charset="-120"/>
              </a:rPr>
              <a:t>It eats a real share of the working week</a:t>
            </a:r>
            <a:endParaRPr lang="en-US" sz="1450" dirty="0"/>
          </a:p>
        </p:txBody>
      </p:sp>
      <p:sp>
        <p:nvSpPr>
          <p:cNvPr id="6" name="Text 4"/>
          <p:cNvSpPr txBox="1"/>
          <p:nvPr/>
        </p:nvSpPr>
        <p:spPr>
          <a:xfrm>
            <a:off x="914400" y="2258568"/>
            <a:ext cx="10332720" cy="530352"/>
          </a:xfrm>
          <a:prstGeom prst="rect">
            <a:avLst/>
          </a:prstGeom>
          <a:noFill/>
          <a:ln/>
        </p:spPr>
        <p:txBody>
          <a:bodyPr wrap="square" lIns="0" tIns="0" rIns="0" bIns="0" rtlCol="0" anchor="ctr"/>
          <a:lstStyle/>
          <a:p>
            <a:pPr indent="0" marL="0">
              <a:lnSpc>
                <a:spcPts val="1550"/>
              </a:lnSpc>
              <a:buNone/>
            </a:pPr>
            <a:r>
              <a:rPr lang="en-US" sz="1300" dirty="0">
                <a:solidFill>
                  <a:srgbClr val="1F1F22"/>
                </a:solidFill>
                <a:latin typeface="Calibri" pitchFamily="34" charset="0"/>
                <a:ea typeface="Calibri" pitchFamily="34" charset="-122"/>
                <a:cs typeface="Calibri" pitchFamily="34" charset="-120"/>
              </a:rPr>
              <a:t>In a longitudinal industrial study, developers reported that technical debt consumed roughly 23% of their working time on average — mostly extra testing, source-code analysis, and refactoring.</a:t>
            </a:r>
            <a:endParaRPr lang="en-US" sz="1300" dirty="0"/>
          </a:p>
        </p:txBody>
      </p:sp>
      <p:sp>
        <p:nvSpPr>
          <p:cNvPr id="7" name="Text 5"/>
          <p:cNvSpPr txBox="1"/>
          <p:nvPr/>
        </p:nvSpPr>
        <p:spPr>
          <a:xfrm>
            <a:off x="914400" y="2816352"/>
            <a:ext cx="10332720" cy="256032"/>
          </a:xfrm>
          <a:prstGeom prst="rect">
            <a:avLst/>
          </a:prstGeom>
          <a:noFill/>
          <a:ln/>
        </p:spPr>
        <p:txBody>
          <a:bodyPr wrap="square" lIns="0" tIns="0" rIns="0" bIns="0" rtlCol="0" anchor="ctr"/>
          <a:lstStyle/>
          <a:p>
            <a:pPr indent="0" marL="0">
              <a:buNone/>
            </a:pPr>
            <a:r>
              <a:rPr lang="en-US" sz="1100" i="1" dirty="0">
                <a:solidFill>
                  <a:srgbClr val="E8562C"/>
                </a:solidFill>
                <a:latin typeface="Calibri" pitchFamily="34" charset="0"/>
                <a:ea typeface="Calibri" pitchFamily="34" charset="-122"/>
                <a:cs typeface="Calibri" pitchFamily="34" charset="-120"/>
              </a:rPr>
              <a:t>— Besker, Martini &amp; Bosch, 2019</a:t>
            </a:r>
            <a:endParaRPr lang="en-US" sz="1100" dirty="0"/>
          </a:p>
        </p:txBody>
      </p:sp>
      <p:sp>
        <p:nvSpPr>
          <p:cNvPr id="8" name="Shape 6"/>
          <p:cNvSpPr/>
          <p:nvPr/>
        </p:nvSpPr>
        <p:spPr>
          <a:xfrm>
            <a:off x="548640" y="3236976"/>
            <a:ext cx="137160" cy="137160"/>
          </a:xfrm>
          <a:prstGeom prst="oval">
            <a:avLst/>
          </a:prstGeom>
          <a:solidFill>
            <a:srgbClr val="E8562C"/>
          </a:solidFill>
          <a:ln/>
        </p:spPr>
      </p:sp>
      <p:sp>
        <p:nvSpPr>
          <p:cNvPr id="9" name="Text 7"/>
          <p:cNvSpPr txBox="1"/>
          <p:nvPr/>
        </p:nvSpPr>
        <p:spPr>
          <a:xfrm>
            <a:off x="914400" y="3172968"/>
            <a:ext cx="10515600" cy="365760"/>
          </a:xfrm>
          <a:prstGeom prst="rect">
            <a:avLst/>
          </a:prstGeom>
          <a:noFill/>
          <a:ln/>
        </p:spPr>
        <p:txBody>
          <a:bodyPr wrap="square" lIns="0" tIns="0" rIns="0" bIns="0" rtlCol="0" anchor="ctr"/>
          <a:lstStyle/>
          <a:p>
            <a:pPr indent="0" marL="0">
              <a:lnSpc>
                <a:spcPts val="1500"/>
              </a:lnSpc>
              <a:buNone/>
            </a:pPr>
            <a:r>
              <a:rPr lang="en-US" sz="1450" b="1" dirty="0">
                <a:solidFill>
                  <a:srgbClr val="1E2761"/>
                </a:solidFill>
                <a:latin typeface="Calibri" pitchFamily="34" charset="0"/>
                <a:ea typeface="Calibri" pitchFamily="34" charset="-122"/>
                <a:cs typeface="Calibri" pitchFamily="34" charset="-120"/>
              </a:rPr>
              <a:t>And it makes work less predictable, not just slower</a:t>
            </a:r>
            <a:endParaRPr lang="en-US" sz="1450" dirty="0"/>
          </a:p>
        </p:txBody>
      </p:sp>
      <p:sp>
        <p:nvSpPr>
          <p:cNvPr id="10" name="Text 8"/>
          <p:cNvSpPr txBox="1"/>
          <p:nvPr/>
        </p:nvSpPr>
        <p:spPr>
          <a:xfrm>
            <a:off x="914400" y="3557016"/>
            <a:ext cx="10332720" cy="530352"/>
          </a:xfrm>
          <a:prstGeom prst="rect">
            <a:avLst/>
          </a:prstGeom>
          <a:noFill/>
          <a:ln/>
        </p:spPr>
        <p:txBody>
          <a:bodyPr wrap="square" lIns="0" tIns="0" rIns="0" bIns="0" rtlCol="0" anchor="ctr"/>
          <a:lstStyle/>
          <a:p>
            <a:pPr indent="0" marL="0">
              <a:lnSpc>
                <a:spcPts val="1550"/>
              </a:lnSpc>
              <a:buNone/>
            </a:pPr>
            <a:r>
              <a:rPr lang="en-US" sz="1300" dirty="0">
                <a:solidFill>
                  <a:srgbClr val="1F1F22"/>
                </a:solidFill>
                <a:latin typeface="Calibri" pitchFamily="34" charset="0"/>
                <a:ea typeface="Calibri" pitchFamily="34" charset="-122"/>
                <a:cs typeface="Calibri" pitchFamily="34" charset="-120"/>
              </a:rPr>
              <a:t>Across 39 proprietary production codebases, issues in low-quality code took longer to resolve and had less predictable resolution times than issues in high-quality code.</a:t>
            </a:r>
            <a:endParaRPr lang="en-US" sz="1300" dirty="0"/>
          </a:p>
        </p:txBody>
      </p:sp>
      <p:sp>
        <p:nvSpPr>
          <p:cNvPr id="11" name="Text 9"/>
          <p:cNvSpPr txBox="1"/>
          <p:nvPr/>
        </p:nvSpPr>
        <p:spPr>
          <a:xfrm>
            <a:off x="914400" y="4114800"/>
            <a:ext cx="10332720" cy="256032"/>
          </a:xfrm>
          <a:prstGeom prst="rect">
            <a:avLst/>
          </a:prstGeom>
          <a:noFill/>
          <a:ln/>
        </p:spPr>
        <p:txBody>
          <a:bodyPr wrap="square" lIns="0" tIns="0" rIns="0" bIns="0" rtlCol="0" anchor="ctr"/>
          <a:lstStyle/>
          <a:p>
            <a:pPr indent="0" marL="0">
              <a:buNone/>
            </a:pPr>
            <a:r>
              <a:rPr lang="en-US" sz="1100" i="1" dirty="0">
                <a:solidFill>
                  <a:srgbClr val="E8562C"/>
                </a:solidFill>
                <a:latin typeface="Calibri" pitchFamily="34" charset="0"/>
                <a:ea typeface="Calibri" pitchFamily="34" charset="-122"/>
                <a:cs typeface="Calibri" pitchFamily="34" charset="-120"/>
              </a:rPr>
              <a:t>— Tornhill &amp; Borg, 2022</a:t>
            </a:r>
            <a:endParaRPr lang="en-US" sz="1100" dirty="0"/>
          </a:p>
        </p:txBody>
      </p:sp>
      <p:sp>
        <p:nvSpPr>
          <p:cNvPr id="12" name="Shape 10"/>
          <p:cNvSpPr/>
          <p:nvPr/>
        </p:nvSpPr>
        <p:spPr>
          <a:xfrm>
            <a:off x="548640" y="4535424"/>
            <a:ext cx="137160" cy="137160"/>
          </a:xfrm>
          <a:prstGeom prst="oval">
            <a:avLst/>
          </a:prstGeom>
          <a:solidFill>
            <a:srgbClr val="E8562C"/>
          </a:solidFill>
          <a:ln/>
        </p:spPr>
      </p:sp>
      <p:sp>
        <p:nvSpPr>
          <p:cNvPr id="13" name="Text 11"/>
          <p:cNvSpPr txBox="1"/>
          <p:nvPr/>
        </p:nvSpPr>
        <p:spPr>
          <a:xfrm>
            <a:off x="914400" y="4471416"/>
            <a:ext cx="10515600" cy="365760"/>
          </a:xfrm>
          <a:prstGeom prst="rect">
            <a:avLst/>
          </a:prstGeom>
          <a:noFill/>
          <a:ln/>
        </p:spPr>
        <p:txBody>
          <a:bodyPr wrap="square" lIns="0" tIns="0" rIns="0" bIns="0" rtlCol="0" anchor="ctr"/>
          <a:lstStyle/>
          <a:p>
            <a:pPr indent="0" marL="0">
              <a:lnSpc>
                <a:spcPts val="1500"/>
              </a:lnSpc>
              <a:buNone/>
            </a:pPr>
            <a:r>
              <a:rPr lang="en-US" sz="1450" b="1" dirty="0">
                <a:solidFill>
                  <a:srgbClr val="1E2761"/>
                </a:solidFill>
                <a:latin typeface="Calibri" pitchFamily="34" charset="0"/>
                <a:ea typeface="Calibri" pitchFamily="34" charset="-122"/>
                <a:cs typeface="Calibri" pitchFamily="34" charset="-120"/>
              </a:rPr>
              <a:t>Outdated interfaces carry their own version of this cost</a:t>
            </a:r>
            <a:endParaRPr lang="en-US" sz="1450" dirty="0"/>
          </a:p>
        </p:txBody>
      </p:sp>
      <p:sp>
        <p:nvSpPr>
          <p:cNvPr id="14" name="Text 12"/>
          <p:cNvSpPr txBox="1"/>
          <p:nvPr/>
        </p:nvSpPr>
        <p:spPr>
          <a:xfrm>
            <a:off x="914400" y="4855464"/>
            <a:ext cx="10332720" cy="530352"/>
          </a:xfrm>
          <a:prstGeom prst="rect">
            <a:avLst/>
          </a:prstGeom>
          <a:noFill/>
          <a:ln/>
        </p:spPr>
        <p:txBody>
          <a:bodyPr wrap="square" lIns="0" tIns="0" rIns="0" bIns="0" rtlCol="0" anchor="ctr"/>
          <a:lstStyle/>
          <a:p>
            <a:pPr indent="0" marL="0">
              <a:lnSpc>
                <a:spcPts val="1550"/>
              </a:lnSpc>
              <a:buNone/>
            </a:pPr>
            <a:r>
              <a:rPr lang="en-US" sz="1300" dirty="0">
                <a:solidFill>
                  <a:srgbClr val="1F1F22"/>
                </a:solidFill>
                <a:latin typeface="Calibri" pitchFamily="34" charset="0"/>
                <a:ea typeface="Calibri" pitchFamily="34" charset="-122"/>
                <a:cs typeface="Calibri" pitchFamily="34" charset="-120"/>
              </a:rPr>
              <a:t>Postponed API migration can later force disruptive client rework or block an upgrade entirely — our own Obsolete API Usage example, generalised.</a:t>
            </a:r>
            <a:endParaRPr lang="en-US" sz="1300" dirty="0"/>
          </a:p>
        </p:txBody>
      </p:sp>
      <p:sp>
        <p:nvSpPr>
          <p:cNvPr id="15" name="Text 13"/>
          <p:cNvSpPr txBox="1"/>
          <p:nvPr/>
        </p:nvSpPr>
        <p:spPr>
          <a:xfrm>
            <a:off x="914400" y="5413248"/>
            <a:ext cx="10332720" cy="256032"/>
          </a:xfrm>
          <a:prstGeom prst="rect">
            <a:avLst/>
          </a:prstGeom>
          <a:noFill/>
          <a:ln/>
        </p:spPr>
        <p:txBody>
          <a:bodyPr wrap="square" lIns="0" tIns="0" rIns="0" bIns="0" rtlCol="0" anchor="ctr"/>
          <a:lstStyle/>
          <a:p>
            <a:pPr indent="0" marL="0">
              <a:buNone/>
            </a:pPr>
            <a:r>
              <a:rPr lang="en-US" sz="1100" i="1" dirty="0">
                <a:solidFill>
                  <a:srgbClr val="E8562C"/>
                </a:solidFill>
                <a:latin typeface="Calibri" pitchFamily="34" charset="0"/>
                <a:ea typeface="Calibri" pitchFamily="34" charset="-122"/>
                <a:cs typeface="Calibri" pitchFamily="34" charset="-120"/>
              </a:rPr>
              <a:t>— Dietrich et al., 2014; Raemaekers et al., 2017; Sawant et al., 2019</a:t>
            </a:r>
            <a:endParaRPr lang="en-US" sz="1100" dirty="0"/>
          </a:p>
        </p:txBody>
      </p:sp>
      <p:sp>
        <p:nvSpPr>
          <p:cNvPr id="16" name="Text 14"/>
          <p:cNvSpPr txBox="1"/>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9B9BA3"/>
                </a:solidFill>
                <a:latin typeface="Calibri" pitchFamily="34" charset="0"/>
                <a:ea typeface="Calibri" pitchFamily="34" charset="-122"/>
                <a:cs typeface="Calibri" pitchFamily="34" charset="-120"/>
              </a:rPr>
              <a:t>Part 1 (joint) — Anti-Patterns: Why They Matter</a:t>
            </a:r>
            <a:endParaRPr lang="en-US" sz="900" dirty="0"/>
          </a:p>
        </p:txBody>
      </p:sp>
      <p:sp>
        <p:nvSpPr>
          <p:cNvPr id="17" name="Text 15"/>
          <p:cNvSpPr txBox="1"/>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9B9BA3"/>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365760"/>
          </a:xfrm>
          <a:prstGeom prst="rect">
            <a:avLst/>
          </a:prstGeom>
          <a:noFill/>
          <a:ln/>
        </p:spPr>
        <p:txBody>
          <a:bodyPr wrap="square" lIns="0" tIns="0" rIns="0" bIns="0" rtlCol="0" anchor="ctr"/>
          <a:lstStyle/>
          <a:p>
            <a:pPr indent="0" marL="0">
              <a:buNone/>
            </a:pPr>
            <a:r>
              <a:rPr lang="en-US" sz="1300" b="1" spc="200" kern="0" dirty="0">
                <a:solidFill>
                  <a:srgbClr val="E8562C"/>
                </a:solidFill>
                <a:latin typeface="Calibri" pitchFamily="34" charset="0"/>
                <a:ea typeface="Calibri" pitchFamily="34" charset="-122"/>
                <a:cs typeface="Calibri" pitchFamily="34" charset="-120"/>
              </a:rPr>
              <a:t>JOINT PRIMER — THE EVIDENCE: WHY DEFERRAL HAPPENS</a:t>
            </a:r>
            <a:endParaRPr lang="en-US" sz="1300" dirty="0"/>
          </a:p>
        </p:txBody>
      </p:sp>
      <p:sp>
        <p:nvSpPr>
          <p:cNvPr id="3" name="Text 1"/>
          <p:cNvSpPr txBox="1"/>
          <p:nvPr/>
        </p:nvSpPr>
        <p:spPr>
          <a:xfrm>
            <a:off x="548640" y="822960"/>
            <a:ext cx="11064240" cy="9144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Deferral is rational, not negligence — but it compounds</a:t>
            </a:r>
            <a:endParaRPr lang="en-US" sz="3200" dirty="0"/>
          </a:p>
        </p:txBody>
      </p:sp>
      <p:sp>
        <p:nvSpPr>
          <p:cNvPr id="4" name="Shape 2"/>
          <p:cNvSpPr/>
          <p:nvPr/>
        </p:nvSpPr>
        <p:spPr>
          <a:xfrm>
            <a:off x="548640" y="1938528"/>
            <a:ext cx="137160" cy="137160"/>
          </a:xfrm>
          <a:prstGeom prst="oval">
            <a:avLst/>
          </a:prstGeom>
          <a:solidFill>
            <a:srgbClr val="E8562C"/>
          </a:solidFill>
          <a:ln/>
        </p:spPr>
      </p:sp>
      <p:sp>
        <p:nvSpPr>
          <p:cNvPr id="5" name="Text 3"/>
          <p:cNvSpPr txBox="1"/>
          <p:nvPr/>
        </p:nvSpPr>
        <p:spPr>
          <a:xfrm>
            <a:off x="914400" y="1874520"/>
            <a:ext cx="10515600" cy="365760"/>
          </a:xfrm>
          <a:prstGeom prst="rect">
            <a:avLst/>
          </a:prstGeom>
          <a:noFill/>
          <a:ln/>
        </p:spPr>
        <p:txBody>
          <a:bodyPr wrap="square" lIns="0" tIns="0" rIns="0" bIns="0" rtlCol="0" anchor="ctr"/>
          <a:lstStyle/>
          <a:p>
            <a:pPr indent="0" marL="0">
              <a:lnSpc>
                <a:spcPts val="1500"/>
              </a:lnSpc>
              <a:buNone/>
            </a:pPr>
            <a:r>
              <a:rPr lang="en-US" sz="1450" b="1" dirty="0">
                <a:solidFill>
                  <a:srgbClr val="1E2761"/>
                </a:solidFill>
                <a:latin typeface="Calibri" pitchFamily="34" charset="0"/>
                <a:ea typeface="Calibri" pitchFamily="34" charset="-122"/>
                <a:cs typeface="Calibri" pitchFamily="34" charset="-120"/>
              </a:rPr>
              <a:t>Refactoring follows features, not smells</a:t>
            </a:r>
            <a:endParaRPr lang="en-US" sz="1450" dirty="0"/>
          </a:p>
        </p:txBody>
      </p:sp>
      <p:sp>
        <p:nvSpPr>
          <p:cNvPr id="6" name="Text 4"/>
          <p:cNvSpPr txBox="1"/>
          <p:nvPr/>
        </p:nvSpPr>
        <p:spPr>
          <a:xfrm>
            <a:off x="914400" y="2258568"/>
            <a:ext cx="10332720" cy="530352"/>
          </a:xfrm>
          <a:prstGeom prst="rect">
            <a:avLst/>
          </a:prstGeom>
          <a:noFill/>
          <a:ln/>
        </p:spPr>
        <p:txBody>
          <a:bodyPr wrap="square" lIns="0" tIns="0" rIns="0" bIns="0" rtlCol="0" anchor="ctr"/>
          <a:lstStyle/>
          <a:p>
            <a:pPr indent="0" marL="0">
              <a:lnSpc>
                <a:spcPts val="1550"/>
              </a:lnSpc>
              <a:buNone/>
            </a:pPr>
            <a:r>
              <a:rPr lang="en-US" sz="1300" dirty="0">
                <a:solidFill>
                  <a:srgbClr val="1F1F22"/>
                </a:solidFill>
                <a:latin typeface="Calibri" pitchFamily="34" charset="0"/>
                <a:ea typeface="Calibri" pitchFamily="34" charset="-122"/>
                <a:cs typeface="Calibri" pitchFamily="34" charset="-120"/>
              </a:rPr>
              <a:t>Refactoring is driven mainly by changing requirements and features, and considerably less often by the presence of a code smell itself.</a:t>
            </a:r>
            <a:endParaRPr lang="en-US" sz="1300" dirty="0"/>
          </a:p>
        </p:txBody>
      </p:sp>
      <p:sp>
        <p:nvSpPr>
          <p:cNvPr id="7" name="Text 5"/>
          <p:cNvSpPr txBox="1"/>
          <p:nvPr/>
        </p:nvSpPr>
        <p:spPr>
          <a:xfrm>
            <a:off x="914400" y="2816352"/>
            <a:ext cx="10332720" cy="256032"/>
          </a:xfrm>
          <a:prstGeom prst="rect">
            <a:avLst/>
          </a:prstGeom>
          <a:noFill/>
          <a:ln/>
        </p:spPr>
        <p:txBody>
          <a:bodyPr wrap="square" lIns="0" tIns="0" rIns="0" bIns="0" rtlCol="0" anchor="ctr"/>
          <a:lstStyle/>
          <a:p>
            <a:pPr indent="0" marL="0">
              <a:buNone/>
            </a:pPr>
            <a:r>
              <a:rPr lang="en-US" sz="1100" i="1" dirty="0">
                <a:solidFill>
                  <a:srgbClr val="E8562C"/>
                </a:solidFill>
                <a:latin typeface="Calibri" pitchFamily="34" charset="0"/>
                <a:ea typeface="Calibri" pitchFamily="34" charset="-122"/>
                <a:cs typeface="Calibri" pitchFamily="34" charset="-120"/>
              </a:rPr>
              <a:t>— Silva, Tsantalis &amp; Valente, 2016</a:t>
            </a:r>
            <a:endParaRPr lang="en-US" sz="1100" dirty="0"/>
          </a:p>
        </p:txBody>
      </p:sp>
      <p:sp>
        <p:nvSpPr>
          <p:cNvPr id="8" name="Shape 6"/>
          <p:cNvSpPr/>
          <p:nvPr/>
        </p:nvSpPr>
        <p:spPr>
          <a:xfrm>
            <a:off x="548640" y="3236976"/>
            <a:ext cx="137160" cy="137160"/>
          </a:xfrm>
          <a:prstGeom prst="oval">
            <a:avLst/>
          </a:prstGeom>
          <a:solidFill>
            <a:srgbClr val="E8562C"/>
          </a:solidFill>
          <a:ln/>
        </p:spPr>
      </p:sp>
      <p:sp>
        <p:nvSpPr>
          <p:cNvPr id="9" name="Text 7"/>
          <p:cNvSpPr txBox="1"/>
          <p:nvPr/>
        </p:nvSpPr>
        <p:spPr>
          <a:xfrm>
            <a:off x="914400" y="3172968"/>
            <a:ext cx="10515600" cy="365760"/>
          </a:xfrm>
          <a:prstGeom prst="rect">
            <a:avLst/>
          </a:prstGeom>
          <a:noFill/>
          <a:ln/>
        </p:spPr>
        <p:txBody>
          <a:bodyPr wrap="square" lIns="0" tIns="0" rIns="0" bIns="0" rtlCol="0" anchor="ctr"/>
          <a:lstStyle/>
          <a:p>
            <a:pPr indent="0" marL="0">
              <a:lnSpc>
                <a:spcPts val="1500"/>
              </a:lnSpc>
              <a:buNone/>
            </a:pPr>
            <a:r>
              <a:rPr lang="en-US" sz="1450" b="1" dirty="0">
                <a:solidFill>
                  <a:srgbClr val="1E2761"/>
                </a:solidFill>
                <a:latin typeface="Calibri" pitchFamily="34" charset="0"/>
                <a:ea typeface="Calibri" pitchFamily="34" charset="-122"/>
                <a:cs typeface="Calibri" pitchFamily="34" charset="-120"/>
              </a:rPr>
              <a:t>And refactoring itself is seen as risky</a:t>
            </a:r>
            <a:endParaRPr lang="en-US" sz="1450" dirty="0"/>
          </a:p>
        </p:txBody>
      </p:sp>
      <p:sp>
        <p:nvSpPr>
          <p:cNvPr id="10" name="Text 8"/>
          <p:cNvSpPr txBox="1"/>
          <p:nvPr/>
        </p:nvSpPr>
        <p:spPr>
          <a:xfrm>
            <a:off x="914400" y="3557016"/>
            <a:ext cx="10332720" cy="530352"/>
          </a:xfrm>
          <a:prstGeom prst="rect">
            <a:avLst/>
          </a:prstGeom>
          <a:noFill/>
          <a:ln/>
        </p:spPr>
        <p:txBody>
          <a:bodyPr wrap="square" lIns="0" tIns="0" rIns="0" bIns="0" rtlCol="0" anchor="ctr"/>
          <a:lstStyle/>
          <a:p>
            <a:pPr indent="0" marL="0">
              <a:lnSpc>
                <a:spcPts val="1550"/>
              </a:lnSpc>
              <a:buNone/>
            </a:pPr>
            <a:r>
              <a:rPr lang="en-US" sz="1300" dirty="0">
                <a:solidFill>
                  <a:srgbClr val="1F1F22"/>
                </a:solidFill>
                <a:latin typeface="Calibri" pitchFamily="34" charset="0"/>
                <a:ea typeface="Calibri" pitchFamily="34" charset="-122"/>
                <a:cs typeface="Calibri" pitchFamily="34" charset="-120"/>
              </a:rPr>
              <a:t>In an industrial study at Microsoft, developers perceived refactoring as carrying substantial cost and regression risk.</a:t>
            </a:r>
            <a:endParaRPr lang="en-US" sz="1300" dirty="0"/>
          </a:p>
        </p:txBody>
      </p:sp>
      <p:sp>
        <p:nvSpPr>
          <p:cNvPr id="11" name="Text 9"/>
          <p:cNvSpPr txBox="1"/>
          <p:nvPr/>
        </p:nvSpPr>
        <p:spPr>
          <a:xfrm>
            <a:off x="914400" y="4114800"/>
            <a:ext cx="10332720" cy="256032"/>
          </a:xfrm>
          <a:prstGeom prst="rect">
            <a:avLst/>
          </a:prstGeom>
          <a:noFill/>
          <a:ln/>
        </p:spPr>
        <p:txBody>
          <a:bodyPr wrap="square" lIns="0" tIns="0" rIns="0" bIns="0" rtlCol="0" anchor="ctr"/>
          <a:lstStyle/>
          <a:p>
            <a:pPr indent="0" marL="0">
              <a:buNone/>
            </a:pPr>
            <a:r>
              <a:rPr lang="en-US" sz="1100" i="1" dirty="0">
                <a:solidFill>
                  <a:srgbClr val="E8562C"/>
                </a:solidFill>
                <a:latin typeface="Calibri" pitchFamily="34" charset="0"/>
                <a:ea typeface="Calibri" pitchFamily="34" charset="-122"/>
                <a:cs typeface="Calibri" pitchFamily="34" charset="-120"/>
              </a:rPr>
              <a:t>— Kim, Zimmermann &amp; Nagappan, 2014</a:t>
            </a:r>
            <a:endParaRPr lang="en-US" sz="1100" dirty="0"/>
          </a:p>
        </p:txBody>
      </p:sp>
      <p:sp>
        <p:nvSpPr>
          <p:cNvPr id="12" name="Shape 10"/>
          <p:cNvSpPr/>
          <p:nvPr/>
        </p:nvSpPr>
        <p:spPr>
          <a:xfrm>
            <a:off x="548640" y="4535424"/>
            <a:ext cx="137160" cy="137160"/>
          </a:xfrm>
          <a:prstGeom prst="oval">
            <a:avLst/>
          </a:prstGeom>
          <a:solidFill>
            <a:srgbClr val="E8562C"/>
          </a:solidFill>
          <a:ln/>
        </p:spPr>
      </p:sp>
      <p:sp>
        <p:nvSpPr>
          <p:cNvPr id="13" name="Text 11"/>
          <p:cNvSpPr txBox="1"/>
          <p:nvPr/>
        </p:nvSpPr>
        <p:spPr>
          <a:xfrm>
            <a:off x="914400" y="4471416"/>
            <a:ext cx="10515600" cy="365760"/>
          </a:xfrm>
          <a:prstGeom prst="rect">
            <a:avLst/>
          </a:prstGeom>
          <a:noFill/>
          <a:ln/>
        </p:spPr>
        <p:txBody>
          <a:bodyPr wrap="square" lIns="0" tIns="0" rIns="0" bIns="0" rtlCol="0" anchor="ctr"/>
          <a:lstStyle/>
          <a:p>
            <a:pPr indent="0" marL="0">
              <a:lnSpc>
                <a:spcPts val="1500"/>
              </a:lnSpc>
              <a:buNone/>
            </a:pPr>
            <a:r>
              <a:rPr lang="en-US" sz="1450" b="1" dirty="0">
                <a:solidFill>
                  <a:srgbClr val="1E2761"/>
                </a:solidFill>
                <a:latin typeface="Calibri" pitchFamily="34" charset="0"/>
                <a:ea typeface="Calibri" pitchFamily="34" charset="-122"/>
                <a:cs typeface="Calibri" pitchFamily="34" charset="-120"/>
              </a:rPr>
              <a:t>Prioritisation weighs cost, benefit, and impact</a:t>
            </a:r>
            <a:endParaRPr lang="en-US" sz="1450" dirty="0"/>
          </a:p>
        </p:txBody>
      </p:sp>
      <p:sp>
        <p:nvSpPr>
          <p:cNvPr id="14" name="Text 12"/>
          <p:cNvSpPr txBox="1"/>
          <p:nvPr/>
        </p:nvSpPr>
        <p:spPr>
          <a:xfrm>
            <a:off x="914400" y="4855464"/>
            <a:ext cx="10332720" cy="530352"/>
          </a:xfrm>
          <a:prstGeom prst="rect">
            <a:avLst/>
          </a:prstGeom>
          <a:noFill/>
          <a:ln/>
        </p:spPr>
        <p:txBody>
          <a:bodyPr wrap="square" lIns="0" tIns="0" rIns="0" bIns="0" rtlCol="0" anchor="ctr"/>
          <a:lstStyle/>
          <a:p>
            <a:pPr indent="0" marL="0">
              <a:lnSpc>
                <a:spcPts val="1550"/>
              </a:lnSpc>
              <a:buNone/>
            </a:pPr>
            <a:r>
              <a:rPr lang="en-US" sz="1300" dirty="0">
                <a:solidFill>
                  <a:srgbClr val="1F1F22"/>
                </a:solidFill>
                <a:latin typeface="Calibri" pitchFamily="34" charset="0"/>
                <a:ea typeface="Calibri" pitchFamily="34" charset="-122"/>
                <a:cs typeface="Calibri" pitchFamily="34" charset="-120"/>
              </a:rPr>
              <a:t>Teams weigh expected interest against remediation cost, business impact, and available resources — core-business or incident-linked code gets priority first.</a:t>
            </a:r>
            <a:endParaRPr lang="en-US" sz="1300" dirty="0"/>
          </a:p>
        </p:txBody>
      </p:sp>
      <p:sp>
        <p:nvSpPr>
          <p:cNvPr id="15" name="Text 13"/>
          <p:cNvSpPr txBox="1"/>
          <p:nvPr/>
        </p:nvSpPr>
        <p:spPr>
          <a:xfrm>
            <a:off x="914400" y="5413248"/>
            <a:ext cx="10332720" cy="256032"/>
          </a:xfrm>
          <a:prstGeom prst="rect">
            <a:avLst/>
          </a:prstGeom>
          <a:noFill/>
          <a:ln/>
        </p:spPr>
        <p:txBody>
          <a:bodyPr wrap="square" lIns="0" tIns="0" rIns="0" bIns="0" rtlCol="0" anchor="ctr"/>
          <a:lstStyle/>
          <a:p>
            <a:pPr indent="0" marL="0">
              <a:buNone/>
            </a:pPr>
            <a:r>
              <a:rPr lang="en-US" sz="1100" i="1" dirty="0">
                <a:solidFill>
                  <a:srgbClr val="E8562C"/>
                </a:solidFill>
                <a:latin typeface="Calibri" pitchFamily="34" charset="0"/>
                <a:ea typeface="Calibri" pitchFamily="34" charset="-122"/>
                <a:cs typeface="Calibri" pitchFamily="34" charset="-120"/>
              </a:rPr>
              <a:t>— Lenarduzzi et al., 2020 &amp; 2021; de Almeida et al., 2021</a:t>
            </a:r>
            <a:endParaRPr lang="en-US" sz="1100" dirty="0"/>
          </a:p>
        </p:txBody>
      </p:sp>
      <p:sp>
        <p:nvSpPr>
          <p:cNvPr id="16" name="Shape 14"/>
          <p:cNvSpPr/>
          <p:nvPr/>
        </p:nvSpPr>
        <p:spPr>
          <a:xfrm>
            <a:off x="548640" y="5760720"/>
            <a:ext cx="11064240" cy="594360"/>
          </a:xfrm>
          <a:prstGeom prst="roundRect">
            <a:avLst>
              <a:gd name="adj" fmla="val 12308"/>
            </a:avLst>
          </a:prstGeom>
          <a:solidFill>
            <a:srgbClr val="1E2761"/>
          </a:solidFill>
          <a:ln/>
        </p:spPr>
      </p:sp>
      <p:sp>
        <p:nvSpPr>
          <p:cNvPr id="17" name="Text 15"/>
          <p:cNvSpPr txBox="1"/>
          <p:nvPr/>
        </p:nvSpPr>
        <p:spPr>
          <a:xfrm>
            <a:off x="868680" y="5760720"/>
            <a:ext cx="10424160" cy="594360"/>
          </a:xfrm>
          <a:prstGeom prst="rect">
            <a:avLst/>
          </a:prstGeom>
          <a:noFill/>
          <a:ln/>
        </p:spPr>
        <p:txBody>
          <a:bodyPr wrap="square" lIns="0" tIns="0" rIns="0" bIns="0" rtlCol="0" anchor="ctr"/>
          <a:lstStyle/>
          <a:p>
            <a:pPr indent="0" marL="0">
              <a:lnSpc>
                <a:spcPts val="1500"/>
              </a:lnSpc>
              <a:buNone/>
            </a:pPr>
            <a:r>
              <a:rPr lang="en-US" sz="1200" i="1" dirty="0">
                <a:solidFill>
                  <a:srgbClr val="FFFFFF"/>
                </a:solidFill>
                <a:latin typeface="Calibri" pitchFamily="34" charset="0"/>
                <a:ea typeface="Calibri" pitchFamily="34" charset="-122"/>
                <a:cs typeface="Calibri" pitchFamily="34" charset="-120"/>
              </a:rPr>
              <a:t>Put together: the anti-patterns that persist (slide 4) are exactly the ones that keep costing time (slide 5), without ever quite clearing the bar for remediation (this slide).</a:t>
            </a:r>
            <a:endParaRPr lang="en-US" sz="1200" dirty="0"/>
          </a:p>
        </p:txBody>
      </p:sp>
      <p:sp>
        <p:nvSpPr>
          <p:cNvPr id="18" name="Text 16"/>
          <p:cNvSpPr txBox="1"/>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9B9BA3"/>
                </a:solidFill>
                <a:latin typeface="Calibri" pitchFamily="34" charset="0"/>
                <a:ea typeface="Calibri" pitchFamily="34" charset="-122"/>
                <a:cs typeface="Calibri" pitchFamily="34" charset="-120"/>
              </a:rPr>
              <a:t>Part 1 (joint) — Anti-Patterns: Why They Matter</a:t>
            </a:r>
            <a:endParaRPr lang="en-US" sz="900" dirty="0"/>
          </a:p>
        </p:txBody>
      </p:sp>
      <p:sp>
        <p:nvSpPr>
          <p:cNvPr id="19" name="Text 17"/>
          <p:cNvSpPr txBox="1"/>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9B9BA3"/>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365760"/>
          </a:xfrm>
          <a:prstGeom prst="rect">
            <a:avLst/>
          </a:prstGeom>
          <a:noFill/>
          <a:ln/>
        </p:spPr>
        <p:txBody>
          <a:bodyPr wrap="square" lIns="0" tIns="0" rIns="0" bIns="0" rtlCol="0" anchor="ctr"/>
          <a:lstStyle/>
          <a:p>
            <a:pPr indent="0" marL="0">
              <a:buNone/>
            </a:pPr>
            <a:r>
              <a:rPr lang="en-US" sz="1300" b="1" spc="200" kern="0" dirty="0">
                <a:solidFill>
                  <a:srgbClr val="E8562C"/>
                </a:solidFill>
                <a:latin typeface="Calibri" pitchFamily="34" charset="0"/>
                <a:ea typeface="Calibri" pitchFamily="34" charset="-122"/>
                <a:cs typeface="Calibri" pitchFamily="34" charset="-120"/>
              </a:rPr>
              <a:t>JOINT PRIMER — THE GAP</a:t>
            </a:r>
            <a:endParaRPr lang="en-US" sz="1300" dirty="0"/>
          </a:p>
        </p:txBody>
      </p:sp>
      <p:sp>
        <p:nvSpPr>
          <p:cNvPr id="3" name="Text 1"/>
          <p:cNvSpPr txBox="1"/>
          <p:nvPr/>
        </p:nvSpPr>
        <p:spPr>
          <a:xfrm>
            <a:off x="548640" y="822960"/>
            <a:ext cx="11064240" cy="9144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Detection is mature. Trustworthy repair isn’t.</a:t>
            </a:r>
            <a:endParaRPr lang="en-US" sz="3200" dirty="0"/>
          </a:p>
        </p:txBody>
      </p:sp>
      <p:sp>
        <p:nvSpPr>
          <p:cNvPr id="4" name="Shape 2"/>
          <p:cNvSpPr/>
          <p:nvPr/>
        </p:nvSpPr>
        <p:spPr>
          <a:xfrm>
            <a:off x="548640" y="2103120"/>
            <a:ext cx="2606040" cy="2514600"/>
          </a:xfrm>
          <a:prstGeom prst="roundRect">
            <a:avLst>
              <a:gd name="adj" fmla="val 3636"/>
            </a:avLst>
          </a:prstGeom>
          <a:solidFill>
            <a:srgbClr val="F4F5F9"/>
          </a:solidFill>
          <a:ln/>
        </p:spPr>
      </p:sp>
      <p:sp>
        <p:nvSpPr>
          <p:cNvPr id="5" name="Text 3"/>
          <p:cNvSpPr txBox="1"/>
          <p:nvPr/>
        </p:nvSpPr>
        <p:spPr>
          <a:xfrm>
            <a:off x="731520" y="2286000"/>
            <a:ext cx="2240280" cy="457200"/>
          </a:xfrm>
          <a:prstGeom prst="rect">
            <a:avLst/>
          </a:prstGeom>
          <a:noFill/>
          <a:ln/>
        </p:spPr>
        <p:txBody>
          <a:bodyPr wrap="square" lIns="0" tIns="0" rIns="0" bIns="0" rtlCol="0" anchor="ctr"/>
          <a:lstStyle/>
          <a:p>
            <a:pPr indent="0" marL="0">
              <a:buNone/>
            </a:pPr>
            <a:r>
              <a:rPr lang="en-US" sz="1550" b="1" dirty="0">
                <a:solidFill>
                  <a:srgbClr val="1E2761"/>
                </a:solidFill>
                <a:latin typeface="Cambria" pitchFamily="34" charset="0"/>
                <a:ea typeface="Cambria" pitchFamily="34" charset="-122"/>
                <a:cs typeface="Cambria" pitchFamily="34" charset="-120"/>
              </a:rPr>
              <a:t>Quality models</a:t>
            </a:r>
            <a:endParaRPr lang="en-US" sz="1550" dirty="0"/>
          </a:p>
        </p:txBody>
      </p:sp>
      <p:sp>
        <p:nvSpPr>
          <p:cNvPr id="6" name="Text 4"/>
          <p:cNvSpPr txBox="1"/>
          <p:nvPr/>
        </p:nvSpPr>
        <p:spPr>
          <a:xfrm>
            <a:off x="731520" y="2788920"/>
            <a:ext cx="2240280" cy="1325880"/>
          </a:xfrm>
          <a:prstGeom prst="rect">
            <a:avLst/>
          </a:prstGeom>
          <a:noFill/>
          <a:ln/>
        </p:spPr>
        <p:txBody>
          <a:bodyPr wrap="square" lIns="0" tIns="0" rIns="0" bIns="0" rtlCol="0" anchor="ctr"/>
          <a:lstStyle/>
          <a:p>
            <a:pPr indent="0" marL="0">
              <a:lnSpc>
                <a:spcPts val="1450"/>
              </a:lnSpc>
              <a:buNone/>
            </a:pPr>
            <a:r>
              <a:rPr lang="en-US" sz="1150" dirty="0">
                <a:solidFill>
                  <a:srgbClr val="1F1F22"/>
                </a:solidFill>
                <a:latin typeface="Calibri" pitchFamily="34" charset="0"/>
                <a:ea typeface="Calibri" pitchFamily="34" charset="-122"/>
                <a:cs typeface="Calibri" pitchFamily="34" charset="-120"/>
              </a:rPr>
              <a:t>ISO/IEC 25010 (2023) defines what quality means — maintainability, reliability, and the rest.</a:t>
            </a:r>
            <a:endParaRPr lang="en-US" sz="1150" dirty="0"/>
          </a:p>
        </p:txBody>
      </p:sp>
      <p:sp>
        <p:nvSpPr>
          <p:cNvPr id="7" name="Text 5"/>
          <p:cNvSpPr txBox="1"/>
          <p:nvPr/>
        </p:nvSpPr>
        <p:spPr>
          <a:xfrm>
            <a:off x="3154680" y="3086100"/>
            <a:ext cx="256032" cy="548640"/>
          </a:xfrm>
          <a:prstGeom prst="rect">
            <a:avLst/>
          </a:prstGeom>
          <a:noFill/>
          <a:ln/>
        </p:spPr>
        <p:txBody>
          <a:bodyPr wrap="square" lIns="0" tIns="0" rIns="0" bIns="0" rtlCol="0" anchor="ctr"/>
          <a:lstStyle/>
          <a:p>
            <a:pPr algn="ctr" indent="0" marL="0">
              <a:buNone/>
            </a:pPr>
            <a:r>
              <a:rPr lang="en-US" sz="1800" dirty="0">
                <a:solidFill>
                  <a:srgbClr val="B7B7BC"/>
                </a:solidFill>
                <a:latin typeface="Calibri" pitchFamily="34" charset="0"/>
                <a:ea typeface="Calibri" pitchFamily="34" charset="-122"/>
                <a:cs typeface="Calibri" pitchFamily="34" charset="-120"/>
              </a:rPr>
              <a:t>→</a:t>
            </a:r>
            <a:endParaRPr lang="en-US" sz="1800" dirty="0"/>
          </a:p>
        </p:txBody>
      </p:sp>
      <p:sp>
        <p:nvSpPr>
          <p:cNvPr id="8" name="Shape 6"/>
          <p:cNvSpPr/>
          <p:nvPr/>
        </p:nvSpPr>
        <p:spPr>
          <a:xfrm>
            <a:off x="3410712" y="2103120"/>
            <a:ext cx="2606040" cy="2514600"/>
          </a:xfrm>
          <a:prstGeom prst="roundRect">
            <a:avLst>
              <a:gd name="adj" fmla="val 3636"/>
            </a:avLst>
          </a:prstGeom>
          <a:solidFill>
            <a:srgbClr val="F4F5F9"/>
          </a:solidFill>
          <a:ln/>
        </p:spPr>
      </p:sp>
      <p:sp>
        <p:nvSpPr>
          <p:cNvPr id="9" name="Text 7"/>
          <p:cNvSpPr txBox="1"/>
          <p:nvPr/>
        </p:nvSpPr>
        <p:spPr>
          <a:xfrm>
            <a:off x="3593592" y="2286000"/>
            <a:ext cx="2240280" cy="457200"/>
          </a:xfrm>
          <a:prstGeom prst="rect">
            <a:avLst/>
          </a:prstGeom>
          <a:noFill/>
          <a:ln/>
        </p:spPr>
        <p:txBody>
          <a:bodyPr wrap="square" lIns="0" tIns="0" rIns="0" bIns="0" rtlCol="0" anchor="ctr"/>
          <a:lstStyle/>
          <a:p>
            <a:pPr indent="0" marL="0">
              <a:buNone/>
            </a:pPr>
            <a:r>
              <a:rPr lang="en-US" sz="1550" b="1" dirty="0">
                <a:solidFill>
                  <a:srgbClr val="1E2761"/>
                </a:solidFill>
                <a:latin typeface="Cambria" pitchFamily="34" charset="0"/>
                <a:ea typeface="Cambria" pitchFamily="34" charset="-122"/>
                <a:cs typeface="Cambria" pitchFamily="34" charset="-120"/>
              </a:rPr>
              <a:t>Anti-patterns</a:t>
            </a:r>
            <a:endParaRPr lang="en-US" sz="1550" dirty="0"/>
          </a:p>
        </p:txBody>
      </p:sp>
      <p:sp>
        <p:nvSpPr>
          <p:cNvPr id="10" name="Text 8"/>
          <p:cNvSpPr txBox="1"/>
          <p:nvPr/>
        </p:nvSpPr>
        <p:spPr>
          <a:xfrm>
            <a:off x="3593592" y="2788920"/>
            <a:ext cx="2240280" cy="1325880"/>
          </a:xfrm>
          <a:prstGeom prst="rect">
            <a:avLst/>
          </a:prstGeom>
          <a:noFill/>
          <a:ln/>
        </p:spPr>
        <p:txBody>
          <a:bodyPr wrap="square" lIns="0" tIns="0" rIns="0" bIns="0" rtlCol="0" anchor="ctr"/>
          <a:lstStyle/>
          <a:p>
            <a:pPr indent="0" marL="0">
              <a:lnSpc>
                <a:spcPts val="1450"/>
              </a:lnSpc>
              <a:buNone/>
            </a:pPr>
            <a:r>
              <a:rPr lang="en-US" sz="1150" dirty="0">
                <a:solidFill>
                  <a:srgbClr val="1F1F22"/>
                </a:solidFill>
                <a:latin typeface="Calibri" pitchFamily="34" charset="0"/>
                <a:ea typeface="Calibri" pitchFamily="34" charset="-122"/>
                <a:cs typeface="Calibri" pitchFamily="34" charset="-120"/>
              </a:rPr>
              <a:t>Show how that quality degrades in practice, in code you can point to.</a:t>
            </a:r>
            <a:endParaRPr lang="en-US" sz="1150" dirty="0"/>
          </a:p>
        </p:txBody>
      </p:sp>
      <p:sp>
        <p:nvSpPr>
          <p:cNvPr id="11" name="Text 9"/>
          <p:cNvSpPr txBox="1"/>
          <p:nvPr/>
        </p:nvSpPr>
        <p:spPr>
          <a:xfrm>
            <a:off x="6016752" y="3086100"/>
            <a:ext cx="256032" cy="548640"/>
          </a:xfrm>
          <a:prstGeom prst="rect">
            <a:avLst/>
          </a:prstGeom>
          <a:noFill/>
          <a:ln/>
        </p:spPr>
        <p:txBody>
          <a:bodyPr wrap="square" lIns="0" tIns="0" rIns="0" bIns="0" rtlCol="0" anchor="ctr"/>
          <a:lstStyle/>
          <a:p>
            <a:pPr algn="ctr" indent="0" marL="0">
              <a:buNone/>
            </a:pPr>
            <a:r>
              <a:rPr lang="en-US" sz="1800" dirty="0">
                <a:solidFill>
                  <a:srgbClr val="B7B7BC"/>
                </a:solidFill>
                <a:latin typeface="Calibri" pitchFamily="34" charset="0"/>
                <a:ea typeface="Calibri" pitchFamily="34" charset="-122"/>
                <a:cs typeface="Calibri" pitchFamily="34" charset="-120"/>
              </a:rPr>
              <a:t>→</a:t>
            </a:r>
            <a:endParaRPr lang="en-US" sz="1800" dirty="0"/>
          </a:p>
        </p:txBody>
      </p:sp>
      <p:sp>
        <p:nvSpPr>
          <p:cNvPr id="12" name="Shape 10"/>
          <p:cNvSpPr/>
          <p:nvPr/>
        </p:nvSpPr>
        <p:spPr>
          <a:xfrm>
            <a:off x="6272784" y="2103120"/>
            <a:ext cx="2606040" cy="2514600"/>
          </a:xfrm>
          <a:prstGeom prst="roundRect">
            <a:avLst>
              <a:gd name="adj" fmla="val 3636"/>
            </a:avLst>
          </a:prstGeom>
          <a:solidFill>
            <a:srgbClr val="F4F5F9"/>
          </a:solidFill>
          <a:ln/>
        </p:spPr>
      </p:sp>
      <p:sp>
        <p:nvSpPr>
          <p:cNvPr id="13" name="Text 11"/>
          <p:cNvSpPr txBox="1"/>
          <p:nvPr/>
        </p:nvSpPr>
        <p:spPr>
          <a:xfrm>
            <a:off x="6455664" y="2286000"/>
            <a:ext cx="2240280" cy="457200"/>
          </a:xfrm>
          <a:prstGeom prst="rect">
            <a:avLst/>
          </a:prstGeom>
          <a:noFill/>
          <a:ln/>
        </p:spPr>
        <p:txBody>
          <a:bodyPr wrap="square" lIns="0" tIns="0" rIns="0" bIns="0" rtlCol="0" anchor="ctr"/>
          <a:lstStyle/>
          <a:p>
            <a:pPr indent="0" marL="0">
              <a:buNone/>
            </a:pPr>
            <a:r>
              <a:rPr lang="en-US" sz="1550" b="1" dirty="0">
                <a:solidFill>
                  <a:srgbClr val="1E2761"/>
                </a:solidFill>
                <a:latin typeface="Cambria" pitchFamily="34" charset="0"/>
                <a:ea typeface="Cambria" pitchFamily="34" charset="-122"/>
                <a:cs typeface="Cambria" pitchFamily="34" charset="-120"/>
              </a:rPr>
              <a:t>Static analysis</a:t>
            </a:r>
            <a:endParaRPr lang="en-US" sz="1550" dirty="0"/>
          </a:p>
        </p:txBody>
      </p:sp>
      <p:sp>
        <p:nvSpPr>
          <p:cNvPr id="14" name="Text 12"/>
          <p:cNvSpPr txBox="1"/>
          <p:nvPr/>
        </p:nvSpPr>
        <p:spPr>
          <a:xfrm>
            <a:off x="6455664" y="2788920"/>
            <a:ext cx="2240280" cy="1325880"/>
          </a:xfrm>
          <a:prstGeom prst="rect">
            <a:avLst/>
          </a:prstGeom>
          <a:noFill/>
          <a:ln/>
        </p:spPr>
        <p:txBody>
          <a:bodyPr wrap="square" lIns="0" tIns="0" rIns="0" bIns="0" rtlCol="0" anchor="ctr"/>
          <a:lstStyle/>
          <a:p>
            <a:pPr indent="0" marL="0">
              <a:lnSpc>
                <a:spcPts val="1450"/>
              </a:lnSpc>
              <a:buNone/>
            </a:pPr>
            <a:r>
              <a:rPr lang="en-US" sz="1150" dirty="0">
                <a:solidFill>
                  <a:srgbClr val="1F1F22"/>
                </a:solidFill>
                <a:latin typeface="Calibri" pitchFamily="34" charset="0"/>
                <a:ea typeface="Calibri" pitchFamily="34" charset="-122"/>
                <a:cs typeface="Calibri" pitchFamily="34" charset="-120"/>
              </a:rPr>
              <a:t>Detects at scale, cheaply — but false positives and unclear payoff discourage real-world use.</a:t>
            </a:r>
            <a:endParaRPr lang="en-US" sz="1150" dirty="0"/>
          </a:p>
        </p:txBody>
      </p:sp>
      <p:sp>
        <p:nvSpPr>
          <p:cNvPr id="15" name="Text 13"/>
          <p:cNvSpPr txBox="1"/>
          <p:nvPr/>
        </p:nvSpPr>
        <p:spPr>
          <a:xfrm>
            <a:off x="6455664" y="4160520"/>
            <a:ext cx="2240280" cy="365760"/>
          </a:xfrm>
          <a:prstGeom prst="rect">
            <a:avLst/>
          </a:prstGeom>
          <a:noFill/>
          <a:ln/>
        </p:spPr>
        <p:txBody>
          <a:bodyPr wrap="square" lIns="0" tIns="0" rIns="0" bIns="0" rtlCol="0" anchor="ctr"/>
          <a:lstStyle/>
          <a:p>
            <a:pPr indent="0" marL="0">
              <a:lnSpc>
                <a:spcPts val="1200"/>
              </a:lnSpc>
              <a:buNone/>
            </a:pPr>
            <a:r>
              <a:rPr lang="en-US" sz="1000" i="1" dirty="0">
                <a:solidFill>
                  <a:srgbClr val="E8562C"/>
                </a:solidFill>
                <a:latin typeface="Calibri" pitchFamily="34" charset="0"/>
                <a:ea typeface="Calibri" pitchFamily="34" charset="-122"/>
                <a:cs typeface="Calibri" pitchFamily="34" charset="-120"/>
              </a:rPr>
              <a:t>Johnson et al., 2013; Sadowski et al., 2018</a:t>
            </a:r>
            <a:endParaRPr lang="en-US" sz="1000" dirty="0"/>
          </a:p>
        </p:txBody>
      </p:sp>
      <p:sp>
        <p:nvSpPr>
          <p:cNvPr id="16" name="Text 14"/>
          <p:cNvSpPr txBox="1"/>
          <p:nvPr/>
        </p:nvSpPr>
        <p:spPr>
          <a:xfrm>
            <a:off x="8878824" y="3086100"/>
            <a:ext cx="256032" cy="548640"/>
          </a:xfrm>
          <a:prstGeom prst="rect">
            <a:avLst/>
          </a:prstGeom>
          <a:noFill/>
          <a:ln/>
        </p:spPr>
        <p:txBody>
          <a:bodyPr wrap="square" lIns="0" tIns="0" rIns="0" bIns="0" rtlCol="0" anchor="ctr"/>
          <a:lstStyle/>
          <a:p>
            <a:pPr algn="ctr" indent="0" marL="0">
              <a:buNone/>
            </a:pPr>
            <a:r>
              <a:rPr lang="en-US" sz="1800" dirty="0">
                <a:solidFill>
                  <a:srgbClr val="B7B7BC"/>
                </a:solidFill>
                <a:latin typeface="Calibri" pitchFamily="34" charset="0"/>
                <a:ea typeface="Calibri" pitchFamily="34" charset="-122"/>
                <a:cs typeface="Calibri" pitchFamily="34" charset="-120"/>
              </a:rPr>
              <a:t>→</a:t>
            </a:r>
            <a:endParaRPr lang="en-US" sz="1800" dirty="0"/>
          </a:p>
        </p:txBody>
      </p:sp>
      <p:sp>
        <p:nvSpPr>
          <p:cNvPr id="17" name="Shape 15"/>
          <p:cNvSpPr/>
          <p:nvPr/>
        </p:nvSpPr>
        <p:spPr>
          <a:xfrm>
            <a:off x="9134856" y="2103120"/>
            <a:ext cx="2606040" cy="2514600"/>
          </a:xfrm>
          <a:prstGeom prst="roundRect">
            <a:avLst>
              <a:gd name="adj" fmla="val 3636"/>
            </a:avLst>
          </a:prstGeom>
          <a:solidFill>
            <a:srgbClr val="F4F5F9"/>
          </a:solidFill>
          <a:ln/>
        </p:spPr>
      </p:sp>
      <p:sp>
        <p:nvSpPr>
          <p:cNvPr id="18" name="Text 16"/>
          <p:cNvSpPr txBox="1"/>
          <p:nvPr/>
        </p:nvSpPr>
        <p:spPr>
          <a:xfrm>
            <a:off x="9317736" y="2286000"/>
            <a:ext cx="2240280" cy="457200"/>
          </a:xfrm>
          <a:prstGeom prst="rect">
            <a:avLst/>
          </a:prstGeom>
          <a:noFill/>
          <a:ln/>
        </p:spPr>
        <p:txBody>
          <a:bodyPr wrap="square" lIns="0" tIns="0" rIns="0" bIns="0" rtlCol="0" anchor="ctr"/>
          <a:lstStyle/>
          <a:p>
            <a:pPr indent="0" marL="0">
              <a:buNone/>
            </a:pPr>
            <a:r>
              <a:rPr lang="en-US" sz="1550" b="1" dirty="0">
                <a:solidFill>
                  <a:srgbClr val="1E2761"/>
                </a:solidFill>
                <a:latin typeface="Cambria" pitchFamily="34" charset="0"/>
                <a:ea typeface="Cambria" pitchFamily="34" charset="-122"/>
                <a:cs typeface="Cambria" pitchFamily="34" charset="-120"/>
              </a:rPr>
              <a:t>LLMs</a:t>
            </a:r>
            <a:endParaRPr lang="en-US" sz="1550" dirty="0"/>
          </a:p>
        </p:txBody>
      </p:sp>
      <p:sp>
        <p:nvSpPr>
          <p:cNvPr id="19" name="Text 17"/>
          <p:cNvSpPr txBox="1"/>
          <p:nvPr/>
        </p:nvSpPr>
        <p:spPr>
          <a:xfrm>
            <a:off x="9317736" y="2788920"/>
            <a:ext cx="2240280" cy="1325880"/>
          </a:xfrm>
          <a:prstGeom prst="rect">
            <a:avLst/>
          </a:prstGeom>
          <a:noFill/>
          <a:ln/>
        </p:spPr>
        <p:txBody>
          <a:bodyPr wrap="square" lIns="0" tIns="0" rIns="0" bIns="0" rtlCol="0" anchor="ctr"/>
          <a:lstStyle/>
          <a:p>
            <a:pPr indent="0" marL="0">
              <a:lnSpc>
                <a:spcPts val="1450"/>
              </a:lnSpc>
              <a:buNone/>
            </a:pPr>
            <a:r>
              <a:rPr lang="en-US" sz="1150" dirty="0">
                <a:solidFill>
                  <a:srgbClr val="1F1F22"/>
                </a:solidFill>
                <a:latin typeface="Calibri" pitchFamily="34" charset="0"/>
                <a:ea typeface="Calibri" pitchFamily="34" charset="-122"/>
                <a:cs typeface="Calibri" pitchFamily="34" charset="-120"/>
              </a:rPr>
              <a:t>Can explain and propose changes — but are well documented to hallucinate.</a:t>
            </a:r>
            <a:endParaRPr lang="en-US" sz="1150" dirty="0"/>
          </a:p>
        </p:txBody>
      </p:sp>
      <p:sp>
        <p:nvSpPr>
          <p:cNvPr id="20" name="Text 18"/>
          <p:cNvSpPr txBox="1"/>
          <p:nvPr/>
        </p:nvSpPr>
        <p:spPr>
          <a:xfrm>
            <a:off x="9317736" y="4160520"/>
            <a:ext cx="2240280" cy="365760"/>
          </a:xfrm>
          <a:prstGeom prst="rect">
            <a:avLst/>
          </a:prstGeom>
          <a:noFill/>
          <a:ln/>
        </p:spPr>
        <p:txBody>
          <a:bodyPr wrap="square" lIns="0" tIns="0" rIns="0" bIns="0" rtlCol="0" anchor="ctr"/>
          <a:lstStyle/>
          <a:p>
            <a:pPr indent="0" marL="0">
              <a:lnSpc>
                <a:spcPts val="1200"/>
              </a:lnSpc>
              <a:buNone/>
            </a:pPr>
            <a:r>
              <a:rPr lang="en-US" sz="1000" i="1" dirty="0">
                <a:solidFill>
                  <a:srgbClr val="E8562C"/>
                </a:solidFill>
                <a:latin typeface="Calibri" pitchFamily="34" charset="0"/>
                <a:ea typeface="Calibri" pitchFamily="34" charset="-122"/>
                <a:cs typeface="Calibri" pitchFamily="34" charset="-120"/>
              </a:rPr>
              <a:t>Nam et al., 2024; Liu et al., 2024</a:t>
            </a:r>
            <a:endParaRPr lang="en-US" sz="1000" dirty="0"/>
          </a:p>
        </p:txBody>
      </p:sp>
      <p:sp>
        <p:nvSpPr>
          <p:cNvPr id="21" name="Shape 19"/>
          <p:cNvSpPr/>
          <p:nvPr/>
        </p:nvSpPr>
        <p:spPr>
          <a:xfrm>
            <a:off x="548640" y="4892040"/>
            <a:ext cx="11064240" cy="1234440"/>
          </a:xfrm>
          <a:prstGeom prst="roundRect">
            <a:avLst>
              <a:gd name="adj" fmla="val 5926"/>
            </a:avLst>
          </a:prstGeom>
          <a:solidFill>
            <a:srgbClr val="1E2761"/>
          </a:solidFill>
          <a:ln/>
        </p:spPr>
      </p:sp>
      <p:sp>
        <p:nvSpPr>
          <p:cNvPr id="22" name="Text 20"/>
          <p:cNvSpPr txBox="1"/>
          <p:nvPr/>
        </p:nvSpPr>
        <p:spPr>
          <a:xfrm>
            <a:off x="868680" y="4892040"/>
            <a:ext cx="10424160" cy="1234440"/>
          </a:xfrm>
          <a:prstGeom prst="rect">
            <a:avLst/>
          </a:prstGeom>
          <a:noFill/>
          <a:ln/>
        </p:spPr>
        <p:txBody>
          <a:bodyPr wrap="square" lIns="0" tIns="0" rIns="0" bIns="0" rtlCol="0" anchor="ctr"/>
          <a:lstStyle/>
          <a:p>
            <a:pPr indent="0" marL="0">
              <a:lnSpc>
                <a:spcPts val="1900"/>
              </a:lnSpc>
              <a:buNone/>
            </a:pPr>
            <a:r>
              <a:rPr lang="en-US" sz="1500" b="1" dirty="0">
                <a:solidFill>
                  <a:srgbClr val="F2542D"/>
                </a:solidFill>
                <a:latin typeface="Calibri" pitchFamily="34" charset="0"/>
                <a:ea typeface="Calibri" pitchFamily="34" charset="-122"/>
                <a:cs typeface="Calibri" pitchFamily="34" charset="-120"/>
              </a:rPr>
              <a:t>The missing link: </a:t>
            </a:r>
            <a:pPr indent="0" marL="0">
              <a:lnSpc>
                <a:spcPts val="1900"/>
              </a:lnSpc>
              <a:buNone/>
            </a:pPr>
            <a:r>
              <a:rPr lang="en-US" sz="1500" dirty="0">
                <a:solidFill>
                  <a:srgbClr val="FFFFFF"/>
                </a:solidFill>
                <a:latin typeface="Calibri" pitchFamily="34" charset="0"/>
                <a:ea typeface="Calibri" pitchFamily="34" charset="-122"/>
                <a:cs typeface="Calibri" pitchFamily="34" charset="-120"/>
              </a:rPr>
              <a:t>turning a reliable diagnosis into a repair you can actually trust — not just a plausible-looking one. That’s the shared question behind both of our theses; from here, we each take our own angle on it.</a:t>
            </a:r>
            <a:endParaRPr lang="en-US" sz="1500" dirty="0"/>
          </a:p>
        </p:txBody>
      </p:sp>
      <p:sp>
        <p:nvSpPr>
          <p:cNvPr id="23" name="Text 21"/>
          <p:cNvSpPr txBox="1"/>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9B9BA3"/>
                </a:solidFill>
                <a:latin typeface="Calibri" pitchFamily="34" charset="0"/>
                <a:ea typeface="Calibri" pitchFamily="34" charset="-122"/>
                <a:cs typeface="Calibri" pitchFamily="34" charset="-120"/>
              </a:rPr>
              <a:t>Part 1 (joint) — Anti-Patterns: Why They Matter</a:t>
            </a:r>
            <a:endParaRPr lang="en-US" sz="900" dirty="0"/>
          </a:p>
        </p:txBody>
      </p:sp>
      <p:sp>
        <p:nvSpPr>
          <p:cNvPr id="24" name="Text 22"/>
          <p:cNvSpPr txBox="1"/>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9B9BA3"/>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365760"/>
          </a:xfrm>
          <a:prstGeom prst="rect">
            <a:avLst/>
          </a:prstGeom>
          <a:noFill/>
          <a:ln/>
        </p:spPr>
        <p:txBody>
          <a:bodyPr wrap="square" lIns="0" tIns="0" rIns="0" bIns="0" rtlCol="0" anchor="ctr"/>
          <a:lstStyle/>
          <a:p>
            <a:pPr indent="0" marL="0">
              <a:buNone/>
            </a:pPr>
            <a:r>
              <a:rPr lang="en-US" sz="1300" b="1" spc="200" kern="0" dirty="0">
                <a:solidFill>
                  <a:srgbClr val="E8562C"/>
                </a:solidFill>
                <a:latin typeface="Calibri" pitchFamily="34" charset="0"/>
                <a:ea typeface="Calibri" pitchFamily="34" charset="-122"/>
                <a:cs typeface="Calibri" pitchFamily="34" charset="-120"/>
              </a:rPr>
              <a:t>JOINT PRIMER — WHERE OUR TWO THESES MEET</a:t>
            </a:r>
            <a:endParaRPr lang="en-US" sz="1300" dirty="0"/>
          </a:p>
        </p:txBody>
      </p:sp>
      <p:sp>
        <p:nvSpPr>
          <p:cNvPr id="3" name="Text 1"/>
          <p:cNvSpPr txBox="1"/>
          <p:nvPr/>
        </p:nvSpPr>
        <p:spPr>
          <a:xfrm>
            <a:off x="548640" y="822960"/>
            <a:ext cx="11064240" cy="9144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Two ends of the same lifecycle: prevention and cure</a:t>
            </a:r>
            <a:endParaRPr lang="en-US" sz="3200" dirty="0"/>
          </a:p>
        </p:txBody>
      </p:sp>
      <p:sp>
        <p:nvSpPr>
          <p:cNvPr id="4" name="Shape 2"/>
          <p:cNvSpPr/>
          <p:nvPr/>
        </p:nvSpPr>
        <p:spPr>
          <a:xfrm>
            <a:off x="548640" y="1965960"/>
            <a:ext cx="5349240" cy="3246120"/>
          </a:xfrm>
          <a:prstGeom prst="roundRect">
            <a:avLst>
              <a:gd name="adj" fmla="val 2254"/>
            </a:avLst>
          </a:prstGeom>
          <a:solidFill>
            <a:srgbClr val="F4F5F9"/>
          </a:solidFill>
          <a:ln/>
        </p:spPr>
      </p:sp>
      <p:sp>
        <p:nvSpPr>
          <p:cNvPr id="5" name="Text 3"/>
          <p:cNvSpPr txBox="1"/>
          <p:nvPr/>
        </p:nvSpPr>
        <p:spPr>
          <a:xfrm>
            <a:off x="868680" y="2240280"/>
            <a:ext cx="4709160" cy="411480"/>
          </a:xfrm>
          <a:prstGeom prst="rect">
            <a:avLst/>
          </a:prstGeom>
          <a:noFill/>
          <a:ln/>
        </p:spPr>
        <p:txBody>
          <a:bodyPr wrap="square" lIns="0" tIns="0" rIns="0" bIns="0" rtlCol="0" anchor="ctr"/>
          <a:lstStyle/>
          <a:p>
            <a:pPr indent="0" marL="0">
              <a:buNone/>
            </a:pPr>
            <a:r>
              <a:rPr lang="en-US" sz="1300" b="1" spc="100" kern="0" dirty="0">
                <a:solidFill>
                  <a:srgbClr val="E8562C"/>
                </a:solidFill>
                <a:latin typeface="Calibri" pitchFamily="34" charset="0"/>
                <a:ea typeface="Calibri" pitchFamily="34" charset="-122"/>
                <a:cs typeface="Calibri" pitchFamily="34" charset="-120"/>
              </a:rPr>
              <a:t>[Co-presenter]'s angle</a:t>
            </a:r>
            <a:endParaRPr lang="en-US" sz="1300" dirty="0"/>
          </a:p>
        </p:txBody>
      </p:sp>
      <p:sp>
        <p:nvSpPr>
          <p:cNvPr id="6" name="Text 4"/>
          <p:cNvSpPr txBox="1"/>
          <p:nvPr/>
        </p:nvSpPr>
        <p:spPr>
          <a:xfrm>
            <a:off x="868680" y="2606040"/>
            <a:ext cx="4709160" cy="502920"/>
          </a:xfrm>
          <a:prstGeom prst="rect">
            <a:avLst/>
          </a:prstGeom>
          <a:noFill/>
          <a:ln/>
        </p:spPr>
        <p:txBody>
          <a:bodyPr wrap="square" lIns="0" tIns="0" rIns="0" bIns="0" rtlCol="0" anchor="ctr"/>
          <a:lstStyle/>
          <a:p>
            <a:pPr indent="0" marL="0">
              <a:buNone/>
            </a:pPr>
            <a:r>
              <a:rPr lang="en-US" sz="2000" b="1" dirty="0">
                <a:solidFill>
                  <a:srgbClr val="1E2761"/>
                </a:solidFill>
                <a:latin typeface="Cambria" pitchFamily="34" charset="0"/>
                <a:ea typeface="Cambria" pitchFamily="34" charset="-122"/>
                <a:cs typeface="Cambria" pitchFamily="34" charset="-120"/>
              </a:rPr>
              <a:t>Prevention — at generation time</a:t>
            </a:r>
            <a:endParaRPr lang="en-US" sz="2000" dirty="0"/>
          </a:p>
        </p:txBody>
      </p:sp>
      <p:sp>
        <p:nvSpPr>
          <p:cNvPr id="7" name="Shape 5"/>
          <p:cNvSpPr/>
          <p:nvPr/>
        </p:nvSpPr>
        <p:spPr>
          <a:xfrm>
            <a:off x="868680" y="3364992"/>
            <a:ext cx="109728" cy="109728"/>
          </a:xfrm>
          <a:prstGeom prst="oval">
            <a:avLst/>
          </a:prstGeom>
          <a:solidFill>
            <a:srgbClr val="E8562C"/>
          </a:solidFill>
          <a:ln/>
        </p:spPr>
      </p:sp>
      <p:sp>
        <p:nvSpPr>
          <p:cNvPr id="8" name="Text 6"/>
          <p:cNvSpPr txBox="1"/>
          <p:nvPr/>
        </p:nvSpPr>
        <p:spPr>
          <a:xfrm>
            <a:off x="1143000" y="3291840"/>
            <a:ext cx="4434840" cy="621792"/>
          </a:xfrm>
          <a:prstGeom prst="rect">
            <a:avLst/>
          </a:prstGeom>
          <a:noFill/>
          <a:ln/>
        </p:spPr>
        <p:txBody>
          <a:bodyPr wrap="square" lIns="0" tIns="0" rIns="0" bIns="0" rtlCol="0" anchor="ctr"/>
          <a:lstStyle/>
          <a:p>
            <a:pPr indent="0" marL="0">
              <a:lnSpc>
                <a:spcPts val="1650"/>
              </a:lnSpc>
              <a:buNone/>
            </a:pPr>
            <a:r>
              <a:rPr lang="en-US" sz="1300" dirty="0">
                <a:solidFill>
                  <a:srgbClr val="1F1F22"/>
                </a:solidFill>
                <a:latin typeface="Calibri" pitchFamily="34" charset="0"/>
                <a:ea typeface="Calibri" pitchFamily="34" charset="-122"/>
                <a:cs typeface="Calibri" pitchFamily="34" charset="-120"/>
              </a:rPr>
              <a:t>An LLM generates new code from a prompt</a:t>
            </a:r>
            <a:endParaRPr lang="en-US" sz="1300" dirty="0"/>
          </a:p>
        </p:txBody>
      </p:sp>
      <p:sp>
        <p:nvSpPr>
          <p:cNvPr id="9" name="Shape 7"/>
          <p:cNvSpPr/>
          <p:nvPr/>
        </p:nvSpPr>
        <p:spPr>
          <a:xfrm>
            <a:off x="868680" y="4023360"/>
            <a:ext cx="109728" cy="109728"/>
          </a:xfrm>
          <a:prstGeom prst="oval">
            <a:avLst/>
          </a:prstGeom>
          <a:solidFill>
            <a:srgbClr val="E8562C"/>
          </a:solidFill>
          <a:ln/>
        </p:spPr>
      </p:sp>
      <p:sp>
        <p:nvSpPr>
          <p:cNvPr id="10" name="Text 8"/>
          <p:cNvSpPr txBox="1"/>
          <p:nvPr/>
        </p:nvSpPr>
        <p:spPr>
          <a:xfrm>
            <a:off x="1143000" y="3950208"/>
            <a:ext cx="4434840" cy="621792"/>
          </a:xfrm>
          <a:prstGeom prst="rect">
            <a:avLst/>
          </a:prstGeom>
          <a:noFill/>
          <a:ln/>
        </p:spPr>
        <p:txBody>
          <a:bodyPr wrap="square" lIns="0" tIns="0" rIns="0" bIns="0" rtlCol="0" anchor="ctr"/>
          <a:lstStyle/>
          <a:p>
            <a:pPr indent="0" marL="0">
              <a:lnSpc>
                <a:spcPts val="1650"/>
              </a:lnSpc>
              <a:buNone/>
            </a:pPr>
            <a:r>
              <a:rPr lang="en-US" sz="1300" dirty="0">
                <a:solidFill>
                  <a:srgbClr val="1F1F22"/>
                </a:solidFill>
                <a:latin typeface="Calibri" pitchFamily="34" charset="0"/>
                <a:ea typeface="Calibri" pitchFamily="34" charset="-122"/>
                <a:cs typeface="Calibri" pitchFamily="34" charset="-120"/>
              </a:rPr>
              <a:t>Static analysis measures how often anti-patterns show up in that generated code</a:t>
            </a:r>
            <a:endParaRPr lang="en-US" sz="1300" dirty="0"/>
          </a:p>
        </p:txBody>
      </p:sp>
      <p:sp>
        <p:nvSpPr>
          <p:cNvPr id="11" name="Shape 9"/>
          <p:cNvSpPr/>
          <p:nvPr/>
        </p:nvSpPr>
        <p:spPr>
          <a:xfrm>
            <a:off x="868680" y="4681728"/>
            <a:ext cx="109728" cy="109728"/>
          </a:xfrm>
          <a:prstGeom prst="oval">
            <a:avLst/>
          </a:prstGeom>
          <a:solidFill>
            <a:srgbClr val="E8562C"/>
          </a:solidFill>
          <a:ln/>
        </p:spPr>
      </p:sp>
      <p:sp>
        <p:nvSpPr>
          <p:cNvPr id="12" name="Text 10"/>
          <p:cNvSpPr txBox="1"/>
          <p:nvPr/>
        </p:nvSpPr>
        <p:spPr>
          <a:xfrm>
            <a:off x="1143000" y="4608576"/>
            <a:ext cx="4434840" cy="621792"/>
          </a:xfrm>
          <a:prstGeom prst="rect">
            <a:avLst/>
          </a:prstGeom>
          <a:noFill/>
          <a:ln/>
        </p:spPr>
        <p:txBody>
          <a:bodyPr wrap="square" lIns="0" tIns="0" rIns="0" bIns="0" rtlCol="0" anchor="ctr"/>
          <a:lstStyle/>
          <a:p>
            <a:pPr indent="0" marL="0">
              <a:lnSpc>
                <a:spcPts val="1650"/>
              </a:lnSpc>
              <a:buNone/>
            </a:pPr>
            <a:r>
              <a:rPr lang="en-US" sz="1300" dirty="0">
                <a:solidFill>
                  <a:srgbClr val="1F1F22"/>
                </a:solidFill>
                <a:latin typeface="Calibri" pitchFamily="34" charset="0"/>
                <a:ea typeface="Calibri" pitchFamily="34" charset="-122"/>
                <a:cs typeface="Calibri" pitchFamily="34" charset="-120"/>
              </a:rPr>
              <a:t>Question: does a better prompting strategy lower anti-pattern prevalence in the output?</a:t>
            </a:r>
            <a:endParaRPr lang="en-US" sz="1300" dirty="0"/>
          </a:p>
        </p:txBody>
      </p:sp>
      <p:sp>
        <p:nvSpPr>
          <p:cNvPr id="13" name="Shape 11"/>
          <p:cNvSpPr/>
          <p:nvPr/>
        </p:nvSpPr>
        <p:spPr>
          <a:xfrm>
            <a:off x="6263640" y="1965960"/>
            <a:ext cx="5349240" cy="3246120"/>
          </a:xfrm>
          <a:prstGeom prst="roundRect">
            <a:avLst>
              <a:gd name="adj" fmla="val 2254"/>
            </a:avLst>
          </a:prstGeom>
          <a:solidFill>
            <a:srgbClr val="1E2761"/>
          </a:solidFill>
          <a:ln/>
        </p:spPr>
      </p:sp>
      <p:sp>
        <p:nvSpPr>
          <p:cNvPr id="14" name="Text 12"/>
          <p:cNvSpPr txBox="1"/>
          <p:nvPr/>
        </p:nvSpPr>
        <p:spPr>
          <a:xfrm>
            <a:off x="6583680" y="2240280"/>
            <a:ext cx="4709160" cy="411480"/>
          </a:xfrm>
          <a:prstGeom prst="rect">
            <a:avLst/>
          </a:prstGeom>
          <a:noFill/>
          <a:ln/>
        </p:spPr>
        <p:txBody>
          <a:bodyPr wrap="square" lIns="0" tIns="0" rIns="0" bIns="0" rtlCol="0" anchor="ctr"/>
          <a:lstStyle/>
          <a:p>
            <a:pPr indent="0" marL="0">
              <a:buNone/>
            </a:pPr>
            <a:r>
              <a:rPr lang="en-US" sz="1300" b="1" spc="100" kern="0" dirty="0">
                <a:solidFill>
                  <a:srgbClr val="F2542D"/>
                </a:solidFill>
                <a:latin typeface="Calibri" pitchFamily="34" charset="0"/>
                <a:ea typeface="Calibri" pitchFamily="34" charset="-122"/>
                <a:cs typeface="Calibri" pitchFamily="34" charset="-120"/>
              </a:rPr>
              <a:t>My angle</a:t>
            </a:r>
            <a:endParaRPr lang="en-US" sz="1300" dirty="0"/>
          </a:p>
        </p:txBody>
      </p:sp>
      <p:sp>
        <p:nvSpPr>
          <p:cNvPr id="15" name="Text 13"/>
          <p:cNvSpPr txBox="1"/>
          <p:nvPr/>
        </p:nvSpPr>
        <p:spPr>
          <a:xfrm>
            <a:off x="6583680" y="2606040"/>
            <a:ext cx="4709160" cy="50292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Cure — after detection</a:t>
            </a:r>
            <a:endParaRPr lang="en-US" sz="2000" dirty="0"/>
          </a:p>
        </p:txBody>
      </p:sp>
      <p:sp>
        <p:nvSpPr>
          <p:cNvPr id="16" name="Shape 14"/>
          <p:cNvSpPr/>
          <p:nvPr/>
        </p:nvSpPr>
        <p:spPr>
          <a:xfrm>
            <a:off x="6583680" y="3364992"/>
            <a:ext cx="109728" cy="109728"/>
          </a:xfrm>
          <a:prstGeom prst="oval">
            <a:avLst/>
          </a:prstGeom>
          <a:solidFill>
            <a:srgbClr val="F2542D"/>
          </a:solidFill>
          <a:ln/>
        </p:spPr>
      </p:sp>
      <p:sp>
        <p:nvSpPr>
          <p:cNvPr id="17" name="Text 15"/>
          <p:cNvSpPr txBox="1"/>
          <p:nvPr/>
        </p:nvSpPr>
        <p:spPr>
          <a:xfrm>
            <a:off x="6858000" y="3291840"/>
            <a:ext cx="4434840" cy="621792"/>
          </a:xfrm>
          <a:prstGeom prst="rect">
            <a:avLst/>
          </a:prstGeom>
          <a:noFill/>
          <a:ln/>
        </p:spPr>
        <p:txBody>
          <a:bodyPr wrap="square" lIns="0" tIns="0" rIns="0" bIns="0" rtlCol="0" anchor="ctr"/>
          <a:lstStyle/>
          <a:p>
            <a:pPr indent="0" marL="0">
              <a:lnSpc>
                <a:spcPts val="1650"/>
              </a:lnSpc>
              <a:buNone/>
            </a:pPr>
            <a:r>
              <a:rPr lang="en-US" sz="1300" dirty="0">
                <a:solidFill>
                  <a:srgbClr val="CADCFC"/>
                </a:solidFill>
                <a:latin typeface="Calibri" pitchFamily="34" charset="0"/>
                <a:ea typeface="Calibri" pitchFamily="34" charset="-122"/>
                <a:cs typeface="Calibri" pitchFamily="34" charset="-120"/>
              </a:rPr>
              <a:t>An anti-pattern already exists in code, however it got there</a:t>
            </a:r>
            <a:endParaRPr lang="en-US" sz="1300" dirty="0"/>
          </a:p>
        </p:txBody>
      </p:sp>
      <p:sp>
        <p:nvSpPr>
          <p:cNvPr id="18" name="Shape 16"/>
          <p:cNvSpPr/>
          <p:nvPr/>
        </p:nvSpPr>
        <p:spPr>
          <a:xfrm>
            <a:off x="6583680" y="4023360"/>
            <a:ext cx="109728" cy="109728"/>
          </a:xfrm>
          <a:prstGeom prst="oval">
            <a:avLst/>
          </a:prstGeom>
          <a:solidFill>
            <a:srgbClr val="F2542D"/>
          </a:solidFill>
          <a:ln/>
        </p:spPr>
      </p:sp>
      <p:sp>
        <p:nvSpPr>
          <p:cNvPr id="19" name="Text 17"/>
          <p:cNvSpPr txBox="1"/>
          <p:nvPr/>
        </p:nvSpPr>
        <p:spPr>
          <a:xfrm>
            <a:off x="6858000" y="3950208"/>
            <a:ext cx="4434840" cy="621792"/>
          </a:xfrm>
          <a:prstGeom prst="rect">
            <a:avLst/>
          </a:prstGeom>
          <a:noFill/>
          <a:ln/>
        </p:spPr>
        <p:txBody>
          <a:bodyPr wrap="square" lIns="0" tIns="0" rIns="0" bIns="0" rtlCol="0" anchor="ctr"/>
          <a:lstStyle/>
          <a:p>
            <a:pPr indent="0" marL="0">
              <a:lnSpc>
                <a:spcPts val="1650"/>
              </a:lnSpc>
              <a:buNone/>
            </a:pPr>
            <a:r>
              <a:rPr lang="en-US" sz="1300" dirty="0">
                <a:solidFill>
                  <a:srgbClr val="CADCFC"/>
                </a:solidFill>
                <a:latin typeface="Calibri" pitchFamily="34" charset="0"/>
                <a:ea typeface="Calibri" pitchFamily="34" charset="-122"/>
                <a:cs typeface="Calibri" pitchFamily="34" charset="-120"/>
              </a:rPr>
              <a:t>An LLM repairs it, grounded in a static-analysis diagnosis</a:t>
            </a:r>
            <a:endParaRPr lang="en-US" sz="1300" dirty="0"/>
          </a:p>
        </p:txBody>
      </p:sp>
      <p:sp>
        <p:nvSpPr>
          <p:cNvPr id="20" name="Shape 18"/>
          <p:cNvSpPr/>
          <p:nvPr/>
        </p:nvSpPr>
        <p:spPr>
          <a:xfrm>
            <a:off x="6583680" y="4681728"/>
            <a:ext cx="109728" cy="109728"/>
          </a:xfrm>
          <a:prstGeom prst="oval">
            <a:avLst/>
          </a:prstGeom>
          <a:solidFill>
            <a:srgbClr val="F2542D"/>
          </a:solidFill>
          <a:ln/>
        </p:spPr>
      </p:sp>
      <p:sp>
        <p:nvSpPr>
          <p:cNvPr id="21" name="Text 19"/>
          <p:cNvSpPr txBox="1"/>
          <p:nvPr/>
        </p:nvSpPr>
        <p:spPr>
          <a:xfrm>
            <a:off x="6858000" y="4608576"/>
            <a:ext cx="4434840" cy="621792"/>
          </a:xfrm>
          <a:prstGeom prst="rect">
            <a:avLst/>
          </a:prstGeom>
          <a:noFill/>
          <a:ln/>
        </p:spPr>
        <p:txBody>
          <a:bodyPr wrap="square" lIns="0" tIns="0" rIns="0" bIns="0" rtlCol="0" anchor="ctr"/>
          <a:lstStyle/>
          <a:p>
            <a:pPr indent="0" marL="0">
              <a:lnSpc>
                <a:spcPts val="1650"/>
              </a:lnSpc>
              <a:buNone/>
            </a:pPr>
            <a:r>
              <a:rPr lang="en-US" sz="1300" dirty="0">
                <a:solidFill>
                  <a:srgbClr val="CADCFC"/>
                </a:solidFill>
                <a:latin typeface="Calibri" pitchFamily="34" charset="0"/>
                <a:ea typeface="Calibri" pitchFamily="34" charset="-122"/>
                <a:cs typeface="Calibri" pitchFamily="34" charset="-120"/>
              </a:rPr>
              <a:t>Question: does grounding + independent verification produce a repair we can trust?</a:t>
            </a:r>
            <a:endParaRPr lang="en-US" sz="1300" dirty="0"/>
          </a:p>
        </p:txBody>
      </p:sp>
      <p:sp>
        <p:nvSpPr>
          <p:cNvPr id="22" name="Shape 20"/>
          <p:cNvSpPr/>
          <p:nvPr/>
        </p:nvSpPr>
        <p:spPr>
          <a:xfrm>
            <a:off x="548640" y="5394960"/>
            <a:ext cx="11064240" cy="1051560"/>
          </a:xfrm>
          <a:prstGeom prst="roundRect">
            <a:avLst>
              <a:gd name="adj" fmla="val 6957"/>
            </a:avLst>
          </a:prstGeom>
          <a:solidFill>
            <a:srgbClr val="F4F5F9"/>
          </a:solidFill>
          <a:ln w="12700">
            <a:solidFill>
              <a:srgbClr val="E0E0E6"/>
            </a:solidFill>
            <a:prstDash val="solid"/>
          </a:ln>
        </p:spPr>
      </p:sp>
      <p:sp>
        <p:nvSpPr>
          <p:cNvPr id="23" name="Text 21"/>
          <p:cNvSpPr txBox="1"/>
          <p:nvPr/>
        </p:nvSpPr>
        <p:spPr>
          <a:xfrm>
            <a:off x="868680" y="5394960"/>
            <a:ext cx="10424160" cy="1051560"/>
          </a:xfrm>
          <a:prstGeom prst="rect">
            <a:avLst/>
          </a:prstGeom>
          <a:noFill/>
          <a:ln/>
        </p:spPr>
        <p:txBody>
          <a:bodyPr wrap="square" lIns="0" tIns="0" rIns="0" bIns="0" rtlCol="0" anchor="ctr"/>
          <a:lstStyle/>
          <a:p>
            <a:pPr indent="0" marL="0">
              <a:lnSpc>
                <a:spcPts val="1650"/>
              </a:lnSpc>
              <a:buNone/>
            </a:pPr>
            <a:r>
              <a:rPr lang="en-US" sz="1300" b="1" dirty="0">
                <a:solidFill>
                  <a:srgbClr val="1E2761"/>
                </a:solidFill>
                <a:latin typeface="Calibri" pitchFamily="34" charset="0"/>
                <a:ea typeface="Calibri" pitchFamily="34" charset="-122"/>
                <a:cs typeface="Calibri" pitchFamily="34" charset="-120"/>
              </a:rPr>
              <a:t>Same measurement toolkit, opposite ends of the lifecycle. </a:t>
            </a:r>
            <a:pPr indent="0" marL="0">
              <a:lnSpc>
                <a:spcPts val="1650"/>
              </a:lnSpc>
              <a:buNone/>
            </a:pPr>
            <a:r>
              <a:rPr lang="en-US" sz="1300" dirty="0">
                <a:solidFill>
                  <a:srgbClr val="1F1F22"/>
                </a:solidFill>
                <a:latin typeface="Calibri" pitchFamily="34" charset="0"/>
                <a:ea typeface="Calibri" pitchFamily="34" charset="-122"/>
                <a:cs typeface="Calibri" pitchFamily="34" charset="-120"/>
              </a:rPr>
              <a:t>[Co-presenter] asks whether smarter prompting keeps anti-patterns from appearing in LLM-written code in the first place; I ask whether a grounded, verified LLM can remove them once they're already there. Together: can LLMs be trusted at both ends of the software-quality lifecycle — writing code, and fixing it?</a:t>
            </a:r>
            <a:endParaRPr lang="en-US" sz="1300" dirty="0"/>
          </a:p>
        </p:txBody>
      </p:sp>
      <p:sp>
        <p:nvSpPr>
          <p:cNvPr id="24" name="Text 22"/>
          <p:cNvSpPr txBox="1"/>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9B9BA3"/>
                </a:solidFill>
                <a:latin typeface="Calibri" pitchFamily="34" charset="0"/>
                <a:ea typeface="Calibri" pitchFamily="34" charset="-122"/>
                <a:cs typeface="Calibri" pitchFamily="34" charset="-120"/>
              </a:rPr>
              <a:t>Part 1 (joint) — Anti-Patterns: Why They Matter</a:t>
            </a:r>
            <a:endParaRPr lang="en-US" sz="900" dirty="0"/>
          </a:p>
        </p:txBody>
      </p:sp>
      <p:sp>
        <p:nvSpPr>
          <p:cNvPr id="25" name="Text 23"/>
          <p:cNvSpPr txBox="1"/>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9B9BA3"/>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731520" y="2331720"/>
            <a:ext cx="10058400" cy="457200"/>
          </a:xfrm>
          <a:prstGeom prst="rect">
            <a:avLst/>
          </a:prstGeom>
          <a:noFill/>
          <a:ln/>
        </p:spPr>
        <p:txBody>
          <a:bodyPr wrap="square" lIns="0" tIns="0" rIns="0" bIns="0" rtlCol="0" anchor="ctr"/>
          <a:lstStyle/>
          <a:p>
            <a:pPr indent="0" marL="0">
              <a:buNone/>
            </a:pPr>
            <a:r>
              <a:rPr lang="en-US" sz="1500" b="1" spc="300" kern="0" dirty="0">
                <a:solidFill>
                  <a:srgbClr val="F2542D"/>
                </a:solidFill>
                <a:latin typeface="Calibri" pitchFamily="34" charset="0"/>
                <a:ea typeface="Calibri" pitchFamily="34" charset="-122"/>
                <a:cs typeface="Calibri" pitchFamily="34" charset="-120"/>
              </a:rPr>
              <a:t>PART 2</a:t>
            </a:r>
            <a:endParaRPr lang="en-US" sz="1500" dirty="0"/>
          </a:p>
        </p:txBody>
      </p:sp>
      <p:sp>
        <p:nvSpPr>
          <p:cNvPr id="3" name="Text 1"/>
          <p:cNvSpPr txBox="1"/>
          <p:nvPr/>
        </p:nvSpPr>
        <p:spPr>
          <a:xfrm>
            <a:off x="731520" y="2788920"/>
            <a:ext cx="10698480" cy="1645920"/>
          </a:xfrm>
          <a:prstGeom prst="rect">
            <a:avLst/>
          </a:prstGeom>
          <a:noFill/>
          <a:ln/>
        </p:spPr>
        <p:txBody>
          <a:bodyPr wrap="square" lIns="0" tIns="0" rIns="0" bIns="0" rtlCol="0" anchor="ctr"/>
          <a:lstStyle/>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My angle: static analysis + an LLM,</a:t>
            </a:r>
            <a:endParaRPr lang="en-US" sz="3800" dirty="0"/>
          </a:p>
          <a:p>
            <a:pPr indent="0" marL="0">
              <a:lnSpc>
                <a:spcPts val="4400"/>
              </a:lnSpc>
              <a:buNone/>
            </a:pPr>
            <a:r>
              <a:rPr lang="en-US" sz="3800" b="1" dirty="0">
                <a:solidFill>
                  <a:srgbClr val="FFFFFF"/>
                </a:solidFill>
                <a:latin typeface="Cambria" pitchFamily="34" charset="0"/>
                <a:ea typeface="Cambria" pitchFamily="34" charset="-122"/>
                <a:cs typeface="Cambria" pitchFamily="34" charset="-120"/>
              </a:rPr>
              <a:t>with verification</a:t>
            </a:r>
            <a:endParaRPr lang="en-US" sz="3800" dirty="0"/>
          </a:p>
        </p:txBody>
      </p:sp>
      <p:sp>
        <p:nvSpPr>
          <p:cNvPr id="4" name="Text 2"/>
          <p:cNvSpPr txBox="1"/>
          <p:nvPr/>
        </p:nvSpPr>
        <p:spPr>
          <a:xfrm>
            <a:off x="731520" y="4526280"/>
            <a:ext cx="10515600" cy="457200"/>
          </a:xfrm>
          <a:prstGeom prst="rect">
            <a:avLst/>
          </a:prstGeom>
          <a:noFill/>
          <a:ln/>
        </p:spPr>
        <p:txBody>
          <a:bodyPr wrap="square" lIns="0" tIns="0" rIns="0" bIns="0" rtlCol="0" anchor="ctr"/>
          <a:lstStyle/>
          <a:p>
            <a:pPr indent="0" marL="0">
              <a:buNone/>
            </a:pPr>
            <a:r>
              <a:rPr lang="en-US" sz="1500" i="1" dirty="0">
                <a:solidFill>
                  <a:srgbClr val="CADCFC"/>
                </a:solidFill>
                <a:latin typeface="Calibri" pitchFamily="34" charset="0"/>
                <a:ea typeface="Calibri" pitchFamily="34" charset="-122"/>
                <a:cs typeface="Calibri" pitchFamily="34" charset="-120"/>
              </a:rPr>
              <a:t>Static Analysis and LLMs for Verified Anti-Pattern Repair — Rayen Syal</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365760"/>
          </a:xfrm>
          <a:prstGeom prst="rect">
            <a:avLst/>
          </a:prstGeom>
          <a:noFill/>
          <a:ln/>
        </p:spPr>
        <p:txBody>
          <a:bodyPr wrap="square" lIns="0" tIns="0" rIns="0" bIns="0" rtlCol="0" anchor="ctr"/>
          <a:lstStyle/>
          <a:p>
            <a:pPr indent="0" marL="0">
              <a:buNone/>
            </a:pPr>
            <a:r>
              <a:rPr lang="en-US" sz="1300" b="1" spc="200" kern="0" dirty="0">
                <a:solidFill>
                  <a:srgbClr val="E8562C"/>
                </a:solidFill>
                <a:latin typeface="Calibri" pitchFamily="34" charset="0"/>
                <a:ea typeface="Calibri" pitchFamily="34" charset="-122"/>
                <a:cs typeface="Calibri" pitchFamily="34" charset="-120"/>
              </a:rPr>
              <a:t>RESEARCH QUESTIONS</a:t>
            </a:r>
            <a:endParaRPr lang="en-US" sz="1300" dirty="0"/>
          </a:p>
        </p:txBody>
      </p:sp>
      <p:sp>
        <p:nvSpPr>
          <p:cNvPr id="3" name="Text 1"/>
          <p:cNvSpPr txBox="1"/>
          <p:nvPr/>
        </p:nvSpPr>
        <p:spPr>
          <a:xfrm>
            <a:off x="548640" y="822960"/>
            <a:ext cx="11064240" cy="9144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What this thesis actually asks</a:t>
            </a:r>
            <a:endParaRPr lang="en-US" sz="3200" dirty="0"/>
          </a:p>
        </p:txBody>
      </p:sp>
      <p:sp>
        <p:nvSpPr>
          <p:cNvPr id="4" name="Shape 2"/>
          <p:cNvSpPr/>
          <p:nvPr/>
        </p:nvSpPr>
        <p:spPr>
          <a:xfrm>
            <a:off x="548640" y="1828800"/>
            <a:ext cx="11064240" cy="914400"/>
          </a:xfrm>
          <a:prstGeom prst="roundRect">
            <a:avLst>
              <a:gd name="adj" fmla="val 8000"/>
            </a:avLst>
          </a:prstGeom>
          <a:solidFill>
            <a:srgbClr val="1E2761"/>
          </a:solidFill>
          <a:ln/>
        </p:spPr>
      </p:sp>
      <p:sp>
        <p:nvSpPr>
          <p:cNvPr id="5" name="Text 3"/>
          <p:cNvSpPr txBox="1"/>
          <p:nvPr/>
        </p:nvSpPr>
        <p:spPr>
          <a:xfrm>
            <a:off x="868680" y="1828800"/>
            <a:ext cx="10424160" cy="914400"/>
          </a:xfrm>
          <a:prstGeom prst="rect">
            <a:avLst/>
          </a:prstGeom>
          <a:noFill/>
          <a:ln/>
        </p:spPr>
        <p:txBody>
          <a:bodyPr wrap="square" lIns="0" tIns="0" rIns="0" bIns="0" rtlCol="0" anchor="ctr"/>
          <a:lstStyle/>
          <a:p>
            <a:pPr indent="0" marL="0">
              <a:lnSpc>
                <a:spcPts val="1800"/>
              </a:lnSpc>
              <a:buNone/>
            </a:pPr>
            <a:r>
              <a:rPr lang="en-US" sz="1450" b="1" dirty="0">
                <a:solidFill>
                  <a:srgbClr val="F2542D"/>
                </a:solidFill>
                <a:latin typeface="Calibri" pitchFamily="34" charset="0"/>
                <a:ea typeface="Calibri" pitchFamily="34" charset="-122"/>
                <a:cs typeface="Calibri" pitchFamily="34" charset="-120"/>
              </a:rPr>
              <a:t>Main question: </a:t>
            </a:r>
            <a:pPr indent="0" marL="0">
              <a:lnSpc>
                <a:spcPts val="1800"/>
              </a:lnSpc>
              <a:buNone/>
            </a:pPr>
            <a:r>
              <a:rPr lang="en-US" sz="1450" dirty="0">
                <a:solidFill>
                  <a:srgbClr val="FFFFFF"/>
                </a:solidFill>
                <a:latin typeface="Calibri" pitchFamily="34" charset="0"/>
                <a:ea typeface="Calibri" pitchFamily="34" charset="-122"/>
                <a:cs typeface="Calibri" pitchFamily="34" charset="-120"/>
              </a:rPr>
              <a:t>To what extent can a repair pipeline that combines static analysis with an LLM resolve detected anti-patterns while producing buildable code and preserving existing behaviour?</a:t>
            </a:r>
            <a:endParaRPr lang="en-US" sz="1450" dirty="0"/>
          </a:p>
        </p:txBody>
      </p:sp>
      <p:sp>
        <p:nvSpPr>
          <p:cNvPr id="6" name="Shape 4"/>
          <p:cNvSpPr/>
          <p:nvPr/>
        </p:nvSpPr>
        <p:spPr>
          <a:xfrm>
            <a:off x="548640" y="2953512"/>
            <a:ext cx="146304" cy="146304"/>
          </a:xfrm>
          <a:prstGeom prst="oval">
            <a:avLst/>
          </a:prstGeom>
          <a:solidFill>
            <a:srgbClr val="E8562C"/>
          </a:solidFill>
          <a:ln/>
        </p:spPr>
      </p:sp>
      <p:sp>
        <p:nvSpPr>
          <p:cNvPr id="7" name="Text 5"/>
          <p:cNvSpPr txBox="1"/>
          <p:nvPr/>
        </p:nvSpPr>
        <p:spPr>
          <a:xfrm>
            <a:off x="914400" y="2880360"/>
            <a:ext cx="10515600" cy="365760"/>
          </a:xfrm>
          <a:prstGeom prst="rect">
            <a:avLst/>
          </a:prstGeom>
          <a:noFill/>
          <a:ln/>
        </p:spPr>
        <p:txBody>
          <a:bodyPr wrap="square" lIns="0" tIns="0" rIns="0" bIns="0"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RQ1 — Technical effectiveness</a:t>
            </a:r>
            <a:endParaRPr lang="en-US" sz="1700" dirty="0"/>
          </a:p>
        </p:txBody>
      </p:sp>
      <p:sp>
        <p:nvSpPr>
          <p:cNvPr id="8" name="Text 6"/>
          <p:cNvSpPr txBox="1"/>
          <p:nvPr/>
        </p:nvSpPr>
        <p:spPr>
          <a:xfrm>
            <a:off x="914400" y="3264408"/>
            <a:ext cx="10332720" cy="502920"/>
          </a:xfrm>
          <a:prstGeom prst="rect">
            <a:avLst/>
          </a:prstGeom>
          <a:noFill/>
          <a:ln/>
        </p:spPr>
        <p:txBody>
          <a:bodyPr wrap="square" lIns="0" tIns="0" rIns="0" bIns="0" rtlCol="0" anchor="ctr"/>
          <a:lstStyle/>
          <a:p>
            <a:pPr indent="0" marL="0">
              <a:lnSpc>
                <a:spcPts val="1800"/>
              </a:lnSpc>
              <a:buNone/>
            </a:pPr>
            <a:r>
              <a:rPr lang="en-US" sz="1400" dirty="0">
                <a:solidFill>
                  <a:srgbClr val="55555C"/>
                </a:solidFill>
                <a:latin typeface="Calibri" pitchFamily="34" charset="0"/>
                <a:ea typeface="Calibri" pitchFamily="34" charset="-122"/>
                <a:cs typeface="Calibri" pitchFamily="34" charset="-120"/>
              </a:rPr>
              <a:t>How often does the pipeline achieve strict repair success — and does showing the model a generated characterisation test change that rate (RQ1.1)?</a:t>
            </a:r>
            <a:endParaRPr lang="en-US" sz="1400" dirty="0"/>
          </a:p>
        </p:txBody>
      </p:sp>
      <p:sp>
        <p:nvSpPr>
          <p:cNvPr id="9" name="Shape 7"/>
          <p:cNvSpPr/>
          <p:nvPr/>
        </p:nvSpPr>
        <p:spPr>
          <a:xfrm>
            <a:off x="548640" y="3913632"/>
            <a:ext cx="146304" cy="146304"/>
          </a:xfrm>
          <a:prstGeom prst="oval">
            <a:avLst/>
          </a:prstGeom>
          <a:solidFill>
            <a:srgbClr val="E8562C"/>
          </a:solidFill>
          <a:ln/>
        </p:spPr>
      </p:sp>
      <p:sp>
        <p:nvSpPr>
          <p:cNvPr id="10" name="Text 8"/>
          <p:cNvSpPr txBox="1"/>
          <p:nvPr/>
        </p:nvSpPr>
        <p:spPr>
          <a:xfrm>
            <a:off x="914400" y="3840480"/>
            <a:ext cx="10515600" cy="365760"/>
          </a:xfrm>
          <a:prstGeom prst="rect">
            <a:avLst/>
          </a:prstGeom>
          <a:noFill/>
          <a:ln/>
        </p:spPr>
        <p:txBody>
          <a:bodyPr wrap="square" lIns="0" tIns="0" rIns="0" bIns="0"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RQ2 — Grounding &amp; control</a:t>
            </a:r>
            <a:endParaRPr lang="en-US" sz="1700" dirty="0"/>
          </a:p>
        </p:txBody>
      </p:sp>
      <p:sp>
        <p:nvSpPr>
          <p:cNvPr id="11" name="Text 9"/>
          <p:cNvSpPr txBox="1"/>
          <p:nvPr/>
        </p:nvSpPr>
        <p:spPr>
          <a:xfrm>
            <a:off x="914400" y="4224528"/>
            <a:ext cx="10332720" cy="502920"/>
          </a:xfrm>
          <a:prstGeom prst="rect">
            <a:avLst/>
          </a:prstGeom>
          <a:noFill/>
          <a:ln/>
        </p:spPr>
        <p:txBody>
          <a:bodyPr wrap="square" lIns="0" tIns="0" rIns="0" bIns="0" rtlCol="0" anchor="ctr"/>
          <a:lstStyle/>
          <a:p>
            <a:pPr indent="0" marL="0">
              <a:lnSpc>
                <a:spcPts val="1800"/>
              </a:lnSpc>
              <a:buNone/>
            </a:pPr>
            <a:r>
              <a:rPr lang="en-US" sz="1400" dirty="0">
                <a:solidFill>
                  <a:srgbClr val="55555C"/>
                </a:solidFill>
                <a:latin typeface="Calibri" pitchFamily="34" charset="0"/>
                <a:ea typeface="Calibri" pitchFamily="34" charset="-122"/>
                <a:cs typeface="Calibri" pitchFamily="34" charset="-120"/>
              </a:rPr>
              <a:t>How do detector grounding and iterative repair control each affect strict repair success?</a:t>
            </a:r>
            <a:endParaRPr lang="en-US" sz="1400" dirty="0"/>
          </a:p>
        </p:txBody>
      </p:sp>
      <p:sp>
        <p:nvSpPr>
          <p:cNvPr id="12" name="Shape 10"/>
          <p:cNvSpPr/>
          <p:nvPr/>
        </p:nvSpPr>
        <p:spPr>
          <a:xfrm>
            <a:off x="548640" y="4873752"/>
            <a:ext cx="146304" cy="146304"/>
          </a:xfrm>
          <a:prstGeom prst="oval">
            <a:avLst/>
          </a:prstGeom>
          <a:solidFill>
            <a:srgbClr val="E8562C"/>
          </a:solidFill>
          <a:ln/>
        </p:spPr>
      </p:sp>
      <p:sp>
        <p:nvSpPr>
          <p:cNvPr id="13" name="Text 11"/>
          <p:cNvSpPr txBox="1"/>
          <p:nvPr/>
        </p:nvSpPr>
        <p:spPr>
          <a:xfrm>
            <a:off x="914400" y="4800600"/>
            <a:ext cx="10515600" cy="365760"/>
          </a:xfrm>
          <a:prstGeom prst="rect">
            <a:avLst/>
          </a:prstGeom>
          <a:noFill/>
          <a:ln/>
        </p:spPr>
        <p:txBody>
          <a:bodyPr wrap="square" lIns="0" tIns="0" rIns="0" bIns="0"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RQ3 — Context granularity</a:t>
            </a:r>
            <a:endParaRPr lang="en-US" sz="1700" dirty="0"/>
          </a:p>
        </p:txBody>
      </p:sp>
      <p:sp>
        <p:nvSpPr>
          <p:cNvPr id="14" name="Text 12"/>
          <p:cNvSpPr txBox="1"/>
          <p:nvPr/>
        </p:nvSpPr>
        <p:spPr>
          <a:xfrm>
            <a:off x="914400" y="5184648"/>
            <a:ext cx="10332720" cy="502920"/>
          </a:xfrm>
          <a:prstGeom prst="rect">
            <a:avLst/>
          </a:prstGeom>
          <a:noFill/>
          <a:ln/>
        </p:spPr>
        <p:txBody>
          <a:bodyPr wrap="square" lIns="0" tIns="0" rIns="0" bIns="0" rtlCol="0" anchor="ctr"/>
          <a:lstStyle/>
          <a:p>
            <a:pPr indent="0" marL="0">
              <a:lnSpc>
                <a:spcPts val="1800"/>
              </a:lnSpc>
              <a:buNone/>
            </a:pPr>
            <a:r>
              <a:rPr lang="en-US" sz="1400" dirty="0">
                <a:solidFill>
                  <a:srgbClr val="55555C"/>
                </a:solidFill>
                <a:latin typeface="Calibri" pitchFamily="34" charset="0"/>
                <a:ea typeface="Calibri" pitchFamily="34" charset="-122"/>
                <a:cs typeface="Calibri" pitchFamily="34" charset="-120"/>
              </a:rPr>
              <a:t>Under a fixed single-shot editing mechanism, does verified repair change as detector-derived context grows — and does the same pattern hold in an industrial case?</a:t>
            </a:r>
            <a:endParaRPr lang="en-US" sz="1400" dirty="0"/>
          </a:p>
        </p:txBody>
      </p:sp>
      <p:sp>
        <p:nvSpPr>
          <p:cNvPr id="15" name="Text 13"/>
          <p:cNvSpPr txBox="1"/>
          <p:nvPr/>
        </p:nvSpPr>
        <p:spPr>
          <a:xfrm>
            <a:off x="548640" y="5897880"/>
            <a:ext cx="11064240" cy="365760"/>
          </a:xfrm>
          <a:prstGeom prst="rect">
            <a:avLst/>
          </a:prstGeom>
          <a:noFill/>
          <a:ln/>
        </p:spPr>
        <p:txBody>
          <a:bodyPr wrap="square" lIns="0" tIns="0" rIns="0" bIns="0" rtlCol="0" anchor="ctr"/>
          <a:lstStyle/>
          <a:p>
            <a:pPr indent="0" marL="0">
              <a:buNone/>
            </a:pPr>
            <a:r>
              <a:rPr lang="en-US" sz="1150" i="1" dirty="0">
                <a:solidFill>
                  <a:srgbClr val="55555C"/>
                </a:solidFill>
                <a:latin typeface="Calibri" pitchFamily="34" charset="0"/>
                <a:ea typeface="Calibri" pitchFamily="34" charset="-122"/>
                <a:cs typeface="Calibri" pitchFamily="34" charset="-120"/>
              </a:rPr>
              <a:t>(A fourth question, RQ4 — multi-layer quality and computational cost — is in the thesis but not covered in today's ten minutes.)</a:t>
            </a:r>
            <a:endParaRPr lang="en-US" sz="1150" dirty="0"/>
          </a:p>
        </p:txBody>
      </p:sp>
      <p:sp>
        <p:nvSpPr>
          <p:cNvPr id="16" name="Text 14"/>
          <p:cNvSpPr txBox="1"/>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9B9BA3"/>
                </a:solidFill>
                <a:latin typeface="Calibri" pitchFamily="34" charset="0"/>
                <a:ea typeface="Calibri" pitchFamily="34" charset="-122"/>
                <a:cs typeface="Calibri" pitchFamily="34" charset="-120"/>
              </a:rPr>
              <a:t>Part 2 — Static Analysis + LLMs for Verified Anti-Pattern Repair</a:t>
            </a:r>
            <a:endParaRPr lang="en-US" sz="900" dirty="0"/>
          </a:p>
        </p:txBody>
      </p:sp>
      <p:sp>
        <p:nvSpPr>
          <p:cNvPr id="17" name="Text 15"/>
          <p:cNvSpPr txBox="1"/>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9B9BA3"/>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365760"/>
          </a:xfrm>
          <a:prstGeom prst="rect">
            <a:avLst/>
          </a:prstGeom>
          <a:noFill/>
          <a:ln/>
        </p:spPr>
        <p:txBody>
          <a:bodyPr wrap="square" lIns="0" tIns="0" rIns="0" bIns="0" rtlCol="0" anchor="ctr"/>
          <a:lstStyle/>
          <a:p>
            <a:pPr indent="0" marL="0">
              <a:buNone/>
            </a:pPr>
            <a:r>
              <a:rPr lang="en-US" sz="1300" b="1" spc="200" kern="0" dirty="0">
                <a:solidFill>
                  <a:srgbClr val="E8562C"/>
                </a:solidFill>
                <a:latin typeface="Calibri" pitchFamily="34" charset="0"/>
                <a:ea typeface="Calibri" pitchFamily="34" charset="-122"/>
                <a:cs typeface="Calibri" pitchFamily="34" charset="-120"/>
              </a:rPr>
              <a:t>METHODOLOGY</a:t>
            </a:r>
            <a:endParaRPr lang="en-US" sz="1300" dirty="0"/>
          </a:p>
        </p:txBody>
      </p:sp>
      <p:sp>
        <p:nvSpPr>
          <p:cNvPr id="3" name="Text 1"/>
          <p:cNvSpPr txBox="1"/>
          <p:nvPr/>
        </p:nvSpPr>
        <p:spPr>
          <a:xfrm>
            <a:off x="548640" y="822960"/>
            <a:ext cx="11064240" cy="9144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One pipeline, three studies</a:t>
            </a:r>
            <a:endParaRPr lang="en-US" sz="3200" dirty="0"/>
          </a:p>
        </p:txBody>
      </p:sp>
      <p:sp>
        <p:nvSpPr>
          <p:cNvPr id="4" name="Shape 2"/>
          <p:cNvSpPr/>
          <p:nvPr/>
        </p:nvSpPr>
        <p:spPr>
          <a:xfrm>
            <a:off x="548640" y="1965960"/>
            <a:ext cx="3566160" cy="2377440"/>
          </a:xfrm>
          <a:prstGeom prst="roundRect">
            <a:avLst>
              <a:gd name="adj" fmla="val 3077"/>
            </a:avLst>
          </a:prstGeom>
          <a:solidFill>
            <a:srgbClr val="F4F5F9"/>
          </a:solidFill>
          <a:ln w="12700">
            <a:solidFill>
              <a:srgbClr val="E0E0E6"/>
            </a:solidFill>
            <a:prstDash val="solid"/>
          </a:ln>
        </p:spPr>
      </p:sp>
      <p:sp>
        <p:nvSpPr>
          <p:cNvPr id="5" name="Text 3"/>
          <p:cNvSpPr txBox="1"/>
          <p:nvPr/>
        </p:nvSpPr>
        <p:spPr>
          <a:xfrm>
            <a:off x="777240" y="2167128"/>
            <a:ext cx="3108960" cy="45720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Confirmatory factorial</a:t>
            </a:r>
            <a:endParaRPr lang="en-US" sz="1700" dirty="0"/>
          </a:p>
        </p:txBody>
      </p:sp>
      <p:sp>
        <p:nvSpPr>
          <p:cNvPr id="6" name="Text 4"/>
          <p:cNvSpPr txBox="1"/>
          <p:nvPr/>
        </p:nvSpPr>
        <p:spPr>
          <a:xfrm>
            <a:off x="777240" y="2651760"/>
            <a:ext cx="3108960" cy="1143000"/>
          </a:xfrm>
          <a:prstGeom prst="rect">
            <a:avLst/>
          </a:prstGeom>
          <a:noFill/>
          <a:ln/>
        </p:spPr>
        <p:txBody>
          <a:bodyPr wrap="square" lIns="0" tIns="0" rIns="0" bIns="0" rtlCol="0" anchor="ctr"/>
          <a:lstStyle/>
          <a:p>
            <a:pPr indent="0" marL="0">
              <a:lnSpc>
                <a:spcPts val="1550"/>
              </a:lnSpc>
              <a:buNone/>
            </a:pPr>
            <a:r>
              <a:rPr lang="en-US" sz="1200" dirty="0">
                <a:solidFill>
                  <a:srgbClr val="1F1F22"/>
                </a:solidFill>
                <a:latin typeface="Calibri" pitchFamily="34" charset="0"/>
                <a:ea typeface="Calibri" pitchFamily="34" charset="-122"/>
                <a:cs typeface="Calibri" pitchFamily="34" charset="-120"/>
              </a:rPr>
              <a:t>2×2×2 design: grounding × control × test visibility. 26 God Class / Long Method targets × 3 repetitions × 8 conditions = 624 assignments.</a:t>
            </a:r>
            <a:endParaRPr lang="en-US" sz="1200" dirty="0"/>
          </a:p>
        </p:txBody>
      </p:sp>
      <p:sp>
        <p:nvSpPr>
          <p:cNvPr id="7" name="Text 5"/>
          <p:cNvSpPr txBox="1"/>
          <p:nvPr/>
        </p:nvSpPr>
        <p:spPr>
          <a:xfrm>
            <a:off x="777240" y="3886200"/>
            <a:ext cx="3108960" cy="365760"/>
          </a:xfrm>
          <a:prstGeom prst="rect">
            <a:avLst/>
          </a:prstGeom>
          <a:noFill/>
          <a:ln/>
        </p:spPr>
        <p:txBody>
          <a:bodyPr wrap="square" lIns="0" tIns="0" rIns="0" bIns="0" rtlCol="0" anchor="ctr"/>
          <a:lstStyle/>
          <a:p>
            <a:pPr indent="0" marL="0">
              <a:buNone/>
            </a:pPr>
            <a:r>
              <a:rPr lang="en-US" sz="1100" b="1" dirty="0">
                <a:solidFill>
                  <a:srgbClr val="E8562C"/>
                </a:solidFill>
                <a:latin typeface="Calibri" pitchFamily="34" charset="0"/>
                <a:ea typeface="Calibri" pitchFamily="34" charset="-122"/>
                <a:cs typeface="Calibri" pitchFamily="34" charset="-120"/>
              </a:rPr>
              <a:t>Answers RQ1, RQ1.1, RQ2</a:t>
            </a:r>
            <a:endParaRPr lang="en-US" sz="1100" dirty="0"/>
          </a:p>
        </p:txBody>
      </p:sp>
      <p:sp>
        <p:nvSpPr>
          <p:cNvPr id="8" name="Shape 6"/>
          <p:cNvSpPr/>
          <p:nvPr/>
        </p:nvSpPr>
        <p:spPr>
          <a:xfrm>
            <a:off x="4343400" y="1965960"/>
            <a:ext cx="3566160" cy="2377440"/>
          </a:xfrm>
          <a:prstGeom prst="roundRect">
            <a:avLst>
              <a:gd name="adj" fmla="val 3077"/>
            </a:avLst>
          </a:prstGeom>
          <a:solidFill>
            <a:srgbClr val="F4F5F9"/>
          </a:solidFill>
          <a:ln w="12700">
            <a:solidFill>
              <a:srgbClr val="E0E0E6"/>
            </a:solidFill>
            <a:prstDash val="solid"/>
          </a:ln>
        </p:spPr>
      </p:sp>
      <p:sp>
        <p:nvSpPr>
          <p:cNvPr id="9" name="Text 7"/>
          <p:cNvSpPr txBox="1"/>
          <p:nvPr/>
        </p:nvSpPr>
        <p:spPr>
          <a:xfrm>
            <a:off x="4572000" y="2167128"/>
            <a:ext cx="3108960" cy="45720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Context-granularity ladder</a:t>
            </a:r>
            <a:endParaRPr lang="en-US" sz="1700" dirty="0"/>
          </a:p>
        </p:txBody>
      </p:sp>
      <p:sp>
        <p:nvSpPr>
          <p:cNvPr id="10" name="Text 8"/>
          <p:cNvSpPr txBox="1"/>
          <p:nvPr/>
        </p:nvSpPr>
        <p:spPr>
          <a:xfrm>
            <a:off x="4572000" y="2651760"/>
            <a:ext cx="3108960" cy="1143000"/>
          </a:xfrm>
          <a:prstGeom prst="rect">
            <a:avLst/>
          </a:prstGeom>
          <a:noFill/>
          <a:ln/>
        </p:spPr>
        <p:txBody>
          <a:bodyPr wrap="square" lIns="0" tIns="0" rIns="0" bIns="0" rtlCol="0" anchor="ctr"/>
          <a:lstStyle/>
          <a:p>
            <a:pPr indent="0" marL="0">
              <a:lnSpc>
                <a:spcPts val="1550"/>
              </a:lnSpc>
              <a:buNone/>
            </a:pPr>
            <a:r>
              <a:rPr lang="en-US" sz="1200" dirty="0">
                <a:solidFill>
                  <a:srgbClr val="1F1F22"/>
                </a:solidFill>
                <a:latin typeface="Calibri" pitchFamily="34" charset="0"/>
                <a:ea typeface="Calibri" pitchFamily="34" charset="-122"/>
                <a:cs typeface="Calibri" pitchFamily="34" charset="-120"/>
              </a:rPr>
              <a:t>Minimal → Structural → Relational → Full context, single-shot editing held fixed. 36 corpus targets (432 assignments) plus 9 industrial targets (108 assignments).</a:t>
            </a:r>
            <a:endParaRPr lang="en-US" sz="1200" dirty="0"/>
          </a:p>
        </p:txBody>
      </p:sp>
      <p:sp>
        <p:nvSpPr>
          <p:cNvPr id="11" name="Text 9"/>
          <p:cNvSpPr txBox="1"/>
          <p:nvPr/>
        </p:nvSpPr>
        <p:spPr>
          <a:xfrm>
            <a:off x="4572000" y="3886200"/>
            <a:ext cx="3108960" cy="365760"/>
          </a:xfrm>
          <a:prstGeom prst="rect">
            <a:avLst/>
          </a:prstGeom>
          <a:noFill/>
          <a:ln/>
        </p:spPr>
        <p:txBody>
          <a:bodyPr wrap="square" lIns="0" tIns="0" rIns="0" bIns="0" rtlCol="0" anchor="ctr"/>
          <a:lstStyle/>
          <a:p>
            <a:pPr indent="0" marL="0">
              <a:buNone/>
            </a:pPr>
            <a:r>
              <a:rPr lang="en-US" sz="1100" b="1" dirty="0">
                <a:solidFill>
                  <a:srgbClr val="E8562C"/>
                </a:solidFill>
                <a:latin typeface="Calibri" pitchFamily="34" charset="0"/>
                <a:ea typeface="Calibri" pitchFamily="34" charset="-122"/>
                <a:cs typeface="Calibri" pitchFamily="34" charset="-120"/>
              </a:rPr>
              <a:t>Answers RQ3</a:t>
            </a:r>
            <a:endParaRPr lang="en-US" sz="1100" dirty="0"/>
          </a:p>
        </p:txBody>
      </p:sp>
      <p:sp>
        <p:nvSpPr>
          <p:cNvPr id="12" name="Shape 10"/>
          <p:cNvSpPr/>
          <p:nvPr/>
        </p:nvSpPr>
        <p:spPr>
          <a:xfrm>
            <a:off x="8138160" y="1965960"/>
            <a:ext cx="3566160" cy="2377440"/>
          </a:xfrm>
          <a:prstGeom prst="roundRect">
            <a:avLst>
              <a:gd name="adj" fmla="val 3077"/>
            </a:avLst>
          </a:prstGeom>
          <a:solidFill>
            <a:srgbClr val="F4F5F9"/>
          </a:solidFill>
          <a:ln w="12700">
            <a:solidFill>
              <a:srgbClr val="E0E0E6"/>
            </a:solidFill>
            <a:prstDash val="solid"/>
          </a:ln>
        </p:spPr>
      </p:sp>
      <p:sp>
        <p:nvSpPr>
          <p:cNvPr id="13" name="Text 11"/>
          <p:cNvSpPr txBox="1"/>
          <p:nvPr/>
        </p:nvSpPr>
        <p:spPr>
          <a:xfrm>
            <a:off x="8366760" y="2167128"/>
            <a:ext cx="3108960" cy="45720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Industrial grounding probe</a:t>
            </a:r>
            <a:endParaRPr lang="en-US" sz="1700" dirty="0"/>
          </a:p>
        </p:txBody>
      </p:sp>
      <p:sp>
        <p:nvSpPr>
          <p:cNvPr id="14" name="Text 12"/>
          <p:cNvSpPr txBox="1"/>
          <p:nvPr/>
        </p:nvSpPr>
        <p:spPr>
          <a:xfrm>
            <a:off x="8366760" y="2651760"/>
            <a:ext cx="3108960" cy="1143000"/>
          </a:xfrm>
          <a:prstGeom prst="rect">
            <a:avLst/>
          </a:prstGeom>
          <a:noFill/>
          <a:ln/>
        </p:spPr>
        <p:txBody>
          <a:bodyPr wrap="square" lIns="0" tIns="0" rIns="0" bIns="0" rtlCol="0" anchor="ctr"/>
          <a:lstStyle/>
          <a:p>
            <a:pPr indent="0" marL="0">
              <a:lnSpc>
                <a:spcPts val="1550"/>
              </a:lnSpc>
              <a:buNone/>
            </a:pPr>
            <a:r>
              <a:rPr lang="en-US" sz="1200" dirty="0">
                <a:solidFill>
                  <a:srgbClr val="1F1F22"/>
                </a:solidFill>
                <a:latin typeface="Calibri" pitchFamily="34" charset="0"/>
                <a:ea typeface="Calibri" pitchFamily="34" charset="-122"/>
                <a:cs typeface="Calibri" pitchFamily="34" charset="-120"/>
              </a:rPr>
              <a:t>6 targets from a real, organically-evolved production system × 3 repetitions × 2 arms (grounded / ungrounded) = 36 assignments.</a:t>
            </a:r>
            <a:endParaRPr lang="en-US" sz="1200" dirty="0"/>
          </a:p>
        </p:txBody>
      </p:sp>
      <p:sp>
        <p:nvSpPr>
          <p:cNvPr id="15" name="Text 13"/>
          <p:cNvSpPr txBox="1"/>
          <p:nvPr/>
        </p:nvSpPr>
        <p:spPr>
          <a:xfrm>
            <a:off x="8366760" y="3886200"/>
            <a:ext cx="3108960" cy="365760"/>
          </a:xfrm>
          <a:prstGeom prst="rect">
            <a:avLst/>
          </a:prstGeom>
          <a:noFill/>
          <a:ln/>
        </p:spPr>
        <p:txBody>
          <a:bodyPr wrap="square" lIns="0" tIns="0" rIns="0" bIns="0" rtlCol="0" anchor="ctr"/>
          <a:lstStyle/>
          <a:p>
            <a:pPr indent="0" marL="0">
              <a:buNone/>
            </a:pPr>
            <a:r>
              <a:rPr lang="en-US" sz="1100" b="1" dirty="0">
                <a:solidFill>
                  <a:srgbClr val="E8562C"/>
                </a:solidFill>
                <a:latin typeface="Calibri" pitchFamily="34" charset="0"/>
                <a:ea typeface="Calibri" pitchFamily="34" charset="-122"/>
                <a:cs typeface="Calibri" pitchFamily="34" charset="-120"/>
              </a:rPr>
              <a:t>A transfer check, descriptive only</a:t>
            </a:r>
            <a:endParaRPr lang="en-US" sz="1100" dirty="0"/>
          </a:p>
        </p:txBody>
      </p:sp>
      <p:sp>
        <p:nvSpPr>
          <p:cNvPr id="16" name="Shape 14"/>
          <p:cNvSpPr/>
          <p:nvPr/>
        </p:nvSpPr>
        <p:spPr>
          <a:xfrm>
            <a:off x="548640" y="4572000"/>
            <a:ext cx="11064240" cy="1417320"/>
          </a:xfrm>
          <a:prstGeom prst="roundRect">
            <a:avLst>
              <a:gd name="adj" fmla="val 5161"/>
            </a:avLst>
          </a:prstGeom>
          <a:solidFill>
            <a:srgbClr val="1E2761"/>
          </a:solidFill>
          <a:ln/>
        </p:spPr>
      </p:sp>
      <p:sp>
        <p:nvSpPr>
          <p:cNvPr id="17" name="Text 15"/>
          <p:cNvSpPr txBox="1"/>
          <p:nvPr/>
        </p:nvSpPr>
        <p:spPr>
          <a:xfrm>
            <a:off x="868680" y="4572000"/>
            <a:ext cx="10424160" cy="1417320"/>
          </a:xfrm>
          <a:prstGeom prst="rect">
            <a:avLst/>
          </a:prstGeom>
          <a:noFill/>
          <a:ln/>
        </p:spPr>
        <p:txBody>
          <a:bodyPr wrap="square" lIns="0" tIns="0" rIns="0" bIns="0" rtlCol="0" anchor="ctr"/>
          <a:lstStyle/>
          <a:p>
            <a:pPr indent="0" marL="0">
              <a:lnSpc>
                <a:spcPts val="1650"/>
              </a:lnSpc>
              <a:buNone/>
            </a:pPr>
            <a:r>
              <a:rPr lang="en-US" sz="1300" b="1" dirty="0">
                <a:solidFill>
                  <a:srgbClr val="F2542D"/>
                </a:solidFill>
                <a:latin typeface="Calibri" pitchFamily="34" charset="0"/>
                <a:ea typeface="Calibri" pitchFamily="34" charset="-122"/>
                <a:cs typeface="Calibri" pitchFamily="34" charset="-120"/>
              </a:rPr>
              <a:t>One shared yardstick: </a:t>
            </a:r>
            <a:pPr indent="0" marL="0">
              <a:lnSpc>
                <a:spcPts val="1650"/>
              </a:lnSpc>
              <a:buNone/>
            </a:pPr>
            <a:r>
              <a:rPr lang="en-US" sz="1300" dirty="0">
                <a:solidFill>
                  <a:srgbClr val="FFFFFF"/>
                </a:solidFill>
                <a:latin typeface="Calibri" pitchFamily="34" charset="0"/>
                <a:ea typeface="Calibri" pitchFamily="34" charset="-122"/>
                <a:cs typeface="Calibri" pitchFamily="34" charset="-120"/>
              </a:rPr>
              <a:t>every assignment across all three studies is scored the same way — strict success means the repaired code builds, the triggering detector condition is resolved, and an independent behavioural oracle still passes. (The context ladder uses a slightly narrower “verified repair” bar — build + detector resolved — defined precisely in a moment.)</a:t>
            </a:r>
            <a:endParaRPr lang="en-US" sz="1300" dirty="0"/>
          </a:p>
        </p:txBody>
      </p:sp>
      <p:sp>
        <p:nvSpPr>
          <p:cNvPr id="18" name="Text 16"/>
          <p:cNvSpPr txBox="1"/>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9B9BA3"/>
                </a:solidFill>
                <a:latin typeface="Calibri" pitchFamily="34" charset="0"/>
                <a:ea typeface="Calibri" pitchFamily="34" charset="-122"/>
                <a:cs typeface="Calibri" pitchFamily="34" charset="-120"/>
              </a:rPr>
              <a:t>Part 2 — Static Analysis + LLMs for Verified Anti-Pattern Repair</a:t>
            </a:r>
            <a:endParaRPr lang="en-US" sz="900" dirty="0"/>
          </a:p>
        </p:txBody>
      </p:sp>
      <p:sp>
        <p:nvSpPr>
          <p:cNvPr id="19" name="Text 17"/>
          <p:cNvSpPr txBox="1"/>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9B9BA3"/>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365760"/>
          </a:xfrm>
          <a:prstGeom prst="rect">
            <a:avLst/>
          </a:prstGeom>
          <a:noFill/>
          <a:ln/>
        </p:spPr>
        <p:txBody>
          <a:bodyPr wrap="square" lIns="0" tIns="0" rIns="0" bIns="0" rtlCol="0" anchor="ctr"/>
          <a:lstStyle/>
          <a:p>
            <a:pPr indent="0" marL="0">
              <a:buNone/>
            </a:pPr>
            <a:r>
              <a:rPr lang="en-US" sz="1300" b="1" spc="200" kern="0" dirty="0">
                <a:solidFill>
                  <a:srgbClr val="E8562C"/>
                </a:solidFill>
                <a:latin typeface="Calibri" pitchFamily="34" charset="0"/>
                <a:ea typeface="Calibri" pitchFamily="34" charset="-122"/>
                <a:cs typeface="Calibri" pitchFamily="34" charset="-120"/>
              </a:rPr>
              <a:t>NARROWING DOWN</a:t>
            </a:r>
            <a:endParaRPr lang="en-US" sz="1300" dirty="0"/>
          </a:p>
        </p:txBody>
      </p:sp>
      <p:sp>
        <p:nvSpPr>
          <p:cNvPr id="3" name="Text 1"/>
          <p:cNvSpPr txBox="1"/>
          <p:nvPr/>
        </p:nvSpPr>
        <p:spPr>
          <a:xfrm>
            <a:off x="548640" y="822960"/>
            <a:ext cx="11064240" cy="9144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Not every anti-pattern is a fair test of “repair”</a:t>
            </a:r>
            <a:endParaRPr lang="en-US" sz="3200" dirty="0"/>
          </a:p>
        </p:txBody>
      </p:sp>
      <p:sp>
        <p:nvSpPr>
          <p:cNvPr id="4" name="Shape 2"/>
          <p:cNvSpPr/>
          <p:nvPr/>
        </p:nvSpPr>
        <p:spPr>
          <a:xfrm>
            <a:off x="548640" y="1901952"/>
            <a:ext cx="146304" cy="146304"/>
          </a:xfrm>
          <a:prstGeom prst="oval">
            <a:avLst/>
          </a:prstGeom>
          <a:solidFill>
            <a:srgbClr val="E8562C"/>
          </a:solidFill>
          <a:ln/>
        </p:spPr>
      </p:sp>
      <p:sp>
        <p:nvSpPr>
          <p:cNvPr id="5" name="Text 3"/>
          <p:cNvSpPr txBox="1"/>
          <p:nvPr/>
        </p:nvSpPr>
        <p:spPr>
          <a:xfrm>
            <a:off x="914400" y="1828800"/>
            <a:ext cx="10515600" cy="365760"/>
          </a:xfrm>
          <a:prstGeom prst="rect">
            <a:avLst/>
          </a:prstGeom>
          <a:noFill/>
          <a:ln/>
        </p:spPr>
        <p:txBody>
          <a:bodyPr wrap="square" lIns="0" tIns="0" rIns="0" bIns="0"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Statement-level smells — too easy, too local</a:t>
            </a:r>
            <a:endParaRPr lang="en-US" sz="1700" dirty="0"/>
          </a:p>
        </p:txBody>
      </p:sp>
      <p:sp>
        <p:nvSpPr>
          <p:cNvPr id="6" name="Text 4"/>
          <p:cNvSpPr txBox="1"/>
          <p:nvPr/>
        </p:nvSpPr>
        <p:spPr>
          <a:xfrm>
            <a:off x="914400" y="2212848"/>
            <a:ext cx="10332720" cy="731520"/>
          </a:xfrm>
          <a:prstGeom prst="rect">
            <a:avLst/>
          </a:prstGeom>
          <a:noFill/>
          <a:ln/>
        </p:spPr>
        <p:txBody>
          <a:bodyPr wrap="square" lIns="0" tIns="0" rIns="0" bIns="0" rtlCol="0" anchor="ctr"/>
          <a:lstStyle/>
          <a:p>
            <a:pPr indent="0" marL="0">
              <a:lnSpc>
                <a:spcPts val="1800"/>
              </a:lnSpc>
              <a:buNone/>
            </a:pPr>
            <a:r>
              <a:rPr lang="en-US" sz="1400" dirty="0">
                <a:solidFill>
                  <a:srgbClr val="55555C"/>
                </a:solidFill>
                <a:latin typeface="Calibri" pitchFamily="34" charset="0"/>
                <a:ea typeface="Calibri" pitchFamily="34" charset="-122"/>
                <a:cs typeface="Calibri" pitchFamily="34" charset="-120"/>
              </a:rPr>
              <a:t>Duplicated code, data clumps, long parameter lists: cheap to detect and fix, but a local rewrite doesn't say much about whether a repair pipeline actually works.</a:t>
            </a:r>
            <a:endParaRPr lang="en-US" sz="1400" dirty="0"/>
          </a:p>
        </p:txBody>
      </p:sp>
      <p:sp>
        <p:nvSpPr>
          <p:cNvPr id="7" name="Shape 5"/>
          <p:cNvSpPr/>
          <p:nvPr/>
        </p:nvSpPr>
        <p:spPr>
          <a:xfrm>
            <a:off x="548640" y="3090672"/>
            <a:ext cx="146304" cy="146304"/>
          </a:xfrm>
          <a:prstGeom prst="oval">
            <a:avLst/>
          </a:prstGeom>
          <a:solidFill>
            <a:srgbClr val="E8562C"/>
          </a:solidFill>
          <a:ln/>
        </p:spPr>
      </p:sp>
      <p:sp>
        <p:nvSpPr>
          <p:cNvPr id="8" name="Text 6"/>
          <p:cNvSpPr txBox="1"/>
          <p:nvPr/>
        </p:nvSpPr>
        <p:spPr>
          <a:xfrm>
            <a:off x="914400" y="3017520"/>
            <a:ext cx="10515600" cy="365760"/>
          </a:xfrm>
          <a:prstGeom prst="rect">
            <a:avLst/>
          </a:prstGeom>
          <a:noFill/>
          <a:ln/>
        </p:spPr>
        <p:txBody>
          <a:bodyPr wrap="square" lIns="0" tIns="0" rIns="0" bIns="0"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Architecture-level smells — too global</a:t>
            </a:r>
            <a:endParaRPr lang="en-US" sz="1700" dirty="0"/>
          </a:p>
        </p:txBody>
      </p:sp>
      <p:sp>
        <p:nvSpPr>
          <p:cNvPr id="9" name="Text 7"/>
          <p:cNvSpPr txBox="1"/>
          <p:nvPr/>
        </p:nvSpPr>
        <p:spPr>
          <a:xfrm>
            <a:off x="914400" y="3401568"/>
            <a:ext cx="10332720" cy="731520"/>
          </a:xfrm>
          <a:prstGeom prst="rect">
            <a:avLst/>
          </a:prstGeom>
          <a:noFill/>
          <a:ln/>
        </p:spPr>
        <p:txBody>
          <a:bodyPr wrap="square" lIns="0" tIns="0" rIns="0" bIns="0" rtlCol="0" anchor="ctr"/>
          <a:lstStyle/>
          <a:p>
            <a:pPr indent="0" marL="0">
              <a:lnSpc>
                <a:spcPts val="1800"/>
              </a:lnSpc>
              <a:buNone/>
            </a:pPr>
            <a:r>
              <a:rPr lang="en-US" sz="1400" dirty="0">
                <a:solidFill>
                  <a:srgbClr val="55555C"/>
                </a:solidFill>
                <a:latin typeface="Calibri" pitchFamily="34" charset="0"/>
                <a:ea typeface="Calibri" pitchFamily="34" charset="-122"/>
                <a:cs typeface="Calibri" pitchFamily="34" charset="-120"/>
              </a:rPr>
              <a:t>Cyclic dependencies, hub-like packages: these live in the whole module graph. An instance can't be planted or confirmed from one file, and a real repair changes module boundaries, not a local edit.</a:t>
            </a:r>
            <a:endParaRPr lang="en-US" sz="1400" dirty="0"/>
          </a:p>
        </p:txBody>
      </p:sp>
      <p:sp>
        <p:nvSpPr>
          <p:cNvPr id="10" name="Shape 8"/>
          <p:cNvSpPr/>
          <p:nvPr/>
        </p:nvSpPr>
        <p:spPr>
          <a:xfrm>
            <a:off x="548640" y="4279392"/>
            <a:ext cx="146304" cy="146304"/>
          </a:xfrm>
          <a:prstGeom prst="oval">
            <a:avLst/>
          </a:prstGeom>
          <a:solidFill>
            <a:srgbClr val="E8562C"/>
          </a:solidFill>
          <a:ln/>
        </p:spPr>
      </p:sp>
      <p:sp>
        <p:nvSpPr>
          <p:cNvPr id="11" name="Text 9"/>
          <p:cNvSpPr txBox="1"/>
          <p:nvPr/>
        </p:nvSpPr>
        <p:spPr>
          <a:xfrm>
            <a:off x="914400" y="4206240"/>
            <a:ext cx="10515600" cy="365760"/>
          </a:xfrm>
          <a:prstGeom prst="rect">
            <a:avLst/>
          </a:prstGeom>
          <a:noFill/>
          <a:ln/>
        </p:spPr>
        <p:txBody>
          <a:bodyPr wrap="square" lIns="0" tIns="0" rIns="0" bIns="0" rtlCol="0" anchor="ctr"/>
          <a:lstStyle/>
          <a:p>
            <a:pPr indent="0" marL="0">
              <a:buNone/>
            </a:pPr>
            <a:r>
              <a:rPr lang="en-US" sz="1700" b="1" dirty="0">
                <a:solidFill>
                  <a:srgbClr val="1E2761"/>
                </a:solidFill>
                <a:latin typeface="Calibri" pitchFamily="34" charset="0"/>
                <a:ea typeface="Calibri" pitchFamily="34" charset="-122"/>
                <a:cs typeface="Calibri" pitchFamily="34" charset="-120"/>
              </a:rPr>
              <a:t>Process-level anti-patterns — out of reach</a:t>
            </a:r>
            <a:endParaRPr lang="en-US" sz="1700" dirty="0"/>
          </a:p>
        </p:txBody>
      </p:sp>
      <p:sp>
        <p:nvSpPr>
          <p:cNvPr id="12" name="Text 10"/>
          <p:cNvSpPr txBox="1"/>
          <p:nvPr/>
        </p:nvSpPr>
        <p:spPr>
          <a:xfrm>
            <a:off x="914400" y="4590288"/>
            <a:ext cx="10332720" cy="731520"/>
          </a:xfrm>
          <a:prstGeom prst="rect">
            <a:avLst/>
          </a:prstGeom>
          <a:noFill/>
          <a:ln/>
        </p:spPr>
        <p:txBody>
          <a:bodyPr wrap="square" lIns="0" tIns="0" rIns="0" bIns="0" rtlCol="0" anchor="ctr"/>
          <a:lstStyle/>
          <a:p>
            <a:pPr indent="0" marL="0">
              <a:lnSpc>
                <a:spcPts val="1800"/>
              </a:lnSpc>
              <a:buNone/>
            </a:pPr>
            <a:r>
              <a:rPr lang="en-US" sz="1400" dirty="0">
                <a:solidFill>
                  <a:srgbClr val="55555C"/>
                </a:solidFill>
                <a:latin typeface="Calibri" pitchFamily="34" charset="0"/>
                <a:ea typeface="Calibri" pitchFamily="34" charset="-122"/>
                <a:cs typeface="Calibri" pitchFamily="34" charset="-120"/>
              </a:rPr>
              <a:t>Vendor lock-in and similar: not present in source at all. Entirely outside what static analysis, or an LLM editing a file, can address.</a:t>
            </a:r>
            <a:endParaRPr lang="en-US" sz="1400" dirty="0"/>
          </a:p>
        </p:txBody>
      </p:sp>
      <p:sp>
        <p:nvSpPr>
          <p:cNvPr id="13" name="Shape 11"/>
          <p:cNvSpPr/>
          <p:nvPr/>
        </p:nvSpPr>
        <p:spPr>
          <a:xfrm>
            <a:off x="548640" y="5486400"/>
            <a:ext cx="11064240" cy="685800"/>
          </a:xfrm>
          <a:prstGeom prst="roundRect">
            <a:avLst>
              <a:gd name="adj" fmla="val 10667"/>
            </a:avLst>
          </a:prstGeom>
          <a:solidFill>
            <a:srgbClr val="1E2761"/>
          </a:solidFill>
          <a:ln/>
        </p:spPr>
      </p:sp>
      <p:sp>
        <p:nvSpPr>
          <p:cNvPr id="14" name="Text 12"/>
          <p:cNvSpPr txBox="1"/>
          <p:nvPr/>
        </p:nvSpPr>
        <p:spPr>
          <a:xfrm>
            <a:off x="868680" y="5486400"/>
            <a:ext cx="10424160" cy="685800"/>
          </a:xfrm>
          <a:prstGeom prst="rect">
            <a:avLst/>
          </a:prstGeom>
          <a:noFill/>
          <a:ln/>
        </p:spPr>
        <p:txBody>
          <a:bodyPr wrap="square" lIns="0" tIns="0" rIns="0" bIns="0" rtlCol="0" anchor="ctr"/>
          <a:lstStyle/>
          <a:p>
            <a:pPr indent="0" marL="0">
              <a:lnSpc>
                <a:spcPts val="1800"/>
              </a:lnSpc>
              <a:buNone/>
            </a:pPr>
            <a:r>
              <a:rPr lang="en-US" sz="1400" dirty="0">
                <a:solidFill>
                  <a:srgbClr val="FFFFFF"/>
                </a:solidFill>
                <a:latin typeface="Calibri" pitchFamily="34" charset="0"/>
                <a:ea typeface="Calibri" pitchFamily="34" charset="-122"/>
                <a:cs typeface="Calibri" pitchFamily="34" charset="-120"/>
              </a:rPr>
              <a:t>What's left: class/method-design smells — each instance is a single declaration, detectable from one file, and re-measurable after a local edit.</a:t>
            </a:r>
            <a:endParaRPr lang="en-US" sz="1400" dirty="0"/>
          </a:p>
        </p:txBody>
      </p:sp>
      <p:sp>
        <p:nvSpPr>
          <p:cNvPr id="15" name="Text 13"/>
          <p:cNvSpPr txBox="1"/>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9B9BA3"/>
                </a:solidFill>
                <a:latin typeface="Calibri" pitchFamily="34" charset="0"/>
                <a:ea typeface="Calibri" pitchFamily="34" charset="-122"/>
                <a:cs typeface="Calibri" pitchFamily="34" charset="-120"/>
              </a:rPr>
              <a:t>Part 2 — Static Analysis + LLMs for Verified Anti-Pattern Repair</a:t>
            </a:r>
            <a:endParaRPr lang="en-US" sz="900" dirty="0"/>
          </a:p>
        </p:txBody>
      </p:sp>
      <p:sp>
        <p:nvSpPr>
          <p:cNvPr id="16" name="Text 14"/>
          <p:cNvSpPr txBox="1"/>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9B9BA3"/>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365760"/>
          </a:xfrm>
          <a:prstGeom prst="rect">
            <a:avLst/>
          </a:prstGeom>
          <a:noFill/>
          <a:ln/>
        </p:spPr>
        <p:txBody>
          <a:bodyPr wrap="square" lIns="0" tIns="0" rIns="0" bIns="0" rtlCol="0" anchor="ctr"/>
          <a:lstStyle/>
          <a:p>
            <a:pPr indent="0" marL="0">
              <a:buNone/>
            </a:pPr>
            <a:r>
              <a:rPr lang="en-US" sz="1300" b="1" spc="200" kern="0" dirty="0">
                <a:solidFill>
                  <a:srgbClr val="E8562C"/>
                </a:solidFill>
                <a:latin typeface="Calibri" pitchFamily="34" charset="0"/>
                <a:ea typeface="Calibri" pitchFamily="34" charset="-122"/>
                <a:cs typeface="Calibri" pitchFamily="34" charset="-120"/>
              </a:rPr>
              <a:t>NARROWING DOWN</a:t>
            </a:r>
            <a:endParaRPr lang="en-US" sz="1300" dirty="0"/>
          </a:p>
        </p:txBody>
      </p:sp>
      <p:sp>
        <p:nvSpPr>
          <p:cNvPr id="3" name="Text 1"/>
          <p:cNvSpPr txBox="1"/>
          <p:nvPr/>
        </p:nvSpPr>
        <p:spPr>
          <a:xfrm>
            <a:off x="548640" y="822960"/>
            <a:ext cx="11064240" cy="9144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God Class, Long Method — and Obsolete API Usage as a contrast</a:t>
            </a:r>
            <a:endParaRPr lang="en-US" sz="3200" dirty="0"/>
          </a:p>
        </p:txBody>
      </p:sp>
      <p:sp>
        <p:nvSpPr>
          <p:cNvPr id="4" name="Shape 2"/>
          <p:cNvSpPr/>
          <p:nvPr/>
        </p:nvSpPr>
        <p:spPr>
          <a:xfrm>
            <a:off x="548640" y="1965960"/>
            <a:ext cx="3566160" cy="2331720"/>
          </a:xfrm>
          <a:prstGeom prst="roundRect">
            <a:avLst>
              <a:gd name="adj" fmla="val 3137"/>
            </a:avLst>
          </a:prstGeom>
          <a:solidFill>
            <a:srgbClr val="F4F5F9"/>
          </a:solidFill>
          <a:ln w="12700">
            <a:solidFill>
              <a:srgbClr val="E0E0E6"/>
            </a:solidFill>
            <a:prstDash val="solid"/>
          </a:ln>
        </p:spPr>
      </p:sp>
      <p:sp>
        <p:nvSpPr>
          <p:cNvPr id="5" name="Text 3"/>
          <p:cNvSpPr txBox="1"/>
          <p:nvPr/>
        </p:nvSpPr>
        <p:spPr>
          <a:xfrm>
            <a:off x="777240" y="2167128"/>
            <a:ext cx="3108960" cy="45720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God Class</a:t>
            </a:r>
            <a:endParaRPr lang="en-US" sz="1800" dirty="0"/>
          </a:p>
        </p:txBody>
      </p:sp>
      <p:sp>
        <p:nvSpPr>
          <p:cNvPr id="6" name="Text 4"/>
          <p:cNvSpPr txBox="1"/>
          <p:nvPr/>
        </p:nvSpPr>
        <p:spPr>
          <a:xfrm>
            <a:off x="777240" y="2679192"/>
            <a:ext cx="3108960" cy="1417320"/>
          </a:xfrm>
          <a:prstGeom prst="rect">
            <a:avLst/>
          </a:prstGeom>
          <a:noFill/>
          <a:ln/>
        </p:spPr>
        <p:txBody>
          <a:bodyPr wrap="square" lIns="0" tIns="0" rIns="0" bIns="0" rtlCol="0" anchor="ctr"/>
          <a:lstStyle/>
          <a:p>
            <a:pPr indent="0" marL="0">
              <a:lnSpc>
                <a:spcPts val="1650"/>
              </a:lnSpc>
              <a:buNone/>
            </a:pPr>
            <a:r>
              <a:rPr lang="en-US" sz="1250" dirty="0">
                <a:solidFill>
                  <a:srgbClr val="1F1F22"/>
                </a:solidFill>
                <a:latin typeface="Calibri" pitchFamily="34" charset="0"/>
                <a:ea typeface="Calibri" pitchFamily="34" charset="-122"/>
                <a:cs typeface="Calibri" pitchFamily="34" charset="-120"/>
              </a:rPr>
              <a:t>Design-level. Maps to modularity &amp; understandability (ISO/IEC 25010). Detected via cohesion &amp; complexity metrics (ATFD, WMC, TCC).</a:t>
            </a:r>
            <a:endParaRPr lang="en-US" sz="1250" dirty="0"/>
          </a:p>
        </p:txBody>
      </p:sp>
      <p:sp>
        <p:nvSpPr>
          <p:cNvPr id="7" name="Shape 5"/>
          <p:cNvSpPr/>
          <p:nvPr/>
        </p:nvSpPr>
        <p:spPr>
          <a:xfrm>
            <a:off x="4343400" y="1965960"/>
            <a:ext cx="3566160" cy="2331720"/>
          </a:xfrm>
          <a:prstGeom prst="roundRect">
            <a:avLst>
              <a:gd name="adj" fmla="val 3137"/>
            </a:avLst>
          </a:prstGeom>
          <a:solidFill>
            <a:srgbClr val="F4F5F9"/>
          </a:solidFill>
          <a:ln w="12700">
            <a:solidFill>
              <a:srgbClr val="E0E0E6"/>
            </a:solidFill>
            <a:prstDash val="solid"/>
          </a:ln>
        </p:spPr>
      </p:sp>
      <p:sp>
        <p:nvSpPr>
          <p:cNvPr id="8" name="Text 6"/>
          <p:cNvSpPr txBox="1"/>
          <p:nvPr/>
        </p:nvSpPr>
        <p:spPr>
          <a:xfrm>
            <a:off x="4572000" y="2167128"/>
            <a:ext cx="3108960" cy="45720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Long Method</a:t>
            </a:r>
            <a:endParaRPr lang="en-US" sz="1800" dirty="0"/>
          </a:p>
        </p:txBody>
      </p:sp>
      <p:sp>
        <p:nvSpPr>
          <p:cNvPr id="9" name="Text 7"/>
          <p:cNvSpPr txBox="1"/>
          <p:nvPr/>
        </p:nvSpPr>
        <p:spPr>
          <a:xfrm>
            <a:off x="4572000" y="2679192"/>
            <a:ext cx="3108960" cy="1417320"/>
          </a:xfrm>
          <a:prstGeom prst="rect">
            <a:avLst/>
          </a:prstGeom>
          <a:noFill/>
          <a:ln/>
        </p:spPr>
        <p:txBody>
          <a:bodyPr wrap="square" lIns="0" tIns="0" rIns="0" bIns="0" rtlCol="0" anchor="ctr"/>
          <a:lstStyle/>
          <a:p>
            <a:pPr indent="0" marL="0">
              <a:lnSpc>
                <a:spcPts val="1650"/>
              </a:lnSpc>
              <a:buNone/>
            </a:pPr>
            <a:r>
              <a:rPr lang="en-US" sz="1250" dirty="0">
                <a:solidFill>
                  <a:srgbClr val="1F1F22"/>
                </a:solidFill>
                <a:latin typeface="Calibri" pitchFamily="34" charset="0"/>
                <a:ea typeface="Calibri" pitchFamily="34" charset="-122"/>
                <a:cs typeface="Calibri" pitchFamily="34" charset="-120"/>
              </a:rPr>
              <a:t>Design-level. Maps to analysability &amp; testability. Detected via cyclomatic complexity — the most established of the three thresholds.</a:t>
            </a:r>
            <a:endParaRPr lang="en-US" sz="1250" dirty="0"/>
          </a:p>
        </p:txBody>
      </p:sp>
      <p:sp>
        <p:nvSpPr>
          <p:cNvPr id="10" name="Shape 8"/>
          <p:cNvSpPr/>
          <p:nvPr/>
        </p:nvSpPr>
        <p:spPr>
          <a:xfrm>
            <a:off x="8138160" y="1965960"/>
            <a:ext cx="3566160" cy="2331720"/>
          </a:xfrm>
          <a:prstGeom prst="roundRect">
            <a:avLst>
              <a:gd name="adj" fmla="val 3137"/>
            </a:avLst>
          </a:prstGeom>
          <a:solidFill>
            <a:srgbClr val="F4F5F9"/>
          </a:solidFill>
          <a:ln w="12700">
            <a:solidFill>
              <a:srgbClr val="E0E0E6"/>
            </a:solidFill>
            <a:prstDash val="solid"/>
          </a:ln>
        </p:spPr>
      </p:sp>
      <p:sp>
        <p:nvSpPr>
          <p:cNvPr id="11" name="Text 9"/>
          <p:cNvSpPr txBox="1"/>
          <p:nvPr/>
        </p:nvSpPr>
        <p:spPr>
          <a:xfrm>
            <a:off x="8366760" y="2167128"/>
            <a:ext cx="3108960" cy="457200"/>
          </a:xfrm>
          <a:prstGeom prst="rect">
            <a:avLst/>
          </a:prstGeom>
          <a:noFill/>
          <a:ln/>
        </p:spPr>
        <p:txBody>
          <a:bodyPr wrap="square" lIns="0" tIns="0" rIns="0" bIns="0"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Obsolete API Usage</a:t>
            </a:r>
            <a:endParaRPr lang="en-US" sz="1800" dirty="0"/>
          </a:p>
        </p:txBody>
      </p:sp>
      <p:sp>
        <p:nvSpPr>
          <p:cNvPr id="12" name="Text 10"/>
          <p:cNvSpPr txBox="1"/>
          <p:nvPr/>
        </p:nvSpPr>
        <p:spPr>
          <a:xfrm>
            <a:off x="8366760" y="2679192"/>
            <a:ext cx="3108960" cy="1417320"/>
          </a:xfrm>
          <a:prstGeom prst="rect">
            <a:avLst/>
          </a:prstGeom>
          <a:noFill/>
          <a:ln/>
        </p:spPr>
        <p:txBody>
          <a:bodyPr wrap="square" lIns="0" tIns="0" rIns="0" bIns="0" rtlCol="0" anchor="ctr"/>
          <a:lstStyle/>
          <a:p>
            <a:pPr indent="0" marL="0">
              <a:lnSpc>
                <a:spcPts val="1650"/>
              </a:lnSpc>
              <a:buNone/>
            </a:pPr>
            <a:r>
              <a:rPr lang="en-US" sz="1250" dirty="0">
                <a:solidFill>
                  <a:srgbClr val="1F1F22"/>
                </a:solidFill>
                <a:latin typeface="Calibri" pitchFamily="34" charset="0"/>
                <a:ea typeface="Calibri" pitchFamily="34" charset="-122"/>
                <a:cs typeface="Calibri" pitchFamily="34" charset="-120"/>
              </a:rPr>
              <a:t>Deliberate contrast: detected via an explicit [Obsolete] marker, not a metric threshold. Repair is a migration, not a restructuring.</a:t>
            </a:r>
            <a:endParaRPr lang="en-US" sz="1250" dirty="0"/>
          </a:p>
        </p:txBody>
      </p:sp>
      <p:sp>
        <p:nvSpPr>
          <p:cNvPr id="13" name="Text 11"/>
          <p:cNvSpPr txBox="1"/>
          <p:nvPr/>
        </p:nvSpPr>
        <p:spPr>
          <a:xfrm>
            <a:off x="548640" y="4434840"/>
            <a:ext cx="11064240" cy="685800"/>
          </a:xfrm>
          <a:prstGeom prst="rect">
            <a:avLst/>
          </a:prstGeom>
          <a:noFill/>
          <a:ln/>
        </p:spPr>
        <p:txBody>
          <a:bodyPr wrap="square" lIns="0" tIns="0" rIns="0" bIns="0" rtlCol="0" anchor="ctr"/>
          <a:lstStyle/>
          <a:p>
            <a:pPr indent="0" marL="0">
              <a:lnSpc>
                <a:spcPts val="1750"/>
              </a:lnSpc>
              <a:buNone/>
            </a:pPr>
            <a:r>
              <a:rPr lang="en-US" sz="1350" dirty="0">
                <a:solidFill>
                  <a:srgbClr val="1F1F22"/>
                </a:solidFill>
                <a:latin typeface="Calibri" pitchFamily="34" charset="0"/>
                <a:ea typeface="Calibri" pitchFamily="34" charset="-122"/>
                <a:cs typeface="Calibri" pitchFamily="34" charset="-120"/>
              </a:rPr>
              <a:t>Both God Class and Long Method are declaration-level and directly comparable; Obsolete API Usage is kept precisely because it differs — a different detection mechanism and a different kind of repair, to test whether the pipeline's findings generalise beyond one style of anti-pattern.</a:t>
            </a:r>
            <a:endParaRPr lang="en-US" sz="1350" dirty="0"/>
          </a:p>
        </p:txBody>
      </p:sp>
      <p:sp>
        <p:nvSpPr>
          <p:cNvPr id="14" name="Shape 12"/>
          <p:cNvSpPr/>
          <p:nvPr/>
        </p:nvSpPr>
        <p:spPr>
          <a:xfrm>
            <a:off x="548640" y="5257800"/>
            <a:ext cx="11064240" cy="868680"/>
          </a:xfrm>
          <a:prstGeom prst="roundRect">
            <a:avLst>
              <a:gd name="adj" fmla="val 8421"/>
            </a:avLst>
          </a:prstGeom>
          <a:solidFill>
            <a:srgbClr val="F4F5F9"/>
          </a:solidFill>
          <a:ln w="12700">
            <a:solidFill>
              <a:srgbClr val="E0E0E6"/>
            </a:solidFill>
            <a:prstDash val="solid"/>
          </a:ln>
        </p:spPr>
      </p:sp>
      <p:sp>
        <p:nvSpPr>
          <p:cNvPr id="15" name="Text 13"/>
          <p:cNvSpPr txBox="1"/>
          <p:nvPr/>
        </p:nvSpPr>
        <p:spPr>
          <a:xfrm>
            <a:off x="822960" y="5257800"/>
            <a:ext cx="10515600" cy="868680"/>
          </a:xfrm>
          <a:prstGeom prst="rect">
            <a:avLst/>
          </a:prstGeom>
          <a:noFill/>
          <a:ln/>
        </p:spPr>
        <p:txBody>
          <a:bodyPr wrap="square" lIns="0" tIns="0" rIns="0" bIns="0" rtlCol="0" anchor="ctr"/>
          <a:lstStyle/>
          <a:p>
            <a:pPr indent="0" marL="0">
              <a:lnSpc>
                <a:spcPts val="1600"/>
              </a:lnSpc>
              <a:buNone/>
            </a:pPr>
            <a:r>
              <a:rPr lang="en-US" sz="1250" b="1" dirty="0">
                <a:solidFill>
                  <a:srgbClr val="E8562C"/>
                </a:solidFill>
                <a:latin typeface="Calibri" pitchFamily="34" charset="0"/>
                <a:ea typeface="Calibri" pitchFamily="34" charset="-122"/>
                <a:cs typeface="Calibri" pitchFamily="34" charset="-120"/>
              </a:rPr>
              <a:t>Left out on purpose: </a:t>
            </a:r>
            <a:pPr indent="0" marL="0">
              <a:lnSpc>
                <a:spcPts val="1600"/>
              </a:lnSpc>
              <a:buNone/>
            </a:pPr>
            <a:r>
              <a:rPr lang="en-US" sz="1250" dirty="0">
                <a:solidFill>
                  <a:srgbClr val="1F1F22"/>
                </a:solidFill>
                <a:latin typeface="Calibri" pitchFamily="34" charset="0"/>
                <a:ea typeface="Calibri" pitchFamily="34" charset="-122"/>
                <a:cs typeface="Calibri" pitchFamily="34" charset="-120"/>
              </a:rPr>
              <a:t>Feature Envy sits at the same design level, but its usual repair (move method) crosses class boundaries — which would interfere with the local, single-file remeasurement the pipeline relies on. Kept out to keep the detector set small and the comparisons clean.</a:t>
            </a:r>
            <a:endParaRPr lang="en-US" sz="1250" dirty="0"/>
          </a:p>
        </p:txBody>
      </p:sp>
      <p:sp>
        <p:nvSpPr>
          <p:cNvPr id="16" name="Text 14"/>
          <p:cNvSpPr txBox="1"/>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9B9BA3"/>
                </a:solidFill>
                <a:latin typeface="Calibri" pitchFamily="34" charset="0"/>
                <a:ea typeface="Calibri" pitchFamily="34" charset="-122"/>
                <a:cs typeface="Calibri" pitchFamily="34" charset="-120"/>
              </a:rPr>
              <a:t>Part 2 — Static Analysis + LLMs for Verified Anti-Pattern Repair</a:t>
            </a:r>
            <a:endParaRPr lang="en-US" sz="900" dirty="0"/>
          </a:p>
        </p:txBody>
      </p:sp>
      <p:sp>
        <p:nvSpPr>
          <p:cNvPr id="17" name="Text 15"/>
          <p:cNvSpPr txBox="1"/>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9B9BA3"/>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365760"/>
          </a:xfrm>
          <a:prstGeom prst="rect">
            <a:avLst/>
          </a:prstGeom>
          <a:noFill/>
          <a:ln/>
        </p:spPr>
        <p:txBody>
          <a:bodyPr wrap="square" lIns="0" tIns="0" rIns="0" bIns="0" rtlCol="0" anchor="ctr"/>
          <a:lstStyle/>
          <a:p>
            <a:pPr indent="0" marL="0">
              <a:buNone/>
            </a:pPr>
            <a:r>
              <a:rPr lang="en-US" sz="1300" b="1" spc="200" kern="0" dirty="0">
                <a:solidFill>
                  <a:srgbClr val="E8562C"/>
                </a:solidFill>
                <a:latin typeface="Calibri" pitchFamily="34" charset="0"/>
                <a:ea typeface="Calibri" pitchFamily="34" charset="-122"/>
                <a:cs typeface="Calibri" pitchFamily="34" charset="-120"/>
              </a:rPr>
              <a:t>CONCRETELY: OBSOLETE API USAGE</a:t>
            </a:r>
            <a:endParaRPr lang="en-US" sz="1300" dirty="0"/>
          </a:p>
        </p:txBody>
      </p:sp>
      <p:sp>
        <p:nvSpPr>
          <p:cNvPr id="3" name="Text 1"/>
          <p:cNvSpPr txBox="1"/>
          <p:nvPr/>
        </p:nvSpPr>
        <p:spPr>
          <a:xfrm>
            <a:off x="548640" y="822960"/>
            <a:ext cx="11064240" cy="9144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One deprecated API call. Two ways to “fix” it.</a:t>
            </a:r>
            <a:endParaRPr lang="en-US" sz="3200" dirty="0"/>
          </a:p>
        </p:txBody>
      </p:sp>
      <p:sp>
        <p:nvSpPr>
          <p:cNvPr id="4" name="Shape 2"/>
          <p:cNvSpPr/>
          <p:nvPr/>
        </p:nvSpPr>
        <p:spPr>
          <a:xfrm>
            <a:off x="548640" y="1965960"/>
            <a:ext cx="5349240" cy="2651760"/>
          </a:xfrm>
          <a:prstGeom prst="roundRect">
            <a:avLst>
              <a:gd name="adj" fmla="val 2759"/>
            </a:avLst>
          </a:prstGeom>
          <a:solidFill>
            <a:srgbClr val="F4F5F9"/>
          </a:solidFill>
          <a:ln w="12700">
            <a:solidFill>
              <a:srgbClr val="E0E0E6"/>
            </a:solidFill>
            <a:prstDash val="solid"/>
          </a:ln>
        </p:spPr>
      </p:sp>
      <p:sp>
        <p:nvSpPr>
          <p:cNvPr id="5" name="Text 3"/>
          <p:cNvSpPr txBox="1"/>
          <p:nvPr/>
        </p:nvSpPr>
        <p:spPr>
          <a:xfrm>
            <a:off x="777240" y="2103120"/>
            <a:ext cx="4892040" cy="320040"/>
          </a:xfrm>
          <a:prstGeom prst="rect">
            <a:avLst/>
          </a:prstGeom>
          <a:noFill/>
          <a:ln/>
        </p:spPr>
        <p:txBody>
          <a:bodyPr wrap="square" lIns="0" tIns="0" rIns="0" bIns="0" rtlCol="0" anchor="ctr"/>
          <a:lstStyle/>
          <a:p>
            <a:pPr indent="0" marL="0">
              <a:buNone/>
            </a:pPr>
            <a:r>
              <a:rPr lang="en-US" sz="1200" b="1" dirty="0">
                <a:solidFill>
                  <a:srgbClr val="55555C"/>
                </a:solidFill>
                <a:latin typeface="Calibri" pitchFamily="34" charset="0"/>
                <a:ea typeface="Calibri" pitchFamily="34" charset="-122"/>
                <a:cs typeface="Calibri" pitchFamily="34" charset="-120"/>
              </a:rPr>
              <a:t>BEFORE — deprecated call</a:t>
            </a:r>
            <a:endParaRPr lang="en-US" sz="1200" dirty="0"/>
          </a:p>
        </p:txBody>
      </p:sp>
      <p:sp>
        <p:nvSpPr>
          <p:cNvPr id="6" name="Text 4"/>
          <p:cNvSpPr txBox="1"/>
          <p:nvPr/>
        </p:nvSpPr>
        <p:spPr>
          <a:xfrm>
            <a:off x="777240" y="2468880"/>
            <a:ext cx="4892040" cy="1965960"/>
          </a:xfrm>
          <a:prstGeom prst="rect">
            <a:avLst/>
          </a:prstGeom>
          <a:noFill/>
          <a:ln/>
        </p:spPr>
        <p:txBody>
          <a:bodyPr wrap="square" lIns="0" tIns="0" rIns="0" bIns="0" rtlCol="0" anchor="ctr"/>
          <a:lstStyle/>
          <a:p>
            <a:pPr indent="0" marL="0">
              <a:lnSpc>
                <a:spcPts val="1700"/>
              </a:lnSpc>
              <a:buNone/>
            </a:pPr>
            <a:r>
              <a:rPr lang="en-US" sz="1250" dirty="0">
                <a:solidFill>
                  <a:srgbClr val="1F1F22"/>
                </a:solidFill>
                <a:latin typeface="Courier New" pitchFamily="34" charset="0"/>
                <a:ea typeface="Courier New" pitchFamily="34" charset="-122"/>
                <a:cs typeface="Courier New" pitchFamily="34" charset="-120"/>
              </a:rPr>
              <a:t>public bool SendSms(Message message)</a:t>
            </a:r>
            <a:endParaRPr lang="en-US" sz="1250" dirty="0"/>
          </a:p>
          <a:p>
            <a:pPr indent="0" marL="0">
              <a:lnSpc>
                <a:spcPts val="1700"/>
              </a:lnSpc>
              <a:buNone/>
            </a:pPr>
            <a:r>
              <a:rPr lang="en-US" sz="1250" dirty="0">
                <a:solidFill>
                  <a:srgbClr val="1F1F22"/>
                </a:solidFill>
                <a:latin typeface="Courier New" pitchFamily="34" charset="0"/>
                <a:ea typeface="Courier New" pitchFamily="34" charset="-122"/>
                <a:cs typeface="Courier New" pitchFamily="34" charset="-120"/>
              </a:rPr>
              <a:t>{</a:t>
            </a:r>
            <a:endParaRPr lang="en-US" sz="1250" dirty="0"/>
          </a:p>
          <a:p>
            <a:pPr indent="0" marL="0">
              <a:lnSpc>
                <a:spcPts val="1700"/>
              </a:lnSpc>
              <a:buNone/>
            </a:pPr>
            <a:r>
              <a:rPr lang="en-US" sz="1250" dirty="0">
                <a:solidFill>
                  <a:srgbClr val="1F1F22"/>
                </a:solidFill>
                <a:latin typeface="Courier New" pitchFamily="34" charset="0"/>
                <a:ea typeface="Courier New" pitchFamily="34" charset="-122"/>
                <a:cs typeface="Courier New" pitchFamily="34" charset="-120"/>
              </a:rPr>
              <a:t>    return SmsApiV1.Send(</a:t>
            </a:r>
            <a:endParaRPr lang="en-US" sz="1250" dirty="0"/>
          </a:p>
          <a:p>
            <a:pPr indent="0" marL="0">
              <a:lnSpc>
                <a:spcPts val="1700"/>
              </a:lnSpc>
              <a:buNone/>
            </a:pPr>
            <a:r>
              <a:rPr lang="en-US" sz="1250" dirty="0">
                <a:solidFill>
                  <a:srgbClr val="1F1F22"/>
                </a:solidFill>
                <a:latin typeface="Courier New" pitchFamily="34" charset="0"/>
                <a:ea typeface="Courier New" pitchFamily="34" charset="-122"/>
                <a:cs typeface="Courier New" pitchFamily="34" charset="-120"/>
              </a:rPr>
              <a:t>        message.Recipient.Phone,</a:t>
            </a:r>
            <a:endParaRPr lang="en-US" sz="1250" dirty="0"/>
          </a:p>
          <a:p>
            <a:pPr indent="0" marL="0">
              <a:lnSpc>
                <a:spcPts val="1700"/>
              </a:lnSpc>
              <a:buNone/>
            </a:pPr>
            <a:r>
              <a:rPr lang="en-US" sz="1250" dirty="0">
                <a:solidFill>
                  <a:srgbClr val="1F1F22"/>
                </a:solidFill>
                <a:latin typeface="Courier New" pitchFamily="34" charset="0"/>
                <a:ea typeface="Courier New" pitchFamily="34" charset="-122"/>
                <a:cs typeface="Courier New" pitchFamily="34" charset="-120"/>
              </a:rPr>
              <a:t>        message.Body);</a:t>
            </a:r>
            <a:endParaRPr lang="en-US" sz="1250" dirty="0"/>
          </a:p>
          <a:p>
            <a:pPr indent="0" marL="0">
              <a:lnSpc>
                <a:spcPts val="1700"/>
              </a:lnSpc>
              <a:buNone/>
            </a:pPr>
            <a:r>
              <a:rPr lang="en-US" sz="1250" dirty="0">
                <a:solidFill>
                  <a:srgbClr val="1F1F22"/>
                </a:solidFill>
                <a:latin typeface="Courier New" pitchFamily="34" charset="0"/>
                <a:ea typeface="Courier New" pitchFamily="34" charset="-122"/>
                <a:cs typeface="Courier New" pitchFamily="34" charset="-120"/>
              </a:rPr>
              <a:t>}</a:t>
            </a:r>
            <a:endParaRPr lang="en-US" sz="1250" dirty="0"/>
          </a:p>
        </p:txBody>
      </p:sp>
      <p:sp>
        <p:nvSpPr>
          <p:cNvPr id="7" name="Shape 5"/>
          <p:cNvSpPr/>
          <p:nvPr/>
        </p:nvSpPr>
        <p:spPr>
          <a:xfrm>
            <a:off x="6172200" y="1965960"/>
            <a:ext cx="5349240" cy="2651760"/>
          </a:xfrm>
          <a:prstGeom prst="roundRect">
            <a:avLst>
              <a:gd name="adj" fmla="val 2759"/>
            </a:avLst>
          </a:prstGeom>
          <a:solidFill>
            <a:srgbClr val="F4F5F9"/>
          </a:solidFill>
          <a:ln w="12700">
            <a:solidFill>
              <a:srgbClr val="E0E0E6"/>
            </a:solidFill>
            <a:prstDash val="solid"/>
          </a:ln>
        </p:spPr>
      </p:sp>
      <p:sp>
        <p:nvSpPr>
          <p:cNvPr id="8" name="Text 6"/>
          <p:cNvSpPr txBox="1"/>
          <p:nvPr/>
        </p:nvSpPr>
        <p:spPr>
          <a:xfrm>
            <a:off x="6400800" y="2103120"/>
            <a:ext cx="4892040" cy="320040"/>
          </a:xfrm>
          <a:prstGeom prst="rect">
            <a:avLst/>
          </a:prstGeom>
          <a:noFill/>
          <a:ln/>
        </p:spPr>
        <p:txBody>
          <a:bodyPr wrap="square" lIns="0" tIns="0" rIns="0" bIns="0" rtlCol="0" anchor="ctr"/>
          <a:lstStyle/>
          <a:p>
            <a:pPr indent="0" marL="0">
              <a:buNone/>
            </a:pPr>
            <a:r>
              <a:rPr lang="en-US" sz="1200" b="1" dirty="0">
                <a:solidFill>
                  <a:srgbClr val="E8562C"/>
                </a:solidFill>
                <a:latin typeface="Calibri" pitchFamily="34" charset="0"/>
                <a:ea typeface="Calibri" pitchFamily="34" charset="-122"/>
                <a:cs typeface="Calibri" pitchFamily="34" charset="-120"/>
              </a:rPr>
              <a:t>AFTER — the fix that’s actually correct</a:t>
            </a:r>
            <a:endParaRPr lang="en-US" sz="1200" dirty="0"/>
          </a:p>
        </p:txBody>
      </p:sp>
      <p:sp>
        <p:nvSpPr>
          <p:cNvPr id="9" name="Text 7"/>
          <p:cNvSpPr txBox="1"/>
          <p:nvPr/>
        </p:nvSpPr>
        <p:spPr>
          <a:xfrm>
            <a:off x="6400800" y="2468880"/>
            <a:ext cx="4892040" cy="1965960"/>
          </a:xfrm>
          <a:prstGeom prst="rect">
            <a:avLst/>
          </a:prstGeom>
          <a:noFill/>
          <a:ln/>
        </p:spPr>
        <p:txBody>
          <a:bodyPr wrap="square" lIns="0" tIns="0" rIns="0" bIns="0" rtlCol="0" anchor="ctr"/>
          <a:lstStyle/>
          <a:p>
            <a:pPr indent="0" marL="0">
              <a:lnSpc>
                <a:spcPts val="1550"/>
              </a:lnSpc>
              <a:buNone/>
            </a:pPr>
            <a:r>
              <a:rPr lang="en-US" sz="1150" dirty="0">
                <a:solidFill>
                  <a:srgbClr val="1F1F22"/>
                </a:solidFill>
                <a:latin typeface="Courier New" pitchFamily="34" charset="0"/>
                <a:ea typeface="Courier New" pitchFamily="34" charset="-122"/>
                <a:cs typeface="Courier New" pitchFamily="34" charset="-120"/>
              </a:rPr>
              <a:t>public bool SendSms(Message message)</a:t>
            </a:r>
            <a:endParaRPr lang="en-US" sz="1150" dirty="0"/>
          </a:p>
          <a:p>
            <a:pPr indent="0" marL="0">
              <a:lnSpc>
                <a:spcPts val="1550"/>
              </a:lnSpc>
              <a:buNone/>
            </a:pPr>
            <a:r>
              <a:rPr lang="en-US" sz="1150" dirty="0">
                <a:solidFill>
                  <a:srgbClr val="1F1F22"/>
                </a:solidFill>
                <a:latin typeface="Courier New" pitchFamily="34" charset="0"/>
                <a:ea typeface="Courier New" pitchFamily="34" charset="-122"/>
                <a:cs typeface="Courier New" pitchFamily="34" charset="-120"/>
              </a:rPr>
              <a:t>{</a:t>
            </a:r>
            <a:endParaRPr lang="en-US" sz="1150" dirty="0"/>
          </a:p>
          <a:p>
            <a:pPr indent="0" marL="0">
              <a:lnSpc>
                <a:spcPts val="1550"/>
              </a:lnSpc>
              <a:buNone/>
            </a:pPr>
            <a:r>
              <a:rPr lang="en-US" sz="1150" dirty="0">
                <a:solidFill>
                  <a:srgbClr val="1F1F22"/>
                </a:solidFill>
                <a:latin typeface="Courier New" pitchFamily="34" charset="0"/>
                <a:ea typeface="Courier New" pitchFamily="34" charset="-122"/>
                <a:cs typeface="Courier New" pitchFamily="34" charset="-120"/>
              </a:rPr>
              <a:t>    var phone = message.Recipient.Phone;</a:t>
            </a:r>
            <a:endParaRPr lang="en-US" sz="1150" dirty="0"/>
          </a:p>
          <a:p>
            <a:pPr indent="0" marL="0">
              <a:lnSpc>
                <a:spcPts val="1550"/>
              </a:lnSpc>
              <a:buNone/>
            </a:pPr>
            <a:r>
              <a:rPr lang="en-US" sz="1150" dirty="0">
                <a:solidFill>
                  <a:srgbClr val="1F1F22"/>
                </a:solidFill>
                <a:latin typeface="Courier New" pitchFamily="34" charset="0"/>
                <a:ea typeface="Courier New" pitchFamily="34" charset="-122"/>
                <a:cs typeface="Courier New" pitchFamily="34" charset="-120"/>
              </a:rPr>
              <a:t>    var text  = message.Body;</a:t>
            </a:r>
            <a:endParaRPr lang="en-US" sz="1150" dirty="0"/>
          </a:p>
          <a:p>
            <a:pPr indent="0" marL="0">
              <a:lnSpc>
                <a:spcPts val="1550"/>
              </a:lnSpc>
              <a:buNone/>
            </a:pPr>
            <a:r>
              <a:rPr lang="en-US" sz="1150" dirty="0">
                <a:solidFill>
                  <a:srgbClr val="1F1F22"/>
                </a:solidFill>
                <a:latin typeface="Courier New" pitchFamily="34" charset="0"/>
                <a:ea typeface="Courier New" pitchFamily="34" charset="-122"/>
                <a:cs typeface="Courier New" pitchFamily="34" charset="-120"/>
              </a:rPr>
              <a:t>    return phone.Length &gt; 0</a:t>
            </a:r>
            <a:endParaRPr lang="en-US" sz="1150" dirty="0"/>
          </a:p>
          <a:p>
            <a:pPr indent="0" marL="0">
              <a:lnSpc>
                <a:spcPts val="1550"/>
              </a:lnSpc>
              <a:buNone/>
            </a:pPr>
            <a:r>
              <a:rPr lang="en-US" sz="1150" dirty="0">
                <a:solidFill>
                  <a:srgbClr val="1F1F22"/>
                </a:solidFill>
                <a:latin typeface="Courier New" pitchFamily="34" charset="0"/>
                <a:ea typeface="Courier New" pitchFamily="34" charset="-122"/>
                <a:cs typeface="Courier New" pitchFamily="34" charset="-120"/>
              </a:rPr>
              <a:t>        &amp;&amp; text.Length &gt; 0</a:t>
            </a:r>
            <a:endParaRPr lang="en-US" sz="1150" dirty="0"/>
          </a:p>
          <a:p>
            <a:pPr indent="0" marL="0">
              <a:lnSpc>
                <a:spcPts val="1550"/>
              </a:lnSpc>
              <a:buNone/>
            </a:pPr>
            <a:r>
              <a:rPr lang="en-US" sz="1150" dirty="0">
                <a:solidFill>
                  <a:srgbClr val="1F1F22"/>
                </a:solidFill>
                <a:latin typeface="Courier New" pitchFamily="34" charset="0"/>
                <a:ea typeface="Courier New" pitchFamily="34" charset="-122"/>
                <a:cs typeface="Courier New" pitchFamily="34" charset="-120"/>
              </a:rPr>
              <a:t>        &amp;&amp; SmsApiV2.Send(new SmsMessage</a:t>
            </a:r>
            <a:endParaRPr lang="en-US" sz="1150" dirty="0"/>
          </a:p>
          <a:p>
            <a:pPr indent="0" marL="0">
              <a:lnSpc>
                <a:spcPts val="1550"/>
              </a:lnSpc>
              <a:buNone/>
            </a:pPr>
            <a:r>
              <a:rPr lang="en-US" sz="1150" dirty="0">
                <a:solidFill>
                  <a:srgbClr val="1F1F22"/>
                </a:solidFill>
                <a:latin typeface="Courier New" pitchFamily="34" charset="0"/>
                <a:ea typeface="Courier New" pitchFamily="34" charset="-122"/>
                <a:cs typeface="Courier New" pitchFamily="34" charset="-120"/>
              </a:rPr>
              <a:t>           { Phone = phone, Text = text });</a:t>
            </a:r>
            <a:endParaRPr lang="en-US" sz="1150" dirty="0"/>
          </a:p>
          <a:p>
            <a:pPr indent="0" marL="0">
              <a:lnSpc>
                <a:spcPts val="1550"/>
              </a:lnSpc>
              <a:buNone/>
            </a:pPr>
            <a:r>
              <a:rPr lang="en-US" sz="1150" dirty="0">
                <a:solidFill>
                  <a:srgbClr val="1F1F22"/>
                </a:solidFill>
                <a:latin typeface="Courier New" pitchFamily="34" charset="0"/>
                <a:ea typeface="Courier New" pitchFamily="34" charset="-122"/>
                <a:cs typeface="Courier New" pitchFamily="34" charset="-120"/>
              </a:rPr>
              <a:t>}</a:t>
            </a:r>
            <a:endParaRPr lang="en-US" sz="1150" dirty="0"/>
          </a:p>
        </p:txBody>
      </p:sp>
      <p:sp>
        <p:nvSpPr>
          <p:cNvPr id="10" name="Text 8"/>
          <p:cNvSpPr txBox="1"/>
          <p:nvPr/>
        </p:nvSpPr>
        <p:spPr>
          <a:xfrm>
            <a:off x="548640" y="4846320"/>
            <a:ext cx="11064240" cy="960120"/>
          </a:xfrm>
          <a:prstGeom prst="rect">
            <a:avLst/>
          </a:prstGeom>
          <a:noFill/>
          <a:ln/>
        </p:spPr>
        <p:txBody>
          <a:bodyPr wrap="square" lIns="0" tIns="0" rIns="0" bIns="0" rtlCol="0" anchor="ctr"/>
          <a:lstStyle/>
          <a:p>
            <a:pPr indent="0" marL="0">
              <a:lnSpc>
                <a:spcPts val="1900"/>
              </a:lnSpc>
              <a:buNone/>
            </a:pPr>
            <a:r>
              <a:rPr lang="en-US" sz="1450" dirty="0">
                <a:solidFill>
                  <a:srgbClr val="1F1F22"/>
                </a:solidFill>
                <a:latin typeface="Calibri" pitchFamily="34" charset="0"/>
                <a:ea typeface="Calibri" pitchFamily="34" charset="-122"/>
                <a:cs typeface="Calibri" pitchFamily="34" charset="-120"/>
              </a:rPr>
              <a:t>The old, deprecated </a:t>
            </a:r>
            <a:pPr indent="0" marL="0">
              <a:lnSpc>
                <a:spcPts val="1900"/>
              </a:lnSpc>
              <a:buNone/>
            </a:pPr>
            <a:r>
              <a:rPr lang="en-US" sz="1450" b="1" dirty="0">
                <a:solidFill>
                  <a:srgbClr val="1F1F22"/>
                </a:solidFill>
                <a:latin typeface="Courier New" pitchFamily="34" charset="0"/>
                <a:ea typeface="Courier New" pitchFamily="34" charset="-122"/>
                <a:cs typeface="Courier New" pitchFamily="34" charset="-120"/>
              </a:rPr>
              <a:t>SmsApiV1</a:t>
            </a:r>
            <a:pPr indent="0" marL="0">
              <a:lnSpc>
                <a:spcPts val="1900"/>
              </a:lnSpc>
              <a:buNone/>
            </a:pPr>
            <a:r>
              <a:rPr lang="en-US" sz="1450" dirty="0">
                <a:solidFill>
                  <a:srgbClr val="1F1F22"/>
                </a:solidFill>
                <a:latin typeface="Calibri" pitchFamily="34" charset="0"/>
                <a:ea typeface="Calibri" pitchFamily="34" charset="-122"/>
                <a:cs typeface="Calibri" pitchFamily="34" charset="-120"/>
              </a:rPr>
              <a:t> checked that both the phone number and the message body were non-empty. Its replacement, </a:t>
            </a:r>
            <a:pPr indent="0" marL="0">
              <a:lnSpc>
                <a:spcPts val="1900"/>
              </a:lnSpc>
              <a:buNone/>
            </a:pPr>
            <a:r>
              <a:rPr lang="en-US" sz="1450" b="1" dirty="0">
                <a:solidFill>
                  <a:srgbClr val="1F1F22"/>
                </a:solidFill>
                <a:latin typeface="Courier New" pitchFamily="34" charset="0"/>
                <a:ea typeface="Courier New" pitchFamily="34" charset="-122"/>
                <a:cs typeface="Courier New" pitchFamily="34" charset="-120"/>
              </a:rPr>
              <a:t>SmsApiV2</a:t>
            </a:r>
            <a:pPr indent="0" marL="0">
              <a:lnSpc>
                <a:spcPts val="1900"/>
              </a:lnSpc>
              <a:buNone/>
            </a:pPr>
            <a:r>
              <a:rPr lang="en-US" sz="1450" dirty="0">
                <a:solidFill>
                  <a:srgbClr val="1F1F22"/>
                </a:solidFill>
                <a:latin typeface="Calibri" pitchFamily="34" charset="0"/>
                <a:ea typeface="Calibri" pitchFamily="34" charset="-122"/>
                <a:cs typeface="Calibri" pitchFamily="34" charset="-120"/>
              </a:rPr>
              <a:t>, only checks the phone number. A naive swap would silently start accepting empty messages. Getting this right — not just getting it to compile — is what the rest of this talk is about.</a:t>
            </a:r>
            <a:endParaRPr lang="en-US" sz="1450" dirty="0"/>
          </a:p>
        </p:txBody>
      </p:sp>
      <p:sp>
        <p:nvSpPr>
          <p:cNvPr id="11" name="Text 9"/>
          <p:cNvSpPr txBox="1"/>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9B9BA3"/>
                </a:solidFill>
                <a:latin typeface="Calibri" pitchFamily="34" charset="0"/>
                <a:ea typeface="Calibri" pitchFamily="34" charset="-122"/>
                <a:cs typeface="Calibri" pitchFamily="34" charset="-120"/>
              </a:rPr>
              <a:t>Part 2 — Static Analysis + LLMs for Verified Anti-Pattern Repair</a:t>
            </a:r>
            <a:endParaRPr lang="en-US" sz="900" dirty="0"/>
          </a:p>
        </p:txBody>
      </p:sp>
      <p:sp>
        <p:nvSpPr>
          <p:cNvPr id="12" name="Text 10"/>
          <p:cNvSpPr txBox="1"/>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9B9BA3"/>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365760"/>
          </a:xfrm>
          <a:prstGeom prst="rect">
            <a:avLst/>
          </a:prstGeom>
          <a:noFill/>
          <a:ln/>
        </p:spPr>
        <p:txBody>
          <a:bodyPr wrap="square" lIns="0" tIns="0" rIns="0" bIns="0" rtlCol="0" anchor="ctr"/>
          <a:lstStyle/>
          <a:p>
            <a:pPr indent="0" marL="0">
              <a:buNone/>
            </a:pPr>
            <a:r>
              <a:rPr lang="en-US" sz="1300" b="1" spc="200" kern="0" dirty="0">
                <a:solidFill>
                  <a:srgbClr val="E8562C"/>
                </a:solidFill>
                <a:latin typeface="Calibri" pitchFamily="34" charset="0"/>
                <a:ea typeface="Calibri" pitchFamily="34" charset="-122"/>
                <a:cs typeface="Calibri" pitchFamily="34" charset="-120"/>
              </a:rPr>
              <a:t>THE IDEA</a:t>
            </a:r>
            <a:endParaRPr lang="en-US" sz="1300" dirty="0"/>
          </a:p>
        </p:txBody>
      </p:sp>
      <p:sp>
        <p:nvSpPr>
          <p:cNvPr id="3" name="Text 1"/>
          <p:cNvSpPr txBox="1"/>
          <p:nvPr/>
        </p:nvSpPr>
        <p:spPr>
          <a:xfrm>
            <a:off x="548640" y="822960"/>
            <a:ext cx="11064240" cy="9144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Static analysis + an LLM — with verification in between</a:t>
            </a:r>
            <a:endParaRPr lang="en-US" sz="3200" dirty="0"/>
          </a:p>
        </p:txBody>
      </p:sp>
      <p:sp>
        <p:nvSpPr>
          <p:cNvPr id="4" name="Shape 2"/>
          <p:cNvSpPr/>
          <p:nvPr/>
        </p:nvSpPr>
        <p:spPr>
          <a:xfrm>
            <a:off x="685800" y="2377440"/>
            <a:ext cx="3246120" cy="2331720"/>
          </a:xfrm>
          <a:prstGeom prst="roundRect">
            <a:avLst>
              <a:gd name="adj" fmla="val 3922"/>
            </a:avLst>
          </a:prstGeom>
          <a:solidFill>
            <a:srgbClr val="F4F5F9"/>
          </a:solidFill>
          <a:ln/>
        </p:spPr>
      </p:sp>
      <p:sp>
        <p:nvSpPr>
          <p:cNvPr id="5" name="Text 3"/>
          <p:cNvSpPr txBox="1"/>
          <p:nvPr/>
        </p:nvSpPr>
        <p:spPr>
          <a:xfrm>
            <a:off x="914400" y="2560320"/>
            <a:ext cx="731520" cy="640080"/>
          </a:xfrm>
          <a:prstGeom prst="rect">
            <a:avLst/>
          </a:prstGeom>
          <a:noFill/>
          <a:ln/>
        </p:spPr>
        <p:txBody>
          <a:bodyPr wrap="square" lIns="0" tIns="0" rIns="0" bIns="0" rtlCol="0" anchor="ctr"/>
          <a:lstStyle/>
          <a:p>
            <a:pPr indent="0" marL="0">
              <a:buNone/>
            </a:pPr>
            <a:r>
              <a:rPr lang="en-US" sz="3000" b="1" dirty="0">
                <a:solidFill>
                  <a:srgbClr val="E8562C"/>
                </a:solidFill>
                <a:latin typeface="Cambria" pitchFamily="34" charset="0"/>
                <a:ea typeface="Cambria" pitchFamily="34" charset="-122"/>
                <a:cs typeface="Cambria" pitchFamily="34" charset="-120"/>
              </a:rPr>
              <a:t>1</a:t>
            </a:r>
            <a:endParaRPr lang="en-US" sz="3000" dirty="0"/>
          </a:p>
        </p:txBody>
      </p:sp>
      <p:sp>
        <p:nvSpPr>
          <p:cNvPr id="6" name="Text 4"/>
          <p:cNvSpPr txBox="1"/>
          <p:nvPr/>
        </p:nvSpPr>
        <p:spPr>
          <a:xfrm>
            <a:off x="914400" y="3154680"/>
            <a:ext cx="2788920" cy="457200"/>
          </a:xfrm>
          <a:prstGeom prst="rect">
            <a:avLst/>
          </a:prstGeom>
          <a:noFill/>
          <a:ln/>
        </p:spPr>
        <p:txBody>
          <a:bodyPr wrap="square" lIns="0" tIns="0" rIns="0" bIns="0" rtlCol="0" anchor="ctr"/>
          <a:lstStyle/>
          <a:p>
            <a:pPr indent="0" marL="0">
              <a:buNone/>
            </a:pPr>
            <a:r>
              <a:rPr lang="en-US" sz="2000" b="1" dirty="0">
                <a:solidFill>
                  <a:srgbClr val="1E2761"/>
                </a:solidFill>
                <a:latin typeface="Cambria" pitchFamily="34" charset="0"/>
                <a:ea typeface="Cambria" pitchFamily="34" charset="-122"/>
                <a:cs typeface="Cambria" pitchFamily="34" charset="-120"/>
              </a:rPr>
              <a:t>Detect</a:t>
            </a:r>
            <a:endParaRPr lang="en-US" sz="2000" dirty="0"/>
          </a:p>
        </p:txBody>
      </p:sp>
      <p:sp>
        <p:nvSpPr>
          <p:cNvPr id="7" name="Text 5"/>
          <p:cNvSpPr txBox="1"/>
          <p:nvPr/>
        </p:nvSpPr>
        <p:spPr>
          <a:xfrm>
            <a:off x="914400" y="3657600"/>
            <a:ext cx="2788920" cy="868680"/>
          </a:xfrm>
          <a:prstGeom prst="rect">
            <a:avLst/>
          </a:prstGeom>
          <a:noFill/>
          <a:ln/>
        </p:spPr>
        <p:txBody>
          <a:bodyPr wrap="square" lIns="0" tIns="0" rIns="0" bIns="0" rtlCol="0" anchor="ctr"/>
          <a:lstStyle/>
          <a:p>
            <a:pPr indent="0" marL="0">
              <a:lnSpc>
                <a:spcPts val="1700"/>
              </a:lnSpc>
              <a:buNone/>
            </a:pPr>
            <a:r>
              <a:rPr lang="en-US" sz="1300" dirty="0">
                <a:solidFill>
                  <a:srgbClr val="1F1F22"/>
                </a:solidFill>
                <a:latin typeface="Calibri" pitchFamily="34" charset="0"/>
                <a:ea typeface="Calibri" pitchFamily="34" charset="-122"/>
                <a:cs typeface="Calibri" pitchFamily="34" charset="-120"/>
              </a:rPr>
              <a:t>Static analyser localises the anti-pattern and records exactly what triggered it — the diagnosis.</a:t>
            </a:r>
            <a:endParaRPr lang="en-US" sz="1300" dirty="0"/>
          </a:p>
        </p:txBody>
      </p:sp>
      <p:sp>
        <p:nvSpPr>
          <p:cNvPr id="8" name="Text 6"/>
          <p:cNvSpPr txBox="1"/>
          <p:nvPr/>
        </p:nvSpPr>
        <p:spPr>
          <a:xfrm>
            <a:off x="3931920" y="3223260"/>
            <a:ext cx="502920" cy="640080"/>
          </a:xfrm>
          <a:prstGeom prst="rect">
            <a:avLst/>
          </a:prstGeom>
          <a:noFill/>
          <a:ln/>
        </p:spPr>
        <p:txBody>
          <a:bodyPr wrap="square" lIns="0" tIns="0" rIns="0" bIns="0" rtlCol="0" anchor="ctr"/>
          <a:lstStyle/>
          <a:p>
            <a:pPr algn="ctr" indent="0" marL="0">
              <a:buNone/>
            </a:pPr>
            <a:r>
              <a:rPr lang="en-US" sz="2600" dirty="0">
                <a:solidFill>
                  <a:srgbClr val="B7B7BC"/>
                </a:solidFill>
                <a:latin typeface="Calibri" pitchFamily="34" charset="0"/>
                <a:ea typeface="Calibri" pitchFamily="34" charset="-122"/>
                <a:cs typeface="Calibri" pitchFamily="34" charset="-120"/>
              </a:rPr>
              <a:t>→</a:t>
            </a:r>
            <a:endParaRPr lang="en-US" sz="2600" dirty="0"/>
          </a:p>
        </p:txBody>
      </p:sp>
      <p:sp>
        <p:nvSpPr>
          <p:cNvPr id="9" name="Shape 7"/>
          <p:cNvSpPr/>
          <p:nvPr/>
        </p:nvSpPr>
        <p:spPr>
          <a:xfrm>
            <a:off x="4434840" y="2377440"/>
            <a:ext cx="3246120" cy="2331720"/>
          </a:xfrm>
          <a:prstGeom prst="roundRect">
            <a:avLst>
              <a:gd name="adj" fmla="val 3922"/>
            </a:avLst>
          </a:prstGeom>
          <a:solidFill>
            <a:srgbClr val="F4F5F9"/>
          </a:solidFill>
          <a:ln/>
        </p:spPr>
      </p:sp>
      <p:sp>
        <p:nvSpPr>
          <p:cNvPr id="10" name="Text 8"/>
          <p:cNvSpPr txBox="1"/>
          <p:nvPr/>
        </p:nvSpPr>
        <p:spPr>
          <a:xfrm>
            <a:off x="4663440" y="2560320"/>
            <a:ext cx="731520" cy="640080"/>
          </a:xfrm>
          <a:prstGeom prst="rect">
            <a:avLst/>
          </a:prstGeom>
          <a:noFill/>
          <a:ln/>
        </p:spPr>
        <p:txBody>
          <a:bodyPr wrap="square" lIns="0" tIns="0" rIns="0" bIns="0" rtlCol="0" anchor="ctr"/>
          <a:lstStyle/>
          <a:p>
            <a:pPr indent="0" marL="0">
              <a:buNone/>
            </a:pPr>
            <a:r>
              <a:rPr lang="en-US" sz="3000" b="1" dirty="0">
                <a:solidFill>
                  <a:srgbClr val="E8562C"/>
                </a:solidFill>
                <a:latin typeface="Cambria" pitchFamily="34" charset="0"/>
                <a:ea typeface="Cambria" pitchFamily="34" charset="-122"/>
                <a:cs typeface="Cambria" pitchFamily="34" charset="-120"/>
              </a:rPr>
              <a:t>2</a:t>
            </a:r>
            <a:endParaRPr lang="en-US" sz="3000" dirty="0"/>
          </a:p>
        </p:txBody>
      </p:sp>
      <p:sp>
        <p:nvSpPr>
          <p:cNvPr id="11" name="Text 9"/>
          <p:cNvSpPr txBox="1"/>
          <p:nvPr/>
        </p:nvSpPr>
        <p:spPr>
          <a:xfrm>
            <a:off x="4663440" y="3154680"/>
            <a:ext cx="2788920" cy="457200"/>
          </a:xfrm>
          <a:prstGeom prst="rect">
            <a:avLst/>
          </a:prstGeom>
          <a:noFill/>
          <a:ln/>
        </p:spPr>
        <p:txBody>
          <a:bodyPr wrap="square" lIns="0" tIns="0" rIns="0" bIns="0" rtlCol="0" anchor="ctr"/>
          <a:lstStyle/>
          <a:p>
            <a:pPr indent="0" marL="0">
              <a:buNone/>
            </a:pPr>
            <a:r>
              <a:rPr lang="en-US" sz="2000" b="1" dirty="0">
                <a:solidFill>
                  <a:srgbClr val="1E2761"/>
                </a:solidFill>
                <a:latin typeface="Cambria" pitchFamily="34" charset="0"/>
                <a:ea typeface="Cambria" pitchFamily="34" charset="-122"/>
                <a:cs typeface="Cambria" pitchFamily="34" charset="-120"/>
              </a:rPr>
              <a:t>Repair</a:t>
            </a:r>
            <a:endParaRPr lang="en-US" sz="2000" dirty="0"/>
          </a:p>
        </p:txBody>
      </p:sp>
      <p:sp>
        <p:nvSpPr>
          <p:cNvPr id="12" name="Text 10"/>
          <p:cNvSpPr txBox="1"/>
          <p:nvPr/>
        </p:nvSpPr>
        <p:spPr>
          <a:xfrm>
            <a:off x="4663440" y="3657600"/>
            <a:ext cx="2788920" cy="868680"/>
          </a:xfrm>
          <a:prstGeom prst="rect">
            <a:avLst/>
          </a:prstGeom>
          <a:noFill/>
          <a:ln/>
        </p:spPr>
        <p:txBody>
          <a:bodyPr wrap="square" lIns="0" tIns="0" rIns="0" bIns="0" rtlCol="0" anchor="ctr"/>
          <a:lstStyle/>
          <a:p>
            <a:pPr indent="0" marL="0">
              <a:lnSpc>
                <a:spcPts val="1700"/>
              </a:lnSpc>
              <a:buNone/>
            </a:pPr>
            <a:r>
              <a:rPr lang="en-US" sz="1300" dirty="0">
                <a:solidFill>
                  <a:srgbClr val="1F1F22"/>
                </a:solidFill>
                <a:latin typeface="Calibri" pitchFamily="34" charset="0"/>
                <a:ea typeface="Calibri" pitchFamily="34" charset="-122"/>
                <a:cs typeface="Calibri" pitchFamily="34" charset="-120"/>
              </a:rPr>
              <a:t>An LLM edits the source, using that diagnosis plus surrounding code context.</a:t>
            </a:r>
            <a:endParaRPr lang="en-US" sz="1300" dirty="0"/>
          </a:p>
        </p:txBody>
      </p:sp>
      <p:sp>
        <p:nvSpPr>
          <p:cNvPr id="13" name="Text 11"/>
          <p:cNvSpPr txBox="1"/>
          <p:nvPr/>
        </p:nvSpPr>
        <p:spPr>
          <a:xfrm>
            <a:off x="7680960" y="3223260"/>
            <a:ext cx="502920" cy="640080"/>
          </a:xfrm>
          <a:prstGeom prst="rect">
            <a:avLst/>
          </a:prstGeom>
          <a:noFill/>
          <a:ln/>
        </p:spPr>
        <p:txBody>
          <a:bodyPr wrap="square" lIns="0" tIns="0" rIns="0" bIns="0" rtlCol="0" anchor="ctr"/>
          <a:lstStyle/>
          <a:p>
            <a:pPr algn="ctr" indent="0" marL="0">
              <a:buNone/>
            </a:pPr>
            <a:r>
              <a:rPr lang="en-US" sz="2600" dirty="0">
                <a:solidFill>
                  <a:srgbClr val="B7B7BC"/>
                </a:solidFill>
                <a:latin typeface="Calibri" pitchFamily="34" charset="0"/>
                <a:ea typeface="Calibri" pitchFamily="34" charset="-122"/>
                <a:cs typeface="Calibri" pitchFamily="34" charset="-120"/>
              </a:rPr>
              <a:t>→</a:t>
            </a:r>
            <a:endParaRPr lang="en-US" sz="2600" dirty="0"/>
          </a:p>
        </p:txBody>
      </p:sp>
      <p:sp>
        <p:nvSpPr>
          <p:cNvPr id="14" name="Shape 12"/>
          <p:cNvSpPr/>
          <p:nvPr/>
        </p:nvSpPr>
        <p:spPr>
          <a:xfrm>
            <a:off x="8183880" y="2377440"/>
            <a:ext cx="3246120" cy="2331720"/>
          </a:xfrm>
          <a:prstGeom prst="roundRect">
            <a:avLst>
              <a:gd name="adj" fmla="val 3922"/>
            </a:avLst>
          </a:prstGeom>
          <a:solidFill>
            <a:srgbClr val="1E2761"/>
          </a:solidFill>
          <a:ln/>
        </p:spPr>
      </p:sp>
      <p:sp>
        <p:nvSpPr>
          <p:cNvPr id="15" name="Text 13"/>
          <p:cNvSpPr txBox="1"/>
          <p:nvPr/>
        </p:nvSpPr>
        <p:spPr>
          <a:xfrm>
            <a:off x="8412480" y="2560320"/>
            <a:ext cx="731520" cy="640080"/>
          </a:xfrm>
          <a:prstGeom prst="rect">
            <a:avLst/>
          </a:prstGeom>
          <a:noFill/>
          <a:ln/>
        </p:spPr>
        <p:txBody>
          <a:bodyPr wrap="square" lIns="0" tIns="0" rIns="0" bIns="0" rtlCol="0" anchor="ctr"/>
          <a:lstStyle/>
          <a:p>
            <a:pPr indent="0" marL="0">
              <a:buNone/>
            </a:pPr>
            <a:r>
              <a:rPr lang="en-US" sz="3000" b="1" dirty="0">
                <a:solidFill>
                  <a:srgbClr val="F2542D"/>
                </a:solidFill>
                <a:latin typeface="Cambria" pitchFamily="34" charset="0"/>
                <a:ea typeface="Cambria" pitchFamily="34" charset="-122"/>
                <a:cs typeface="Cambria" pitchFamily="34" charset="-120"/>
              </a:rPr>
              <a:t>3</a:t>
            </a:r>
            <a:endParaRPr lang="en-US" sz="3000" dirty="0"/>
          </a:p>
        </p:txBody>
      </p:sp>
      <p:sp>
        <p:nvSpPr>
          <p:cNvPr id="16" name="Text 14"/>
          <p:cNvSpPr txBox="1"/>
          <p:nvPr/>
        </p:nvSpPr>
        <p:spPr>
          <a:xfrm>
            <a:off x="8412480" y="3154680"/>
            <a:ext cx="278892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Verify</a:t>
            </a:r>
            <a:endParaRPr lang="en-US" sz="2000" dirty="0"/>
          </a:p>
        </p:txBody>
      </p:sp>
      <p:sp>
        <p:nvSpPr>
          <p:cNvPr id="17" name="Text 15"/>
          <p:cNvSpPr txBox="1"/>
          <p:nvPr/>
        </p:nvSpPr>
        <p:spPr>
          <a:xfrm>
            <a:off x="8412480" y="3657600"/>
            <a:ext cx="2788920" cy="868680"/>
          </a:xfrm>
          <a:prstGeom prst="rect">
            <a:avLst/>
          </a:prstGeom>
          <a:noFill/>
          <a:ln/>
        </p:spPr>
        <p:txBody>
          <a:bodyPr wrap="square" lIns="0" tIns="0" rIns="0" bIns="0" rtlCol="0" anchor="ctr"/>
          <a:lstStyle/>
          <a:p>
            <a:pPr indent="0" marL="0">
              <a:lnSpc>
                <a:spcPts val="1700"/>
              </a:lnSpc>
              <a:buNone/>
            </a:pPr>
            <a:r>
              <a:rPr lang="en-US" sz="1300" dirty="0">
                <a:solidFill>
                  <a:srgbClr val="CADCFC"/>
                </a:solidFill>
                <a:latin typeface="Calibri" pitchFamily="34" charset="0"/>
                <a:ea typeface="Calibri" pitchFamily="34" charset="-122"/>
                <a:cs typeface="Calibri" pitchFamily="34" charset="-120"/>
              </a:rPr>
              <a:t>Independently: does it build? Is the anti-pattern actually gone? Is behaviour unchanged?</a:t>
            </a:r>
            <a:endParaRPr lang="en-US" sz="1300" dirty="0"/>
          </a:p>
        </p:txBody>
      </p:sp>
      <p:sp>
        <p:nvSpPr>
          <p:cNvPr id="18" name="Text 16"/>
          <p:cNvSpPr txBox="1"/>
          <p:nvPr/>
        </p:nvSpPr>
        <p:spPr>
          <a:xfrm>
            <a:off x="685800" y="4983480"/>
            <a:ext cx="10881360" cy="548640"/>
          </a:xfrm>
          <a:prstGeom prst="rect">
            <a:avLst/>
          </a:prstGeom>
          <a:noFill/>
          <a:ln/>
        </p:spPr>
        <p:txBody>
          <a:bodyPr wrap="square" lIns="0" tIns="0" rIns="0" bIns="0" rtlCol="0" anchor="ctr"/>
          <a:lstStyle/>
          <a:p>
            <a:pPr indent="0" marL="0">
              <a:lnSpc>
                <a:spcPts val="1800"/>
              </a:lnSpc>
              <a:buNone/>
            </a:pPr>
            <a:r>
              <a:rPr lang="en-US" sz="1400" i="1" dirty="0">
                <a:solidFill>
                  <a:srgbClr val="55555C"/>
                </a:solidFill>
                <a:latin typeface="Calibri" pitchFamily="34" charset="0"/>
                <a:ea typeface="Calibri" pitchFamily="34" charset="-122"/>
                <a:cs typeface="Calibri" pitchFamily="34" charset="-120"/>
              </a:rPr>
              <a:t>“Verified” is doing the real work in the title — the pipeline never accepts a compiling diff or a disappeared warning as proof of a correct repair.</a:t>
            </a:r>
            <a:endParaRPr lang="en-US" sz="1400" dirty="0"/>
          </a:p>
        </p:txBody>
      </p:sp>
      <p:sp>
        <p:nvSpPr>
          <p:cNvPr id="19" name="Text 17"/>
          <p:cNvSpPr txBox="1"/>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9B9BA3"/>
                </a:solidFill>
                <a:latin typeface="Calibri" pitchFamily="34" charset="0"/>
                <a:ea typeface="Calibri" pitchFamily="34" charset="-122"/>
                <a:cs typeface="Calibri" pitchFamily="34" charset="-120"/>
              </a:rPr>
              <a:t>Part 2 — Static Analysis + LLMs for Verified Anti-Pattern Repair</a:t>
            </a:r>
            <a:endParaRPr lang="en-US" sz="900" dirty="0"/>
          </a:p>
        </p:txBody>
      </p:sp>
      <p:sp>
        <p:nvSpPr>
          <p:cNvPr id="20" name="Text 18"/>
          <p:cNvSpPr txBox="1"/>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9B9BA3"/>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365760"/>
          </a:xfrm>
          <a:prstGeom prst="rect">
            <a:avLst/>
          </a:prstGeom>
          <a:noFill/>
          <a:ln/>
        </p:spPr>
        <p:txBody>
          <a:bodyPr wrap="square" lIns="0" tIns="0" rIns="0" bIns="0" rtlCol="0" anchor="ctr"/>
          <a:lstStyle/>
          <a:p>
            <a:pPr indent="0" marL="0">
              <a:buNone/>
            </a:pPr>
            <a:r>
              <a:rPr lang="en-US" sz="1300" b="1" spc="200" kern="0" dirty="0">
                <a:solidFill>
                  <a:srgbClr val="E8562C"/>
                </a:solidFill>
                <a:latin typeface="Calibri" pitchFamily="34" charset="0"/>
                <a:ea typeface="Calibri" pitchFamily="34" charset="-122"/>
                <a:cs typeface="Calibri" pitchFamily="34" charset="-120"/>
              </a:rPr>
              <a:t>THE EXPERIMENT</a:t>
            </a:r>
            <a:endParaRPr lang="en-US" sz="1300" dirty="0"/>
          </a:p>
        </p:txBody>
      </p:sp>
      <p:sp>
        <p:nvSpPr>
          <p:cNvPr id="3" name="Text 1"/>
          <p:cNvSpPr txBox="1"/>
          <p:nvPr/>
        </p:nvSpPr>
        <p:spPr>
          <a:xfrm>
            <a:off x="548640" y="822960"/>
            <a:ext cx="11064240" cy="9144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624 repair attempts, three on/off dials</a:t>
            </a:r>
            <a:endParaRPr lang="en-US" sz="3200" dirty="0"/>
          </a:p>
        </p:txBody>
      </p:sp>
      <p:sp>
        <p:nvSpPr>
          <p:cNvPr id="4" name="Shape 2"/>
          <p:cNvSpPr/>
          <p:nvPr/>
        </p:nvSpPr>
        <p:spPr>
          <a:xfrm>
            <a:off x="548640" y="2148840"/>
            <a:ext cx="3520440" cy="1508760"/>
          </a:xfrm>
          <a:prstGeom prst="roundRect">
            <a:avLst>
              <a:gd name="adj" fmla="val 4848"/>
            </a:avLst>
          </a:prstGeom>
          <a:solidFill>
            <a:srgbClr val="F4F5F9"/>
          </a:solidFill>
          <a:ln/>
        </p:spPr>
      </p:sp>
      <p:sp>
        <p:nvSpPr>
          <p:cNvPr id="5" name="Text 3"/>
          <p:cNvSpPr txBox="1"/>
          <p:nvPr/>
        </p:nvSpPr>
        <p:spPr>
          <a:xfrm>
            <a:off x="777240" y="2313432"/>
            <a:ext cx="306324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Grounding</a:t>
            </a:r>
            <a:endParaRPr lang="en-US" sz="1500" dirty="0"/>
          </a:p>
        </p:txBody>
      </p:sp>
      <p:sp>
        <p:nvSpPr>
          <p:cNvPr id="6" name="Text 4"/>
          <p:cNvSpPr txBox="1"/>
          <p:nvPr/>
        </p:nvSpPr>
        <p:spPr>
          <a:xfrm>
            <a:off x="777240" y="2697480"/>
            <a:ext cx="3063240" cy="914400"/>
          </a:xfrm>
          <a:prstGeom prst="rect">
            <a:avLst/>
          </a:prstGeom>
          <a:noFill/>
          <a:ln/>
        </p:spPr>
        <p:txBody>
          <a:bodyPr wrap="square" lIns="0" tIns="0" rIns="0" bIns="0" rtlCol="0" anchor="ctr"/>
          <a:lstStyle/>
          <a:p>
            <a:pPr indent="0" marL="0">
              <a:lnSpc>
                <a:spcPts val="1600"/>
              </a:lnSpc>
              <a:buNone/>
            </a:pPr>
            <a:r>
              <a:rPr lang="en-US" sz="1250" dirty="0">
                <a:solidFill>
                  <a:srgbClr val="55555C"/>
                </a:solidFill>
                <a:latin typeface="Calibri" pitchFamily="34" charset="0"/>
                <a:ea typeface="Calibri" pitchFamily="34" charset="-122"/>
                <a:cs typeface="Calibri" pitchFamily="34" charset="-120"/>
              </a:rPr>
              <a:t>Does the model see the static-analysis diagnosis, or just the code?</a:t>
            </a:r>
            <a:endParaRPr lang="en-US" sz="1250" dirty="0"/>
          </a:p>
        </p:txBody>
      </p:sp>
      <p:sp>
        <p:nvSpPr>
          <p:cNvPr id="7" name="Shape 5"/>
          <p:cNvSpPr/>
          <p:nvPr/>
        </p:nvSpPr>
        <p:spPr>
          <a:xfrm>
            <a:off x="4297680" y="2148840"/>
            <a:ext cx="3520440" cy="1508760"/>
          </a:xfrm>
          <a:prstGeom prst="roundRect">
            <a:avLst>
              <a:gd name="adj" fmla="val 4848"/>
            </a:avLst>
          </a:prstGeom>
          <a:solidFill>
            <a:srgbClr val="F4F5F9"/>
          </a:solidFill>
          <a:ln/>
        </p:spPr>
      </p:sp>
      <p:sp>
        <p:nvSpPr>
          <p:cNvPr id="8" name="Text 6"/>
          <p:cNvSpPr txBox="1"/>
          <p:nvPr/>
        </p:nvSpPr>
        <p:spPr>
          <a:xfrm>
            <a:off x="4526280" y="2313432"/>
            <a:ext cx="306324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Control</a:t>
            </a:r>
            <a:endParaRPr lang="en-US" sz="1500" dirty="0"/>
          </a:p>
        </p:txBody>
      </p:sp>
      <p:sp>
        <p:nvSpPr>
          <p:cNvPr id="9" name="Text 7"/>
          <p:cNvSpPr txBox="1"/>
          <p:nvPr/>
        </p:nvSpPr>
        <p:spPr>
          <a:xfrm>
            <a:off x="4526280" y="2697480"/>
            <a:ext cx="3063240" cy="914400"/>
          </a:xfrm>
          <a:prstGeom prst="rect">
            <a:avLst/>
          </a:prstGeom>
          <a:noFill/>
          <a:ln/>
        </p:spPr>
        <p:txBody>
          <a:bodyPr wrap="square" lIns="0" tIns="0" rIns="0" bIns="0" rtlCol="0" anchor="ctr"/>
          <a:lstStyle/>
          <a:p>
            <a:pPr indent="0" marL="0">
              <a:lnSpc>
                <a:spcPts val="1600"/>
              </a:lnSpc>
              <a:buNone/>
            </a:pPr>
            <a:r>
              <a:rPr lang="en-US" sz="1250" dirty="0">
                <a:solidFill>
                  <a:srgbClr val="55555C"/>
                </a:solidFill>
                <a:latin typeface="Calibri" pitchFamily="34" charset="0"/>
                <a:ea typeface="Calibri" pitchFamily="34" charset="-122"/>
                <a:cs typeface="Calibri" pitchFamily="34" charset="-120"/>
              </a:rPr>
              <a:t>One independent attempt, or iterative repair with compiler feedback?</a:t>
            </a:r>
            <a:endParaRPr lang="en-US" sz="1250" dirty="0"/>
          </a:p>
        </p:txBody>
      </p:sp>
      <p:sp>
        <p:nvSpPr>
          <p:cNvPr id="10" name="Shape 8"/>
          <p:cNvSpPr/>
          <p:nvPr/>
        </p:nvSpPr>
        <p:spPr>
          <a:xfrm>
            <a:off x="8046720" y="2148840"/>
            <a:ext cx="3520440" cy="1508760"/>
          </a:xfrm>
          <a:prstGeom prst="roundRect">
            <a:avLst>
              <a:gd name="adj" fmla="val 4848"/>
            </a:avLst>
          </a:prstGeom>
          <a:solidFill>
            <a:srgbClr val="F4F5F9"/>
          </a:solidFill>
          <a:ln/>
        </p:spPr>
      </p:sp>
      <p:sp>
        <p:nvSpPr>
          <p:cNvPr id="11" name="Text 9"/>
          <p:cNvSpPr txBox="1"/>
          <p:nvPr/>
        </p:nvSpPr>
        <p:spPr>
          <a:xfrm>
            <a:off x="8275320" y="2313432"/>
            <a:ext cx="3063240" cy="36576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Test visibility</a:t>
            </a:r>
            <a:endParaRPr lang="en-US" sz="1500" dirty="0"/>
          </a:p>
        </p:txBody>
      </p:sp>
      <p:sp>
        <p:nvSpPr>
          <p:cNvPr id="12" name="Text 10"/>
          <p:cNvSpPr txBox="1"/>
          <p:nvPr/>
        </p:nvSpPr>
        <p:spPr>
          <a:xfrm>
            <a:off x="8275320" y="2697480"/>
            <a:ext cx="3063240" cy="914400"/>
          </a:xfrm>
          <a:prstGeom prst="rect">
            <a:avLst/>
          </a:prstGeom>
          <a:noFill/>
          <a:ln/>
        </p:spPr>
        <p:txBody>
          <a:bodyPr wrap="square" lIns="0" tIns="0" rIns="0" bIns="0" rtlCol="0" anchor="ctr"/>
          <a:lstStyle/>
          <a:p>
            <a:pPr indent="0" marL="0">
              <a:lnSpc>
                <a:spcPts val="1600"/>
              </a:lnSpc>
              <a:buNone/>
            </a:pPr>
            <a:r>
              <a:rPr lang="en-US" sz="1250" dirty="0">
                <a:solidFill>
                  <a:srgbClr val="55555C"/>
                </a:solidFill>
                <a:latin typeface="Calibri" pitchFamily="34" charset="0"/>
                <a:ea typeface="Calibri" pitchFamily="34" charset="-122"/>
                <a:cs typeface="Calibri" pitchFamily="34" charset="-120"/>
              </a:rPr>
              <a:t>Is a generated characterisation test shown to the model?</a:t>
            </a:r>
            <a:endParaRPr lang="en-US" sz="1250" dirty="0"/>
          </a:p>
        </p:txBody>
      </p:sp>
      <p:sp>
        <p:nvSpPr>
          <p:cNvPr id="13" name="Text 11"/>
          <p:cNvSpPr txBox="1"/>
          <p:nvPr/>
        </p:nvSpPr>
        <p:spPr>
          <a:xfrm>
            <a:off x="548640" y="3977640"/>
            <a:ext cx="11064240" cy="502920"/>
          </a:xfrm>
          <a:prstGeom prst="rect">
            <a:avLst/>
          </a:prstGeom>
          <a:noFill/>
          <a:ln/>
        </p:spPr>
        <p:txBody>
          <a:bodyPr wrap="square" lIns="0" tIns="0" rIns="0" bIns="0" rtlCol="0" anchor="ctr"/>
          <a:lstStyle/>
          <a:p>
            <a:pPr indent="0" marL="0">
              <a:lnSpc>
                <a:spcPts val="1800"/>
              </a:lnSpc>
              <a:buNone/>
            </a:pPr>
            <a:r>
              <a:rPr lang="en-US" sz="1450" dirty="0">
                <a:solidFill>
                  <a:srgbClr val="1F1F22"/>
                </a:solidFill>
                <a:latin typeface="Calibri" pitchFamily="34" charset="0"/>
                <a:ea typeface="Calibri" pitchFamily="34" charset="-122"/>
                <a:cs typeface="Calibri" pitchFamily="34" charset="-120"/>
              </a:rPr>
              <a:t>26 God Class / Long Method targets × 3 repetitions × 8 condition combinations = 624 assignments, each starting from a clean copy of the code.</a:t>
            </a:r>
            <a:endParaRPr lang="en-US" sz="1450" dirty="0"/>
          </a:p>
        </p:txBody>
      </p:sp>
      <p:sp>
        <p:nvSpPr>
          <p:cNvPr id="14" name="Shape 12"/>
          <p:cNvSpPr/>
          <p:nvPr/>
        </p:nvSpPr>
        <p:spPr>
          <a:xfrm>
            <a:off x="548640" y="4709160"/>
            <a:ext cx="11064240" cy="1417320"/>
          </a:xfrm>
          <a:prstGeom prst="roundRect">
            <a:avLst>
              <a:gd name="adj" fmla="val 5161"/>
            </a:avLst>
          </a:prstGeom>
          <a:solidFill>
            <a:srgbClr val="1E2761"/>
          </a:solidFill>
          <a:ln/>
        </p:spPr>
      </p:sp>
      <p:sp>
        <p:nvSpPr>
          <p:cNvPr id="15" name="Text 13"/>
          <p:cNvSpPr txBox="1"/>
          <p:nvPr/>
        </p:nvSpPr>
        <p:spPr>
          <a:xfrm>
            <a:off x="868680" y="4892040"/>
            <a:ext cx="2743200" cy="365760"/>
          </a:xfrm>
          <a:prstGeom prst="rect">
            <a:avLst/>
          </a:prstGeom>
          <a:noFill/>
          <a:ln/>
        </p:spPr>
        <p:txBody>
          <a:bodyPr wrap="square" lIns="0" tIns="0" rIns="0" bIns="0" rtlCol="0" anchor="ctr"/>
          <a:lstStyle/>
          <a:p>
            <a:pPr indent="0" marL="0">
              <a:buNone/>
            </a:pPr>
            <a:r>
              <a:rPr lang="en-US" sz="1600" b="1" dirty="0">
                <a:solidFill>
                  <a:srgbClr val="F2542D"/>
                </a:solidFill>
                <a:latin typeface="Cambria" pitchFamily="34" charset="0"/>
                <a:ea typeface="Cambria" pitchFamily="34" charset="-122"/>
                <a:cs typeface="Cambria" pitchFamily="34" charset="-120"/>
              </a:rPr>
              <a:t>Strict success</a:t>
            </a:r>
            <a:endParaRPr lang="en-US" sz="1600" dirty="0"/>
          </a:p>
        </p:txBody>
      </p:sp>
      <p:sp>
        <p:nvSpPr>
          <p:cNvPr id="16" name="Text 14"/>
          <p:cNvSpPr txBox="1"/>
          <p:nvPr/>
        </p:nvSpPr>
        <p:spPr>
          <a:xfrm>
            <a:off x="868680" y="5257800"/>
            <a:ext cx="10424160" cy="822960"/>
          </a:xfrm>
          <a:prstGeom prst="rect">
            <a:avLst/>
          </a:prstGeom>
          <a:noFill/>
          <a:ln/>
        </p:spPr>
        <p:txBody>
          <a:bodyPr wrap="square" lIns="0" tIns="0" rIns="0" bIns="0" rtlCol="0" anchor="ctr"/>
          <a:lstStyle/>
          <a:p>
            <a:pPr indent="0" marL="0">
              <a:lnSpc>
                <a:spcPts val="1700"/>
              </a:lnSpc>
              <a:buNone/>
            </a:pPr>
            <a:r>
              <a:rPr lang="en-US" sz="1350" dirty="0">
                <a:solidFill>
                  <a:srgbClr val="FFFFFF"/>
                </a:solidFill>
                <a:latin typeface="Calibri" pitchFamily="34" charset="0"/>
                <a:ea typeface="Calibri" pitchFamily="34" charset="-122"/>
                <a:cs typeface="Calibri" pitchFamily="34" charset="-120"/>
              </a:rPr>
              <a:t>= the repaired code builds  AND  the flagged anti-pattern is actually resolved  AND  an independent, hidden behavioural check still passes.</a:t>
            </a:r>
            <a:endParaRPr lang="en-US" sz="1350" dirty="0"/>
          </a:p>
          <a:p>
            <a:pPr indent="0" marL="0">
              <a:lnSpc>
                <a:spcPts val="1700"/>
              </a:lnSpc>
              <a:buNone/>
            </a:pPr>
            <a:r>
              <a:rPr lang="en-US" sz="1350" dirty="0">
                <a:solidFill>
                  <a:srgbClr val="FFFFFF"/>
                </a:solidFill>
                <a:latin typeface="Calibri" pitchFamily="34" charset="0"/>
                <a:ea typeface="Calibri" pitchFamily="34" charset="-122"/>
                <a:cs typeface="Calibri" pitchFamily="34" charset="-120"/>
              </a:rPr>
              <a:t>Not “the model says it's fixed.” Not “the warning disappeared.” All three, checked independently.</a:t>
            </a:r>
            <a:endParaRPr lang="en-US" sz="1350" dirty="0"/>
          </a:p>
        </p:txBody>
      </p:sp>
      <p:sp>
        <p:nvSpPr>
          <p:cNvPr id="17" name="Text 15"/>
          <p:cNvSpPr txBox="1"/>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9B9BA3"/>
                </a:solidFill>
                <a:latin typeface="Calibri" pitchFamily="34" charset="0"/>
                <a:ea typeface="Calibri" pitchFamily="34" charset="-122"/>
                <a:cs typeface="Calibri" pitchFamily="34" charset="-120"/>
              </a:rPr>
              <a:t>Part 2 — Static Analysis + LLMs for Verified Anti-Pattern Repair</a:t>
            </a:r>
            <a:endParaRPr lang="en-US" sz="900" dirty="0"/>
          </a:p>
        </p:txBody>
      </p:sp>
      <p:sp>
        <p:nvSpPr>
          <p:cNvPr id="18" name="Text 16"/>
          <p:cNvSpPr txBox="1"/>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9B9BA3"/>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365760"/>
          </a:xfrm>
          <a:prstGeom prst="rect">
            <a:avLst/>
          </a:prstGeom>
          <a:noFill/>
          <a:ln/>
        </p:spPr>
        <p:txBody>
          <a:bodyPr wrap="square" lIns="0" tIns="0" rIns="0" bIns="0" rtlCol="0" anchor="ctr"/>
          <a:lstStyle/>
          <a:p>
            <a:pPr indent="0" marL="0">
              <a:buNone/>
            </a:pPr>
            <a:r>
              <a:rPr lang="en-US" sz="1300" b="1" spc="200" kern="0" dirty="0">
                <a:solidFill>
                  <a:srgbClr val="E8562C"/>
                </a:solidFill>
                <a:latin typeface="Calibri" pitchFamily="34" charset="0"/>
                <a:ea typeface="Calibri" pitchFamily="34" charset="-122"/>
                <a:cs typeface="Calibri" pitchFamily="34" charset="-120"/>
              </a:rPr>
              <a:t>RESULT 1</a:t>
            </a:r>
            <a:endParaRPr lang="en-US" sz="1300" dirty="0"/>
          </a:p>
        </p:txBody>
      </p:sp>
      <p:sp>
        <p:nvSpPr>
          <p:cNvPr id="3" name="Text 1"/>
          <p:cNvSpPr txBox="1"/>
          <p:nvPr/>
        </p:nvSpPr>
        <p:spPr>
          <a:xfrm>
            <a:off x="548640" y="822960"/>
            <a:ext cx="11064240" cy="9144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93.9% strict success — but compiling isn’t proof</a:t>
            </a:r>
            <a:endParaRPr lang="en-US" sz="3200" dirty="0"/>
          </a:p>
        </p:txBody>
      </p:sp>
      <p:sp>
        <p:nvSpPr>
          <p:cNvPr id="4" name="Text 2"/>
          <p:cNvSpPr txBox="1"/>
          <p:nvPr/>
        </p:nvSpPr>
        <p:spPr>
          <a:xfrm>
            <a:off x="548640" y="1417320"/>
            <a:ext cx="11064240" cy="365760"/>
          </a:xfrm>
          <a:prstGeom prst="rect">
            <a:avLst/>
          </a:prstGeom>
          <a:noFill/>
          <a:ln/>
        </p:spPr>
        <p:txBody>
          <a:bodyPr wrap="square" lIns="0" tIns="0" rIns="0" bIns="0" rtlCol="0" anchor="ctr"/>
          <a:lstStyle/>
          <a:p>
            <a:pPr indent="0" marL="0">
              <a:lnSpc>
                <a:spcPts val="1550"/>
              </a:lnSpc>
              <a:buNone/>
            </a:pPr>
            <a:r>
              <a:rPr lang="en-US" sz="1250" i="1" dirty="0">
                <a:solidFill>
                  <a:srgbClr val="55555C"/>
                </a:solidFill>
                <a:latin typeface="Calibri" pitchFamily="34" charset="0"/>
                <a:ea typeface="Calibri" pitchFamily="34" charset="-122"/>
                <a:cs typeface="Calibri" pitchFamily="34" charset="-120"/>
              </a:rPr>
              <a:t>Every one of the 624 assignments is checked against four separate pass/fail criteria below — these are not a shrinking funnel, they're four independent questions asked of the same assignments.</a:t>
            </a:r>
            <a:endParaRPr lang="en-US" sz="1250" dirty="0"/>
          </a:p>
        </p:txBody>
      </p:sp>
      <p:sp>
        <p:nvSpPr>
          <p:cNvPr id="5" name="Text 3"/>
          <p:cNvSpPr txBox="1"/>
          <p:nvPr/>
        </p:nvSpPr>
        <p:spPr>
          <a:xfrm>
            <a:off x="548640" y="1965960"/>
            <a:ext cx="3291840" cy="1005840"/>
          </a:xfrm>
          <a:prstGeom prst="rect">
            <a:avLst/>
          </a:prstGeom>
          <a:noFill/>
          <a:ln/>
        </p:spPr>
        <p:txBody>
          <a:bodyPr wrap="square" lIns="0" tIns="0" rIns="0" bIns="0" rtlCol="0" anchor="ctr"/>
          <a:lstStyle/>
          <a:p>
            <a:pPr indent="0" marL="0">
              <a:buNone/>
            </a:pPr>
            <a:r>
              <a:rPr lang="en-US" sz="5600" b="1" dirty="0">
                <a:solidFill>
                  <a:srgbClr val="E8562C"/>
                </a:solidFill>
                <a:latin typeface="Cambria" pitchFamily="34" charset="0"/>
                <a:ea typeface="Cambria" pitchFamily="34" charset="-122"/>
                <a:cs typeface="Cambria" pitchFamily="34" charset="-120"/>
              </a:rPr>
              <a:t>93.9%</a:t>
            </a:r>
            <a:endParaRPr lang="en-US" sz="5600" dirty="0"/>
          </a:p>
        </p:txBody>
      </p:sp>
      <p:sp>
        <p:nvSpPr>
          <p:cNvPr id="6" name="Text 4"/>
          <p:cNvSpPr txBox="1"/>
          <p:nvPr/>
        </p:nvSpPr>
        <p:spPr>
          <a:xfrm>
            <a:off x="548640" y="2880360"/>
            <a:ext cx="3291840" cy="685800"/>
          </a:xfrm>
          <a:prstGeom prst="rect">
            <a:avLst/>
          </a:prstGeom>
          <a:noFill/>
          <a:ln/>
        </p:spPr>
        <p:txBody>
          <a:bodyPr wrap="square" lIns="0" tIns="0" rIns="0" bIns="0" rtlCol="0" anchor="ctr"/>
          <a:lstStyle/>
          <a:p>
            <a:pPr indent="0" marL="0">
              <a:lnSpc>
                <a:spcPts val="1600"/>
              </a:lnSpc>
              <a:buNone/>
            </a:pPr>
            <a:r>
              <a:rPr lang="en-US" sz="1300" dirty="0">
                <a:solidFill>
                  <a:srgbClr val="55555C"/>
                </a:solidFill>
                <a:latin typeface="Calibri" pitchFamily="34" charset="0"/>
                <a:ea typeface="Calibri" pitchFamily="34" charset="-122"/>
                <a:cs typeface="Calibri" pitchFamily="34" charset="-120"/>
              </a:rPr>
              <a:t>586 of 624 assignments passed all four checks below at once (“strict success”)</a:t>
            </a:r>
            <a:endParaRPr lang="en-US" sz="1300" dirty="0"/>
          </a:p>
        </p:txBody>
      </p:sp>
      <p:graphicFrame>
        <p:nvGraphicFramePr>
          <p:cNvPr id="7" name="Chart 0" descr=""/>
          <p:cNvGraphicFramePr/>
          <p:nvPr/>
        </p:nvGraphicFramePr>
        <p:xfrm>
          <a:off x="4160520" y="1874520"/>
          <a:ext cx="7498080" cy="306324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548640" y="5257800"/>
            <a:ext cx="11064240" cy="960120"/>
          </a:xfrm>
          <a:prstGeom prst="roundRect">
            <a:avLst>
              <a:gd name="adj" fmla="val 7619"/>
            </a:avLst>
          </a:prstGeom>
          <a:solidFill>
            <a:srgbClr val="1E2761"/>
          </a:solidFill>
          <a:ln/>
        </p:spPr>
      </p:sp>
      <p:sp>
        <p:nvSpPr>
          <p:cNvPr id="9" name="Text 6"/>
          <p:cNvSpPr txBox="1"/>
          <p:nvPr/>
        </p:nvSpPr>
        <p:spPr>
          <a:xfrm>
            <a:off x="868680" y="5257800"/>
            <a:ext cx="10424160" cy="960120"/>
          </a:xfrm>
          <a:prstGeom prst="rect">
            <a:avLst/>
          </a:prstGeom>
          <a:noFill/>
          <a:ln/>
        </p:spPr>
        <p:txBody>
          <a:bodyPr wrap="square" lIns="0" tIns="0" rIns="0" bIns="0" rtlCol="0" anchor="ctr"/>
          <a:lstStyle/>
          <a:p>
            <a:pPr indent="0" marL="0">
              <a:lnSpc>
                <a:spcPts val="1800"/>
              </a:lnSpc>
              <a:buNone/>
            </a:pPr>
            <a:r>
              <a:rPr lang="en-US" sz="1400" b="1" dirty="0">
                <a:solidFill>
                  <a:srgbClr val="F2542D"/>
                </a:solidFill>
                <a:latin typeface="Calibri" pitchFamily="34" charset="0"/>
                <a:ea typeface="Calibri" pitchFamily="34" charset="-122"/>
                <a:cs typeface="Calibri" pitchFamily="34" charset="-120"/>
              </a:rPr>
              <a:t>11 repairs </a:t>
            </a:r>
            <a:pPr indent="0" marL="0">
              <a:lnSpc>
                <a:spcPts val="1800"/>
              </a:lnSpc>
              <a:buNone/>
            </a:pPr>
            <a:r>
              <a:rPr lang="en-US" sz="1400" dirty="0">
                <a:solidFill>
                  <a:srgbClr val="FFFFFF"/>
                </a:solidFill>
                <a:latin typeface="Calibri" pitchFamily="34" charset="0"/>
                <a:ea typeface="Calibri" pitchFamily="34" charset="-122"/>
                <a:cs typeface="Calibri" pitchFamily="34" charset="-120"/>
              </a:rPr>
              <a:t>built cleanly and resolved the flagged anti-pattern — and still changed behaviour. Only the independent oracle caught them. That’s the whole reason “verified” matters.</a:t>
            </a:r>
            <a:endParaRPr lang="en-US" sz="1400" dirty="0"/>
          </a:p>
        </p:txBody>
      </p:sp>
      <p:sp>
        <p:nvSpPr>
          <p:cNvPr id="10" name="Text 7"/>
          <p:cNvSpPr txBox="1"/>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9B9BA3"/>
                </a:solidFill>
                <a:latin typeface="Calibri" pitchFamily="34" charset="0"/>
                <a:ea typeface="Calibri" pitchFamily="34" charset="-122"/>
                <a:cs typeface="Calibri" pitchFamily="34" charset="-120"/>
              </a:rPr>
              <a:t>Part 2 — Static Analysis + LLMs for Verified Anti-Pattern Repair</a:t>
            </a:r>
            <a:endParaRPr lang="en-US" sz="900" dirty="0"/>
          </a:p>
        </p:txBody>
      </p:sp>
      <p:sp>
        <p:nvSpPr>
          <p:cNvPr id="11" name="Text 8"/>
          <p:cNvSpPr txBox="1"/>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9B9BA3"/>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365760"/>
          </a:xfrm>
          <a:prstGeom prst="rect">
            <a:avLst/>
          </a:prstGeom>
          <a:noFill/>
          <a:ln/>
        </p:spPr>
        <p:txBody>
          <a:bodyPr wrap="square" lIns="0" tIns="0" rIns="0" bIns="0" rtlCol="0" anchor="ctr"/>
          <a:lstStyle/>
          <a:p>
            <a:pPr indent="0" marL="0">
              <a:buNone/>
            </a:pPr>
            <a:r>
              <a:rPr lang="en-US" sz="1300" b="1" spc="200" kern="0" dirty="0">
                <a:solidFill>
                  <a:srgbClr val="E8562C"/>
                </a:solidFill>
                <a:latin typeface="Calibri" pitchFamily="34" charset="0"/>
                <a:ea typeface="Calibri" pitchFamily="34" charset="-122"/>
                <a:cs typeface="Calibri" pitchFamily="34" charset="-120"/>
              </a:rPr>
              <a:t>RESULT 2 — THE PUNCHLINE</a:t>
            </a:r>
            <a:endParaRPr lang="en-US" sz="1300" dirty="0"/>
          </a:p>
        </p:txBody>
      </p:sp>
      <p:sp>
        <p:nvSpPr>
          <p:cNvPr id="3" name="Text 1"/>
          <p:cNvSpPr txBox="1"/>
          <p:nvPr/>
        </p:nvSpPr>
        <p:spPr>
          <a:xfrm>
            <a:off x="548640" y="822960"/>
            <a:ext cx="11064240" cy="9144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The one thing that reliably helped: telling the model what’s wrong</a:t>
            </a:r>
            <a:endParaRPr lang="en-US" sz="3200" dirty="0"/>
          </a:p>
        </p:txBody>
      </p:sp>
      <p:sp>
        <p:nvSpPr>
          <p:cNvPr id="4" name="Text 2"/>
          <p:cNvSpPr txBox="1"/>
          <p:nvPr/>
        </p:nvSpPr>
        <p:spPr>
          <a:xfrm>
            <a:off x="548640" y="1417320"/>
            <a:ext cx="11064240" cy="365760"/>
          </a:xfrm>
          <a:prstGeom prst="rect">
            <a:avLst/>
          </a:prstGeom>
          <a:noFill/>
          <a:ln/>
        </p:spPr>
        <p:txBody>
          <a:bodyPr wrap="square" lIns="0" tIns="0" rIns="0" bIns="0" rtlCol="0" anchor="ctr"/>
          <a:lstStyle/>
          <a:p>
            <a:pPr indent="0" marL="0">
              <a:lnSpc>
                <a:spcPts val="1550"/>
              </a:lnSpc>
              <a:buNone/>
            </a:pPr>
            <a:r>
              <a:rPr lang="en-US" sz="1250" i="1" dirty="0">
                <a:solidFill>
                  <a:srgbClr val="55555C"/>
                </a:solidFill>
                <a:latin typeface="Calibri" pitchFamily="34" charset="0"/>
                <a:ea typeface="Calibri" pitchFamily="34" charset="-122"/>
                <a:cs typeface="Calibri" pitchFamily="34" charset="-120"/>
              </a:rPr>
              <a:t>Each bar = the average shift in strict-success rate (out of 624 assignments) when that one factor is switched ON vs OFF, holding the other two fixed. “pp” = percentage points.</a:t>
            </a:r>
            <a:endParaRPr lang="en-US" sz="1250" dirty="0"/>
          </a:p>
        </p:txBody>
      </p:sp>
      <p:graphicFrame>
        <p:nvGraphicFramePr>
          <p:cNvPr id="5" name="Chart 0" descr=""/>
          <p:cNvGraphicFramePr/>
          <p:nvPr/>
        </p:nvGraphicFramePr>
        <p:xfrm>
          <a:off x="548640" y="2057400"/>
          <a:ext cx="7315200" cy="29260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138160" y="2057400"/>
            <a:ext cx="3520440" cy="2926080"/>
          </a:xfrm>
          <a:prstGeom prst="roundRect">
            <a:avLst>
              <a:gd name="adj" fmla="val 2500"/>
            </a:avLst>
          </a:prstGeom>
          <a:solidFill>
            <a:srgbClr val="F4F5F9"/>
          </a:solidFill>
          <a:ln/>
        </p:spPr>
      </p:sp>
      <p:sp>
        <p:nvSpPr>
          <p:cNvPr id="7" name="Text 4"/>
          <p:cNvSpPr txBox="1"/>
          <p:nvPr/>
        </p:nvSpPr>
        <p:spPr>
          <a:xfrm>
            <a:off x="8366760" y="2240280"/>
            <a:ext cx="3063240" cy="365760"/>
          </a:xfrm>
          <a:prstGeom prst="rect">
            <a:avLst/>
          </a:prstGeom>
          <a:noFill/>
          <a:ln/>
        </p:spPr>
        <p:txBody>
          <a:bodyPr wrap="square" lIns="0" tIns="0" rIns="0" bIns="0" rtlCol="0" anchor="ctr"/>
          <a:lstStyle/>
          <a:p>
            <a:pPr indent="0" marL="0">
              <a:buNone/>
            </a:pPr>
            <a:r>
              <a:rPr lang="en-US" sz="1400" b="1" dirty="0">
                <a:solidFill>
                  <a:srgbClr val="E8562C"/>
                </a:solidFill>
                <a:latin typeface="Calibri" pitchFamily="34" charset="0"/>
                <a:ea typeface="Calibri" pitchFamily="34" charset="-122"/>
                <a:cs typeface="Calibri" pitchFamily="34" charset="-120"/>
              </a:rPr>
              <a:t>Detector grounding</a:t>
            </a:r>
            <a:endParaRPr lang="en-US" sz="1400" dirty="0"/>
          </a:p>
        </p:txBody>
      </p:sp>
      <p:sp>
        <p:nvSpPr>
          <p:cNvPr id="8" name="Text 5"/>
          <p:cNvSpPr txBox="1"/>
          <p:nvPr/>
        </p:nvSpPr>
        <p:spPr>
          <a:xfrm>
            <a:off x="8366760" y="2606040"/>
            <a:ext cx="3063240" cy="914400"/>
          </a:xfrm>
          <a:prstGeom prst="rect">
            <a:avLst/>
          </a:prstGeom>
          <a:noFill/>
          <a:ln/>
        </p:spPr>
        <p:txBody>
          <a:bodyPr wrap="square" lIns="0" tIns="0" rIns="0" bIns="0" rtlCol="0" anchor="ctr"/>
          <a:lstStyle/>
          <a:p>
            <a:pPr indent="0" marL="0">
              <a:lnSpc>
                <a:spcPts val="1600"/>
              </a:lnSpc>
              <a:buNone/>
            </a:pPr>
            <a:r>
              <a:rPr lang="en-US" sz="1250" dirty="0">
                <a:solidFill>
                  <a:srgbClr val="1F1F22"/>
                </a:solidFill>
                <a:latin typeface="Calibri" pitchFamily="34" charset="0"/>
                <a:ea typeface="Calibri" pitchFamily="34" charset="-122"/>
                <a:cs typeface="Calibri" pitchFamily="34" charset="-120"/>
              </a:rPr>
              <a:t>+7.69pp, p = .016 — significant.</a:t>
            </a:r>
            <a:endParaRPr lang="en-US" sz="1250" dirty="0"/>
          </a:p>
          <a:p>
            <a:pPr indent="0" marL="0">
              <a:lnSpc>
                <a:spcPts val="1600"/>
              </a:lnSpc>
              <a:buNone/>
            </a:pPr>
            <a:r>
              <a:rPr lang="en-US" sz="1250" dirty="0">
                <a:solidFill>
                  <a:srgbClr val="1F1F22"/>
                </a:solidFill>
                <a:latin typeface="Calibri" pitchFamily="34" charset="0"/>
                <a:ea typeface="Calibri" pitchFamily="34" charset="-122"/>
                <a:cs typeface="Calibri" pitchFamily="34" charset="-120"/>
              </a:rPr>
              <a:t>All 7 targets with a measurable effect favoured the grounded condition.</a:t>
            </a:r>
            <a:endParaRPr lang="en-US" sz="1250" dirty="0"/>
          </a:p>
        </p:txBody>
      </p:sp>
      <p:sp>
        <p:nvSpPr>
          <p:cNvPr id="9" name="Text 6"/>
          <p:cNvSpPr txBox="1"/>
          <p:nvPr/>
        </p:nvSpPr>
        <p:spPr>
          <a:xfrm>
            <a:off x="8366760" y="3657600"/>
            <a:ext cx="3063240" cy="365760"/>
          </a:xfrm>
          <a:prstGeom prst="rect">
            <a:avLst/>
          </a:prstGeom>
          <a:noFill/>
          <a:ln/>
        </p:spPr>
        <p:txBody>
          <a:bodyPr wrap="square" lIns="0" tIns="0" rIns="0" bIns="0" rtlCol="0" anchor="ctr"/>
          <a:lstStyle/>
          <a:p>
            <a:pPr indent="0" marL="0">
              <a:buNone/>
            </a:pPr>
            <a:r>
              <a:rPr lang="en-US" sz="1400" b="1" dirty="0">
                <a:solidFill>
                  <a:srgbClr val="55555C"/>
                </a:solidFill>
                <a:latin typeface="Calibri" pitchFamily="34" charset="0"/>
                <a:ea typeface="Calibri" pitchFamily="34" charset="-122"/>
                <a:cs typeface="Calibri" pitchFamily="34" charset="-120"/>
              </a:rPr>
              <a:t>Iteration &amp; test visibility</a:t>
            </a:r>
            <a:endParaRPr lang="en-US" sz="1400" dirty="0"/>
          </a:p>
        </p:txBody>
      </p:sp>
      <p:sp>
        <p:nvSpPr>
          <p:cNvPr id="10" name="Text 7"/>
          <p:cNvSpPr txBox="1"/>
          <p:nvPr/>
        </p:nvSpPr>
        <p:spPr>
          <a:xfrm>
            <a:off x="8366760" y="4023360"/>
            <a:ext cx="3063240" cy="914400"/>
          </a:xfrm>
          <a:prstGeom prst="rect">
            <a:avLst/>
          </a:prstGeom>
          <a:noFill/>
          <a:ln/>
        </p:spPr>
        <p:txBody>
          <a:bodyPr wrap="square" lIns="0" tIns="0" rIns="0" bIns="0" rtlCol="0" anchor="ctr"/>
          <a:lstStyle/>
          <a:p>
            <a:pPr indent="0" marL="0">
              <a:lnSpc>
                <a:spcPts val="1600"/>
              </a:lnSpc>
              <a:buNone/>
            </a:pPr>
            <a:r>
              <a:rPr lang="en-US" sz="1250" dirty="0">
                <a:solidFill>
                  <a:srgbClr val="1F1F22"/>
                </a:solidFill>
                <a:latin typeface="Calibri" pitchFamily="34" charset="0"/>
                <a:ea typeface="Calibri" pitchFamily="34" charset="-122"/>
                <a:cs typeface="Calibri" pitchFamily="34" charset="-120"/>
              </a:rPr>
              <a:t>Estimates favourable, but confidence intervals crossed zero — not statistically significant here.</a:t>
            </a:r>
            <a:endParaRPr lang="en-US" sz="1250" dirty="0"/>
          </a:p>
        </p:txBody>
      </p:sp>
      <p:sp>
        <p:nvSpPr>
          <p:cNvPr id="11" name="Text 8"/>
          <p:cNvSpPr txBox="1"/>
          <p:nvPr/>
        </p:nvSpPr>
        <p:spPr>
          <a:xfrm>
            <a:off x="548640" y="5257800"/>
            <a:ext cx="11064240" cy="548640"/>
          </a:xfrm>
          <a:prstGeom prst="rect">
            <a:avLst/>
          </a:prstGeom>
          <a:noFill/>
          <a:ln/>
        </p:spPr>
        <p:txBody>
          <a:bodyPr wrap="square" lIns="0" tIns="0" rIns="0" bIns="0" rtlCol="0" anchor="ctr"/>
          <a:lstStyle/>
          <a:p>
            <a:pPr indent="0" marL="0">
              <a:lnSpc>
                <a:spcPts val="1900"/>
              </a:lnSpc>
              <a:buNone/>
            </a:pPr>
            <a:r>
              <a:rPr lang="en-US" sz="1500" b="1" i="1" dirty="0">
                <a:solidFill>
                  <a:srgbClr val="1E2761"/>
                </a:solidFill>
                <a:latin typeface="Calibri" pitchFamily="34" charset="0"/>
                <a:ea typeface="Calibri" pitchFamily="34" charset="-122"/>
                <a:cs typeface="Calibri" pitchFamily="34" charset="-120"/>
              </a:rPr>
              <a:t>Handing the model a concise diagnosis beat giving it more compute — extra iteration cycles or a visible test — in this setting.</a:t>
            </a:r>
            <a:endParaRPr lang="en-US" sz="1500" dirty="0"/>
          </a:p>
        </p:txBody>
      </p:sp>
      <p:sp>
        <p:nvSpPr>
          <p:cNvPr id="12" name="Text 9"/>
          <p:cNvSpPr txBox="1"/>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9B9BA3"/>
                </a:solidFill>
                <a:latin typeface="Calibri" pitchFamily="34" charset="0"/>
                <a:ea typeface="Calibri" pitchFamily="34" charset="-122"/>
                <a:cs typeface="Calibri" pitchFamily="34" charset="-120"/>
              </a:rPr>
              <a:t>Part 2 — Static Analysis + LLMs for Verified Anti-Pattern Repair</a:t>
            </a:r>
            <a:endParaRPr lang="en-US" sz="900" dirty="0"/>
          </a:p>
        </p:txBody>
      </p:sp>
      <p:sp>
        <p:nvSpPr>
          <p:cNvPr id="13" name="Text 10"/>
          <p:cNvSpPr txBox="1"/>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9B9BA3"/>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9144000" cy="365760"/>
          </a:xfrm>
          <a:prstGeom prst="rect">
            <a:avLst/>
          </a:prstGeom>
          <a:noFill/>
          <a:ln/>
        </p:spPr>
        <p:txBody>
          <a:bodyPr wrap="square" lIns="0" tIns="0" rIns="0" bIns="0" rtlCol="0" anchor="ctr"/>
          <a:lstStyle/>
          <a:p>
            <a:pPr indent="0" marL="0">
              <a:buNone/>
            </a:pPr>
            <a:r>
              <a:rPr lang="en-US" sz="1300" b="1" spc="200" kern="0" dirty="0">
                <a:solidFill>
                  <a:srgbClr val="E8562C"/>
                </a:solidFill>
                <a:latin typeface="Calibri" pitchFamily="34" charset="0"/>
                <a:ea typeface="Calibri" pitchFamily="34" charset="-122"/>
                <a:cs typeface="Calibri" pitchFamily="34" charset="-120"/>
              </a:rPr>
              <a:t>RESULT 3 — BACK TO OUR OPENING EXAMPLE</a:t>
            </a:r>
            <a:endParaRPr lang="en-US" sz="1300" dirty="0"/>
          </a:p>
        </p:txBody>
      </p:sp>
      <p:sp>
        <p:nvSpPr>
          <p:cNvPr id="3" name="Text 1"/>
          <p:cNvSpPr txBox="1"/>
          <p:nvPr/>
        </p:nvSpPr>
        <p:spPr>
          <a:xfrm>
            <a:off x="548640" y="822960"/>
            <a:ext cx="11064240" cy="914400"/>
          </a:xfrm>
          <a:prstGeom prst="rect">
            <a:avLst/>
          </a:prstGeom>
          <a:noFill/>
          <a:ln/>
        </p:spPr>
        <p:txBody>
          <a:bodyPr wrap="square" lIns="0" tIns="0" rIns="0" bIns="0" rtlCol="0" anchor="ctr"/>
          <a:lstStyle/>
          <a:p>
            <a:pPr indent="0" marL="0">
              <a:buNone/>
            </a:pPr>
            <a:r>
              <a:rPr lang="en-US" sz="3200" b="1" dirty="0">
                <a:solidFill>
                  <a:srgbClr val="1E2761"/>
                </a:solidFill>
                <a:latin typeface="Cambria" pitchFamily="34" charset="0"/>
                <a:ea typeface="Cambria" pitchFamily="34" charset="-122"/>
                <a:cs typeface="Cambria" pitchFamily="34" charset="-120"/>
              </a:rPr>
              <a:t>More context helped — exactly when the edit needed it</a:t>
            </a:r>
            <a:endParaRPr lang="en-US" sz="3200" dirty="0"/>
          </a:p>
        </p:txBody>
      </p:sp>
      <p:sp>
        <p:nvSpPr>
          <p:cNvPr id="4" name="Text 2"/>
          <p:cNvSpPr txBox="1"/>
          <p:nvPr/>
        </p:nvSpPr>
        <p:spPr>
          <a:xfrm>
            <a:off x="548640" y="1417320"/>
            <a:ext cx="11064240" cy="411480"/>
          </a:xfrm>
          <a:prstGeom prst="rect">
            <a:avLst/>
          </a:prstGeom>
          <a:noFill/>
          <a:ln/>
        </p:spPr>
        <p:txBody>
          <a:bodyPr wrap="square" lIns="0" tIns="0" rIns="0" bIns="0" rtlCol="0" anchor="ctr"/>
          <a:lstStyle/>
          <a:p>
            <a:pPr indent="0" marL="0">
              <a:lnSpc>
                <a:spcPts val="1550"/>
              </a:lnSpc>
              <a:buNone/>
            </a:pPr>
            <a:r>
              <a:rPr lang="en-US" sz="1250" i="1" dirty="0">
                <a:solidFill>
                  <a:srgbClr val="55555C"/>
                </a:solidFill>
                <a:latin typeface="Calibri" pitchFamily="34" charset="0"/>
                <a:ea typeface="Calibri" pitchFamily="34" charset="-122"/>
                <a:cs typeface="Calibri" pitchFamily="34" charset="-120"/>
              </a:rPr>
              <a:t>This chart is Obsolete API Usage only, not the whole corpus: verified repairs out of 30 assignments at each context level. God Class and Long Method aren't shown here — both were already near 39/39 (“ceiling”) at every level.</a:t>
            </a:r>
            <a:endParaRPr lang="en-US" sz="1250" dirty="0"/>
          </a:p>
        </p:txBody>
      </p:sp>
      <p:graphicFrame>
        <p:nvGraphicFramePr>
          <p:cNvPr id="5" name="Chart 0" descr=""/>
          <p:cNvGraphicFramePr/>
          <p:nvPr/>
        </p:nvGraphicFramePr>
        <p:xfrm>
          <a:off x="548640" y="2103120"/>
          <a:ext cx="6949440" cy="29718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7772400" y="2240280"/>
            <a:ext cx="3840480" cy="1188720"/>
          </a:xfrm>
          <a:prstGeom prst="rect">
            <a:avLst/>
          </a:prstGeom>
          <a:noFill/>
          <a:ln/>
        </p:spPr>
        <p:txBody>
          <a:bodyPr wrap="square" lIns="0" tIns="0" rIns="0" bIns="0" rtlCol="0" anchor="ctr"/>
          <a:lstStyle/>
          <a:p>
            <a:pPr indent="0" marL="0">
              <a:lnSpc>
                <a:spcPts val="1700"/>
              </a:lnSpc>
              <a:buNone/>
            </a:pPr>
            <a:r>
              <a:rPr lang="en-US" sz="1350" b="1" dirty="0">
                <a:solidFill>
                  <a:srgbClr val="1E2761"/>
                </a:solidFill>
                <a:latin typeface="Calibri" pitchFamily="34" charset="0"/>
                <a:ea typeface="Calibri" pitchFamily="34" charset="-122"/>
                <a:cs typeface="Calibri" pitchFamily="34" charset="-120"/>
              </a:rPr>
              <a:t>“Full” context </a:t>
            </a:r>
            <a:pPr indent="0" marL="0">
              <a:lnSpc>
                <a:spcPts val="1700"/>
              </a:lnSpc>
              <a:buNone/>
            </a:pPr>
            <a:r>
              <a:rPr lang="en-US" sz="1350" dirty="0">
                <a:solidFill>
                  <a:srgbClr val="1F1F22"/>
                </a:solidFill>
                <a:latin typeface="Calibri" pitchFamily="34" charset="0"/>
                <a:ea typeface="Calibri" pitchFamily="34" charset="-122"/>
                <a:cs typeface="Calibri" pitchFamily="34" charset="-120"/>
              </a:rPr>
              <a:t>is exactly our opening example: it includes the file declaring </a:t>
            </a:r>
            <a:pPr indent="0" marL="0">
              <a:lnSpc>
                <a:spcPts val="1700"/>
              </a:lnSpc>
              <a:buNone/>
            </a:pPr>
            <a:r>
              <a:rPr lang="en-US" sz="1350" b="1" dirty="0">
                <a:solidFill>
                  <a:srgbClr val="1F1F22"/>
                </a:solidFill>
                <a:latin typeface="Courier New" pitchFamily="34" charset="0"/>
                <a:ea typeface="Courier New" pitchFamily="34" charset="-122"/>
                <a:cs typeface="Courier New" pitchFamily="34" charset="-120"/>
              </a:rPr>
              <a:t>SmsApiV2</a:t>
            </a:r>
            <a:pPr indent="0" marL="0">
              <a:lnSpc>
                <a:spcPts val="1700"/>
              </a:lnSpc>
              <a:buNone/>
            </a:pPr>
            <a:r>
              <a:rPr lang="en-US" sz="1350" dirty="0">
                <a:solidFill>
                  <a:srgbClr val="1F1F22"/>
                </a:solidFill>
                <a:latin typeface="Calibri" pitchFamily="34" charset="0"/>
                <a:ea typeface="Calibri" pitchFamily="34" charset="-122"/>
                <a:cs typeface="Calibri" pitchFamily="34" charset="-120"/>
              </a:rPr>
              <a:t> so the model can see the successor API it’s migrating to.</a:t>
            </a:r>
            <a:endParaRPr lang="en-US" sz="1350" dirty="0"/>
          </a:p>
        </p:txBody>
      </p:sp>
      <p:sp>
        <p:nvSpPr>
          <p:cNvPr id="7" name="Text 4"/>
          <p:cNvSpPr txBox="1"/>
          <p:nvPr/>
        </p:nvSpPr>
        <p:spPr>
          <a:xfrm>
            <a:off x="7772400" y="3474720"/>
            <a:ext cx="3840480" cy="731520"/>
          </a:xfrm>
          <a:prstGeom prst="rect">
            <a:avLst/>
          </a:prstGeom>
          <a:noFill/>
          <a:ln/>
        </p:spPr>
        <p:txBody>
          <a:bodyPr wrap="square" lIns="0" tIns="0" rIns="0" bIns="0" rtlCol="0" anchor="ctr"/>
          <a:lstStyle/>
          <a:p>
            <a:pPr indent="0" marL="0">
              <a:lnSpc>
                <a:spcPts val="1700"/>
              </a:lnSpc>
              <a:buNone/>
            </a:pPr>
            <a:r>
              <a:rPr lang="en-US" sz="1350" dirty="0">
                <a:solidFill>
                  <a:srgbClr val="1F1F22"/>
                </a:solidFill>
                <a:latin typeface="Calibri" pitchFamily="34" charset="0"/>
                <a:ea typeface="Calibri" pitchFamily="34" charset="-122"/>
                <a:cs typeface="Calibri" pitchFamily="34" charset="-120"/>
              </a:rPr>
              <a:t>Without that context, the model can't safely migrate the call — with it, every assignment resolved.</a:t>
            </a:r>
            <a:endParaRPr lang="en-US" sz="1350" dirty="0"/>
          </a:p>
        </p:txBody>
      </p:sp>
      <p:sp>
        <p:nvSpPr>
          <p:cNvPr id="8" name="Text 5"/>
          <p:cNvSpPr txBox="1"/>
          <p:nvPr/>
        </p:nvSpPr>
        <p:spPr>
          <a:xfrm>
            <a:off x="7772400" y="4434840"/>
            <a:ext cx="3840480" cy="777240"/>
          </a:xfrm>
          <a:prstGeom prst="rect">
            <a:avLst/>
          </a:prstGeom>
          <a:noFill/>
          <a:ln/>
        </p:spPr>
        <p:txBody>
          <a:bodyPr wrap="square" lIns="0" tIns="0" rIns="0" bIns="0" rtlCol="0" anchor="ctr"/>
          <a:lstStyle/>
          <a:p>
            <a:pPr indent="0" marL="0">
              <a:lnSpc>
                <a:spcPts val="1600"/>
              </a:lnSpc>
              <a:buNone/>
            </a:pPr>
            <a:r>
              <a:rPr lang="en-US" sz="1250" i="1" dirty="0">
                <a:solidFill>
                  <a:srgbClr val="55555C"/>
                </a:solidFill>
                <a:latin typeface="Calibri" pitchFamily="34" charset="0"/>
                <a:ea typeface="Calibri" pitchFamily="34" charset="-122"/>
                <a:cs typeface="Calibri" pitchFamily="34" charset="-120"/>
              </a:rPr>
              <a:t>Not a general rule, though: God Class and Long Method were already near-ceiling regardless of context — more context only pays off when the edit is actually blocked without it.</a:t>
            </a:r>
            <a:endParaRPr lang="en-US" sz="1250" dirty="0"/>
          </a:p>
        </p:txBody>
      </p:sp>
      <p:sp>
        <p:nvSpPr>
          <p:cNvPr id="9" name="Text 6"/>
          <p:cNvSpPr txBox="1"/>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9B9BA3"/>
                </a:solidFill>
                <a:latin typeface="Calibri" pitchFamily="34" charset="0"/>
                <a:ea typeface="Calibri" pitchFamily="34" charset="-122"/>
                <a:cs typeface="Calibri" pitchFamily="34" charset="-120"/>
              </a:rPr>
              <a:t>Part 2 — Static Analysis + LLMs for Verified Anti-Pattern Repair</a:t>
            </a:r>
            <a:endParaRPr lang="en-US" sz="900" dirty="0"/>
          </a:p>
        </p:txBody>
      </p:sp>
      <p:sp>
        <p:nvSpPr>
          <p:cNvPr id="10" name="Text 7"/>
          <p:cNvSpPr txBox="1"/>
          <p:nvPr/>
        </p:nvSpPr>
        <p:spPr>
          <a:xfrm>
            <a:off x="11274552" y="6446520"/>
            <a:ext cx="457200" cy="274320"/>
          </a:xfrm>
          <a:prstGeom prst="rect">
            <a:avLst/>
          </a:prstGeom>
          <a:noFill/>
          <a:ln/>
        </p:spPr>
        <p:txBody>
          <a:bodyPr wrap="square" lIns="0" tIns="0" rIns="0" bIns="0" rtlCol="0" anchor="ctr"/>
          <a:lstStyle/>
          <a:p>
            <a:pPr algn="r" indent="0" marL="0">
              <a:buNone/>
            </a:pPr>
            <a:r>
              <a:rPr lang="en-US" sz="900" dirty="0">
                <a:solidFill>
                  <a:srgbClr val="9B9BA3"/>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731520" y="685800"/>
            <a:ext cx="10058400" cy="365760"/>
          </a:xfrm>
          <a:prstGeom prst="rect">
            <a:avLst/>
          </a:prstGeom>
          <a:noFill/>
          <a:ln/>
        </p:spPr>
        <p:txBody>
          <a:bodyPr wrap="square" lIns="0" tIns="0" rIns="0" bIns="0" rtlCol="0" anchor="ctr"/>
          <a:lstStyle/>
          <a:p>
            <a:pPr indent="0" marL="0">
              <a:buNone/>
            </a:pPr>
            <a:r>
              <a:rPr lang="en-US" sz="1300" b="1" spc="200" kern="0" dirty="0">
                <a:solidFill>
                  <a:srgbClr val="F2542D"/>
                </a:solidFill>
                <a:latin typeface="Calibri" pitchFamily="34" charset="0"/>
                <a:ea typeface="Calibri" pitchFamily="34" charset="-122"/>
                <a:cs typeface="Calibri" pitchFamily="34" charset="-120"/>
              </a:rPr>
              <a:t>SO — DOES THIS WORK?</a:t>
            </a:r>
            <a:endParaRPr lang="en-US" sz="1300" dirty="0"/>
          </a:p>
        </p:txBody>
      </p:sp>
      <p:sp>
        <p:nvSpPr>
          <p:cNvPr id="3" name="Text 1"/>
          <p:cNvSpPr txBox="1"/>
          <p:nvPr/>
        </p:nvSpPr>
        <p:spPr>
          <a:xfrm>
            <a:off x="731520" y="1051560"/>
            <a:ext cx="10698480" cy="1005840"/>
          </a:xfrm>
          <a:prstGeom prst="rect">
            <a:avLst/>
          </a:prstGeom>
          <a:noFill/>
          <a:ln/>
        </p:spPr>
        <p:txBody>
          <a:bodyPr wrap="square" lIns="0" tIns="0" rIns="0" bIns="0" rtlCol="0" anchor="ctr"/>
          <a:lstStyle/>
          <a:p>
            <a:pPr indent="0" marL="0">
              <a:lnSpc>
                <a:spcPts val="3400"/>
              </a:lnSpc>
              <a:buNone/>
            </a:pPr>
            <a:r>
              <a:rPr lang="en-US" sz="3000" b="1" dirty="0">
                <a:solidFill>
                  <a:srgbClr val="FFFFFF"/>
                </a:solidFill>
                <a:latin typeface="Cambria" pitchFamily="34" charset="0"/>
                <a:ea typeface="Cambria" pitchFamily="34" charset="-122"/>
                <a:cs typeface="Cambria" pitchFamily="34" charset="-120"/>
              </a:rPr>
              <a:t>Static analysis + LLM + verification are complementary — within limits</a:t>
            </a:r>
            <a:endParaRPr lang="en-US" sz="3000" dirty="0"/>
          </a:p>
        </p:txBody>
      </p:sp>
      <p:sp>
        <p:nvSpPr>
          <p:cNvPr id="4" name="Shape 2"/>
          <p:cNvSpPr/>
          <p:nvPr/>
        </p:nvSpPr>
        <p:spPr>
          <a:xfrm>
            <a:off x="731520" y="2551176"/>
            <a:ext cx="128016" cy="128016"/>
          </a:xfrm>
          <a:prstGeom prst="oval">
            <a:avLst/>
          </a:prstGeom>
          <a:solidFill>
            <a:srgbClr val="F2542D"/>
          </a:solidFill>
          <a:ln/>
        </p:spPr>
      </p:sp>
      <p:sp>
        <p:nvSpPr>
          <p:cNvPr id="5" name="Text 3"/>
          <p:cNvSpPr txBox="1"/>
          <p:nvPr/>
        </p:nvSpPr>
        <p:spPr>
          <a:xfrm>
            <a:off x="1051560" y="2468880"/>
            <a:ext cx="10241280" cy="365760"/>
          </a:xfrm>
          <a:prstGeom prst="rect">
            <a:avLst/>
          </a:prstGeom>
          <a:noFill/>
          <a:ln/>
        </p:spPr>
        <p:txBody>
          <a:bodyPr wrap="square" lIns="0" tIns="0" rIns="0" bIns="0" rtlCol="0" anchor="ctr"/>
          <a:lstStyle/>
          <a:p>
            <a:pPr indent="0" marL="0">
              <a:buNone/>
            </a:pPr>
            <a:r>
              <a:rPr lang="en-US" sz="1600" b="1" dirty="0">
                <a:solidFill>
                  <a:srgbClr val="CADCFC"/>
                </a:solidFill>
                <a:latin typeface="Calibri" pitchFamily="34" charset="0"/>
                <a:ea typeface="Calibri" pitchFamily="34" charset="-122"/>
                <a:cs typeface="Calibri" pitchFamily="34" charset="-120"/>
              </a:rPr>
              <a:t>Yes, in the constructed corpus</a:t>
            </a:r>
            <a:endParaRPr lang="en-US" sz="1600" dirty="0"/>
          </a:p>
        </p:txBody>
      </p:sp>
      <p:sp>
        <p:nvSpPr>
          <p:cNvPr id="6" name="Text 4"/>
          <p:cNvSpPr txBox="1"/>
          <p:nvPr/>
        </p:nvSpPr>
        <p:spPr>
          <a:xfrm>
            <a:off x="1051560" y="2834640"/>
            <a:ext cx="10058400" cy="548640"/>
          </a:xfrm>
          <a:prstGeom prst="rect">
            <a:avLst/>
          </a:prstGeom>
          <a:noFill/>
          <a:ln/>
        </p:spPr>
        <p:txBody>
          <a:bodyPr wrap="square" lIns="0" tIns="0" rIns="0" bIns="0" rtlCol="0" anchor="ctr"/>
          <a:lstStyle/>
          <a:p>
            <a:pPr indent="0" marL="0">
              <a:lnSpc>
                <a:spcPts val="1700"/>
              </a:lnSpc>
              <a:buNone/>
            </a:pPr>
            <a:r>
              <a:rPr lang="en-US" sz="1350" dirty="0">
                <a:solidFill>
                  <a:srgbClr val="AAB6DE"/>
                </a:solidFill>
                <a:latin typeface="Calibri" pitchFamily="34" charset="0"/>
                <a:ea typeface="Calibri" pitchFamily="34" charset="-122"/>
                <a:cs typeface="Calibri" pitchFamily="34" charset="-120"/>
              </a:rPr>
              <a:t>High strict-success rate, and a clear, significant lever: giving the model the static-analysis diagnosis.</a:t>
            </a:r>
            <a:endParaRPr lang="en-US" sz="1350" dirty="0"/>
          </a:p>
        </p:txBody>
      </p:sp>
      <p:sp>
        <p:nvSpPr>
          <p:cNvPr id="7" name="Shape 5"/>
          <p:cNvSpPr/>
          <p:nvPr/>
        </p:nvSpPr>
        <p:spPr>
          <a:xfrm>
            <a:off x="731520" y="3557016"/>
            <a:ext cx="128016" cy="128016"/>
          </a:xfrm>
          <a:prstGeom prst="oval">
            <a:avLst/>
          </a:prstGeom>
          <a:solidFill>
            <a:srgbClr val="F2542D"/>
          </a:solidFill>
          <a:ln/>
        </p:spPr>
      </p:sp>
      <p:sp>
        <p:nvSpPr>
          <p:cNvPr id="8" name="Text 6"/>
          <p:cNvSpPr txBox="1"/>
          <p:nvPr/>
        </p:nvSpPr>
        <p:spPr>
          <a:xfrm>
            <a:off x="1051560" y="3474720"/>
            <a:ext cx="10241280" cy="365760"/>
          </a:xfrm>
          <a:prstGeom prst="rect">
            <a:avLst/>
          </a:prstGeom>
          <a:noFill/>
          <a:ln/>
        </p:spPr>
        <p:txBody>
          <a:bodyPr wrap="square" lIns="0" tIns="0" rIns="0" bIns="0" rtlCol="0" anchor="ctr"/>
          <a:lstStyle/>
          <a:p>
            <a:pPr indent="0" marL="0">
              <a:buNone/>
            </a:pPr>
            <a:r>
              <a:rPr lang="en-US" sz="1600" b="1" dirty="0">
                <a:solidFill>
                  <a:srgbClr val="CADCFC"/>
                </a:solidFill>
                <a:latin typeface="Calibri" pitchFamily="34" charset="0"/>
                <a:ea typeface="Calibri" pitchFamily="34" charset="-122"/>
                <a:cs typeface="Calibri" pitchFamily="34" charset="-120"/>
              </a:rPr>
              <a:t>But it doesn’t just autonomously work</a:t>
            </a:r>
            <a:endParaRPr lang="en-US" sz="1600" dirty="0"/>
          </a:p>
        </p:txBody>
      </p:sp>
      <p:sp>
        <p:nvSpPr>
          <p:cNvPr id="9" name="Text 7"/>
          <p:cNvSpPr txBox="1"/>
          <p:nvPr/>
        </p:nvSpPr>
        <p:spPr>
          <a:xfrm>
            <a:off x="1051560" y="3840480"/>
            <a:ext cx="10058400" cy="548640"/>
          </a:xfrm>
          <a:prstGeom prst="rect">
            <a:avLst/>
          </a:prstGeom>
          <a:noFill/>
          <a:ln/>
        </p:spPr>
        <p:txBody>
          <a:bodyPr wrap="square" lIns="0" tIns="0" rIns="0" bIns="0" rtlCol="0" anchor="ctr"/>
          <a:lstStyle/>
          <a:p>
            <a:pPr indent="0" marL="0">
              <a:lnSpc>
                <a:spcPts val="1700"/>
              </a:lnSpc>
              <a:buNone/>
            </a:pPr>
            <a:r>
              <a:rPr lang="en-US" sz="1350" dirty="0">
                <a:solidFill>
                  <a:srgbClr val="AAB6DE"/>
                </a:solidFill>
                <a:latin typeface="Calibri" pitchFamily="34" charset="0"/>
                <a:ea typeface="Calibri" pitchFamily="34" charset="-122"/>
                <a:cs typeface="Calibri" pitchFamily="34" charset="-120"/>
              </a:rPr>
              <a:t>The independent oracle is load-bearing — it caught regressions that build and detector checks missed.</a:t>
            </a:r>
            <a:endParaRPr lang="en-US" sz="1350" dirty="0"/>
          </a:p>
        </p:txBody>
      </p:sp>
      <p:sp>
        <p:nvSpPr>
          <p:cNvPr id="10" name="Shape 8"/>
          <p:cNvSpPr/>
          <p:nvPr/>
        </p:nvSpPr>
        <p:spPr>
          <a:xfrm>
            <a:off x="731520" y="4562856"/>
            <a:ext cx="128016" cy="128016"/>
          </a:xfrm>
          <a:prstGeom prst="oval">
            <a:avLst/>
          </a:prstGeom>
          <a:solidFill>
            <a:srgbClr val="F2542D"/>
          </a:solidFill>
          <a:ln/>
        </p:spPr>
      </p:sp>
      <p:sp>
        <p:nvSpPr>
          <p:cNvPr id="11" name="Text 9"/>
          <p:cNvSpPr txBox="1"/>
          <p:nvPr/>
        </p:nvSpPr>
        <p:spPr>
          <a:xfrm>
            <a:off x="1051560" y="4480560"/>
            <a:ext cx="10241280" cy="365760"/>
          </a:xfrm>
          <a:prstGeom prst="rect">
            <a:avLst/>
          </a:prstGeom>
          <a:noFill/>
          <a:ln/>
        </p:spPr>
        <p:txBody>
          <a:bodyPr wrap="square" lIns="0" tIns="0" rIns="0" bIns="0" rtlCol="0" anchor="ctr"/>
          <a:lstStyle/>
          <a:p>
            <a:pPr indent="0" marL="0">
              <a:buNone/>
            </a:pPr>
            <a:r>
              <a:rPr lang="en-US" sz="1600" b="1" dirty="0">
                <a:solidFill>
                  <a:srgbClr val="CADCFC"/>
                </a:solidFill>
                <a:latin typeface="Calibri" pitchFamily="34" charset="0"/>
                <a:ea typeface="Calibri" pitchFamily="34" charset="-122"/>
                <a:cs typeface="Calibri" pitchFamily="34" charset="-120"/>
              </a:rPr>
              <a:t>And it doesn’t fully transfer yet</a:t>
            </a:r>
            <a:endParaRPr lang="en-US" sz="1600" dirty="0"/>
          </a:p>
        </p:txBody>
      </p:sp>
      <p:sp>
        <p:nvSpPr>
          <p:cNvPr id="12" name="Text 10"/>
          <p:cNvSpPr txBox="1"/>
          <p:nvPr/>
        </p:nvSpPr>
        <p:spPr>
          <a:xfrm>
            <a:off x="1051560" y="4846320"/>
            <a:ext cx="10058400" cy="548640"/>
          </a:xfrm>
          <a:prstGeom prst="rect">
            <a:avLst/>
          </a:prstGeom>
          <a:noFill/>
          <a:ln/>
        </p:spPr>
        <p:txBody>
          <a:bodyPr wrap="square" lIns="0" tIns="0" rIns="0" bIns="0" rtlCol="0" anchor="ctr"/>
          <a:lstStyle/>
          <a:p>
            <a:pPr indent="0" marL="0">
              <a:lnSpc>
                <a:spcPts val="1700"/>
              </a:lnSpc>
              <a:buNone/>
            </a:pPr>
            <a:r>
              <a:rPr lang="en-US" sz="1350" dirty="0">
                <a:solidFill>
                  <a:srgbClr val="AAB6DE"/>
                </a:solidFill>
                <a:latin typeface="Calibri" pitchFamily="34" charset="0"/>
                <a:ea typeface="Calibri" pitchFamily="34" charset="-122"/>
                <a:cs typeface="Calibri" pitchFamily="34" charset="-120"/>
              </a:rPr>
              <a:t>On a real industrial codebase, strict success dropped sharply and new failure modes appeared that the corpus never produced.</a:t>
            </a:r>
            <a:endParaRPr lang="en-US" sz="1350" dirty="0"/>
          </a:p>
        </p:txBody>
      </p:sp>
      <p:sp>
        <p:nvSpPr>
          <p:cNvPr id="13" name="Text 11"/>
          <p:cNvSpPr txBox="1"/>
          <p:nvPr/>
        </p:nvSpPr>
        <p:spPr>
          <a:xfrm>
            <a:off x="731520" y="5623560"/>
            <a:ext cx="10698480" cy="457200"/>
          </a:xfrm>
          <a:prstGeom prst="rect">
            <a:avLst/>
          </a:prstGeom>
          <a:noFill/>
          <a:ln/>
        </p:spPr>
        <p:txBody>
          <a:bodyPr wrap="square" lIns="0" tIns="0" rIns="0" bIns="0" rtlCol="0" anchor="ctr"/>
          <a:lstStyle/>
          <a:p>
            <a:pPr indent="0" marL="0">
              <a:buNone/>
            </a:pPr>
            <a:r>
              <a:rPr lang="en-US" sz="1500" i="1" dirty="0">
                <a:solidFill>
                  <a:srgbClr val="FFFFFF"/>
                </a:solidFill>
                <a:latin typeface="Calibri" pitchFamily="34" charset="0"/>
                <a:ea typeface="Calibri" pitchFamily="34" charset="-122"/>
                <a:cs typeface="Calibri" pitchFamily="34" charset="-120"/>
              </a:rPr>
              <a:t>Next: scale the same recipe — grounded repair, independent verification — to more real systems.</a:t>
            </a:r>
            <a:endParaRPr lang="en-US" sz="1500" dirty="0"/>
          </a:p>
        </p:txBody>
      </p:sp>
      <p:sp>
        <p:nvSpPr>
          <p:cNvPr id="14" name="Text 12"/>
          <p:cNvSpPr txBox="1"/>
          <p:nvPr/>
        </p:nvSpPr>
        <p:spPr>
          <a:xfrm>
            <a:off x="731520" y="6172200"/>
            <a:ext cx="10698480" cy="457200"/>
          </a:xfrm>
          <a:prstGeom prst="rect">
            <a:avLst/>
          </a:prstGeom>
          <a:noFill/>
          <a:ln/>
        </p:spPr>
        <p:txBody>
          <a:bodyPr wrap="square" lIns="0" tIns="0" rIns="0" bIns="0" rtlCol="0" anchor="ctr"/>
          <a:lstStyle/>
          <a:p>
            <a:pPr indent="0" marL="0">
              <a:buNone/>
            </a:pPr>
            <a:r>
              <a:rPr lang="en-US" sz="1700" b="1" dirty="0">
                <a:solidFill>
                  <a:srgbClr val="F2542D"/>
                </a:solidFill>
                <a:latin typeface="Cambria" pitchFamily="34" charset="0"/>
                <a:ea typeface="Cambria" pitchFamily="34" charset="-122"/>
                <a:cs typeface="Cambria" pitchFamily="34" charset="-120"/>
              </a:rPr>
              <a:t>Thank you — happy to take questions.</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2026-09-25T10:26:44Z</dcterms:created>
  <dcterms:modified xsi:type="dcterms:W3CDTF">2026-09-25T10:26:44Z</dcterms:modified>
</cp:coreProperties>
</file>